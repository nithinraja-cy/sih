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Times New Roman Bold" charset="1" panose="02020803070505020304"/>
      <p:regular r:id="rId12"/>
    </p:embeddedFont>
    <p:embeddedFont>
      <p:font typeface="Aptos Bold" charset="1" panose="020B0004020202020204"/>
      <p:regular r:id="rId13"/>
    </p:embeddedFont>
    <p:embeddedFont>
      <p:font typeface="Aptos" charset="1" panose="020B0004020202020204"/>
      <p:regular r:id="rId14"/>
    </p:embeddedFont>
    <p:embeddedFont>
      <p:font typeface="Arimo Bold" charset="1" panose="020B0704020202020204"/>
      <p:regular r:id="rId18"/>
    </p:embeddedFont>
    <p:embeddedFont>
      <p:font typeface="Calibri (MS)" charset="1" panose="020F0502020204030204"/>
      <p:regular r:id="rId19"/>
    </p:embeddedFont>
    <p:embeddedFont>
      <p:font typeface="Calibri (MS) Bold" charset="1" panose="020F0702030404030204"/>
      <p:regular r:id="rId20"/>
    </p:embeddedFont>
    <p:embeddedFont>
      <p:font typeface="Aptos Italics" charset="1" panose="020B0004020202090204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notesMasters/notesMaster1.xml" Type="http://schemas.openxmlformats.org/officeDocument/2006/relationships/notesMaster"/><Relationship Id="rId16" Target="theme/theme2.xml" Type="http://schemas.openxmlformats.org/officeDocument/2006/relationships/theme"/><Relationship Id="rId17" Target="notesSlides/notesSlide1.xml" Type="http://schemas.openxmlformats.org/officeDocument/2006/relationships/notes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2.xml" Type="http://schemas.openxmlformats.org/officeDocument/2006/relationships/notesSlide"/><Relationship Id="rId22" Target="notesSlides/notesSlide3.xml" Type="http://schemas.openxmlformats.org/officeDocument/2006/relationships/notesSlide"/><Relationship Id="rId23" Target="notesSlides/notesSlide4.xml" Type="http://schemas.openxmlformats.org/officeDocument/2006/relationships/notesSlide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2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3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5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6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jpeg" Type="http://schemas.openxmlformats.org/officeDocument/2006/relationships/image"/><Relationship Id="rId7" Target="../media/image6.jpeg" Type="http://schemas.openxmlformats.org/officeDocument/2006/relationships/image"/><Relationship Id="rId8" Target="../media/image7.jpe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svg" Type="http://schemas.openxmlformats.org/officeDocument/2006/relationships/image"/><Relationship Id="rId11" Target="../media/image18.png" Type="http://schemas.openxmlformats.org/officeDocument/2006/relationships/image"/><Relationship Id="rId12" Target="../media/image19.svg" Type="http://schemas.openxmlformats.org/officeDocument/2006/relationships/image"/><Relationship Id="rId13" Target="../media/image20.png" Type="http://schemas.openxmlformats.org/officeDocument/2006/relationships/image"/><Relationship Id="rId14" Target="../media/image21.svg" Type="http://schemas.openxmlformats.org/officeDocument/2006/relationships/image"/><Relationship Id="rId15" Target="../media/image22.png" Type="http://schemas.openxmlformats.org/officeDocument/2006/relationships/image"/><Relationship Id="rId16" Target="../media/image23.svg" Type="http://schemas.openxmlformats.org/officeDocument/2006/relationships/image"/><Relationship Id="rId17" Target="../media/image5.jpeg" Type="http://schemas.openxmlformats.org/officeDocument/2006/relationships/image"/><Relationship Id="rId18" Target="../media/image6.jpeg" Type="http://schemas.openxmlformats.org/officeDocument/2006/relationships/image"/><Relationship Id="rId19" Target="../media/image7.jpeg" Type="http://schemas.openxmlformats.org/officeDocument/2006/relationships/image"/><Relationship Id="rId2" Target="../notesSlides/notesSlide1.xml" Type="http://schemas.openxmlformats.org/officeDocument/2006/relationships/notesSlide"/><Relationship Id="rId20" Target="../media/image24.png" Type="http://schemas.openxmlformats.org/officeDocument/2006/relationships/image"/><Relationship Id="rId21" Target="../media/image25.svg" Type="http://schemas.openxmlformats.org/officeDocument/2006/relationships/image"/><Relationship Id="rId22" Target="../media/image8.png" Type="http://schemas.openxmlformats.org/officeDocument/2006/relationships/image"/><Relationship Id="rId23" Target="../media/image26.png" Type="http://schemas.openxmlformats.org/officeDocument/2006/relationships/image"/><Relationship Id="rId24" Target="../media/image27.svg" Type="http://schemas.openxmlformats.org/officeDocument/2006/relationships/image"/><Relationship Id="rId25" Target="../media/image28.png" Type="http://schemas.openxmlformats.org/officeDocument/2006/relationships/image"/><Relationship Id="rId26" Target="../media/image29.svg" Type="http://schemas.openxmlformats.org/officeDocument/2006/relationships/image"/><Relationship Id="rId27" Target="../media/image30.png" Type="http://schemas.openxmlformats.org/officeDocument/2006/relationships/image"/><Relationship Id="rId28" Target="../media/image31.svg" Type="http://schemas.openxmlformats.org/officeDocument/2006/relationships/image"/><Relationship Id="rId29" Target="../media/image32.png" Type="http://schemas.openxmlformats.org/officeDocument/2006/relationships/image"/><Relationship Id="rId3" Target="../media/image10.png" Type="http://schemas.openxmlformats.org/officeDocument/2006/relationships/image"/><Relationship Id="rId30" Target="../media/image33.svg" Type="http://schemas.openxmlformats.org/officeDocument/2006/relationships/image"/><Relationship Id="rId31" Target="../media/image34.png" Type="http://schemas.openxmlformats.org/officeDocument/2006/relationships/image"/><Relationship Id="rId32" Target="../media/image35.svg" Type="http://schemas.openxmlformats.org/officeDocument/2006/relationships/image"/><Relationship Id="rId33" Target="../media/image36.png" Type="http://schemas.openxmlformats.org/officeDocument/2006/relationships/image"/><Relationship Id="rId34" Target="../media/image37.svg" Type="http://schemas.openxmlformats.org/officeDocument/2006/relationships/image"/><Relationship Id="rId35" Target="../media/image38.png" Type="http://schemas.openxmlformats.org/officeDocument/2006/relationships/image"/><Relationship Id="rId36" Target="../media/image39.svg" Type="http://schemas.openxmlformats.org/officeDocument/2006/relationships/image"/><Relationship Id="rId37" Target="../media/image40.png" Type="http://schemas.openxmlformats.org/officeDocument/2006/relationships/image"/><Relationship Id="rId38" Target="../media/image41.svg" Type="http://schemas.openxmlformats.org/officeDocument/2006/relationships/image"/><Relationship Id="rId39" Target="../media/image42.png" Type="http://schemas.openxmlformats.org/officeDocument/2006/relationships/image"/><Relationship Id="rId4" Target="../media/image11.svg" Type="http://schemas.openxmlformats.org/officeDocument/2006/relationships/image"/><Relationship Id="rId40" Target="../media/image43.svg" Type="http://schemas.openxmlformats.org/officeDocument/2006/relationships/image"/><Relationship Id="rId41" Target="../media/image44.png" Type="http://schemas.openxmlformats.org/officeDocument/2006/relationships/image"/><Relationship Id="rId42" Target="../media/image45.svg" Type="http://schemas.openxmlformats.org/officeDocument/2006/relationships/image"/><Relationship Id="rId43" Target="../media/image46.png" Type="http://schemas.openxmlformats.org/officeDocument/2006/relationships/image"/><Relationship Id="rId44" Target="../media/image47.svg" Type="http://schemas.openxmlformats.org/officeDocument/2006/relationships/image"/><Relationship Id="rId45" Target="../media/image48.png" Type="http://schemas.openxmlformats.org/officeDocument/2006/relationships/image"/><Relationship Id="rId46" Target="../media/image49.svg" Type="http://schemas.openxmlformats.org/officeDocument/2006/relationships/image"/><Relationship Id="rId47" Target="../media/image50.png" Type="http://schemas.openxmlformats.org/officeDocument/2006/relationships/image"/><Relationship Id="rId48" Target="../media/image51.svg" Type="http://schemas.openxmlformats.org/officeDocument/2006/relationships/image"/><Relationship Id="rId49" Target="../media/image52.png" Type="http://schemas.openxmlformats.org/officeDocument/2006/relationships/image"/><Relationship Id="rId5" Target="../media/image12.png" Type="http://schemas.openxmlformats.org/officeDocument/2006/relationships/image"/><Relationship Id="rId50" Target="../media/image53.svg" Type="http://schemas.openxmlformats.org/officeDocument/2006/relationships/image"/><Relationship Id="rId51" Target="../media/image54.png" Type="http://schemas.openxmlformats.org/officeDocument/2006/relationships/image"/><Relationship Id="rId52" Target="../media/image55.svg" Type="http://schemas.openxmlformats.org/officeDocument/2006/relationships/image"/><Relationship Id="rId53" Target="../media/image56.png" Type="http://schemas.openxmlformats.org/officeDocument/2006/relationships/image"/><Relationship Id="rId54" Target="../media/image57.svg" Type="http://schemas.openxmlformats.org/officeDocument/2006/relationships/image"/><Relationship Id="rId6" Target="../media/image13.svg" Type="http://schemas.openxmlformats.org/officeDocument/2006/relationships/image"/><Relationship Id="rId7" Target="../media/image14.png" Type="http://schemas.openxmlformats.org/officeDocument/2006/relationships/image"/><Relationship Id="rId8" Target="../media/image15.sv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9.png" Type="http://schemas.openxmlformats.org/officeDocument/2006/relationships/image"/><Relationship Id="rId2" Target="../notesSlides/notesSlide2.xml" Type="http://schemas.openxmlformats.org/officeDocument/2006/relationships/notesSlide"/><Relationship Id="rId3" Target="../media/image5.jpeg" Type="http://schemas.openxmlformats.org/officeDocument/2006/relationships/image"/><Relationship Id="rId4" Target="../media/image6.jpeg" Type="http://schemas.openxmlformats.org/officeDocument/2006/relationships/image"/><Relationship Id="rId5" Target="../media/image7.jpeg" Type="http://schemas.openxmlformats.org/officeDocument/2006/relationships/image"/><Relationship Id="rId6" Target="../media/image24.png" Type="http://schemas.openxmlformats.org/officeDocument/2006/relationships/image"/><Relationship Id="rId7" Target="../media/image25.svg" Type="http://schemas.openxmlformats.org/officeDocument/2006/relationships/image"/><Relationship Id="rId8" Target="../media/image8.png" Type="http://schemas.openxmlformats.org/officeDocument/2006/relationships/image"/><Relationship Id="rId9" Target="../media/image5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24.png" Type="http://schemas.openxmlformats.org/officeDocument/2006/relationships/image"/><Relationship Id="rId4" Target="../media/image25.svg" Type="http://schemas.openxmlformats.org/officeDocument/2006/relationships/image"/><Relationship Id="rId5" Target="../media/image6.jpeg" Type="http://schemas.openxmlformats.org/officeDocument/2006/relationships/image"/><Relationship Id="rId6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7.jpeg" Type="http://schemas.openxmlformats.org/officeDocument/2006/relationships/image"/><Relationship Id="rId4" Target="../media/image8.png" Type="http://schemas.openxmlformats.org/officeDocument/2006/relationships/image"/><Relationship Id="rId5" Target="../media/image24.png" Type="http://schemas.openxmlformats.org/officeDocument/2006/relationships/image"/><Relationship Id="rId6" Target="../media/image25.svg" Type="http://schemas.openxmlformats.org/officeDocument/2006/relationships/image"/><Relationship Id="rId7" Target="../media/image6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png" Type="http://schemas.openxmlformats.org/officeDocument/2006/relationships/image"/><Relationship Id="rId2" Target="../notesSlides/notesSlide4.xml" Type="http://schemas.openxmlformats.org/officeDocument/2006/relationships/notesSlide"/><Relationship Id="rId3" Target="../media/image60.png" Type="http://schemas.openxmlformats.org/officeDocument/2006/relationships/image"/><Relationship Id="rId4" Target="../media/image61.svg" Type="http://schemas.openxmlformats.org/officeDocument/2006/relationships/image"/><Relationship Id="rId5" Target="../media/image5.jpeg" Type="http://schemas.openxmlformats.org/officeDocument/2006/relationships/image"/><Relationship Id="rId6" Target="../media/image6.jpeg" Type="http://schemas.openxmlformats.org/officeDocument/2006/relationships/image"/><Relationship Id="rId7" Target="../media/image7.jpeg" Type="http://schemas.openxmlformats.org/officeDocument/2006/relationships/image"/><Relationship Id="rId8" Target="../media/image24.png" Type="http://schemas.openxmlformats.org/officeDocument/2006/relationships/image"/><Relationship Id="rId9" Target="../media/image2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41874" y="6365434"/>
            <a:ext cx="16758523" cy="2699623"/>
          </a:xfrm>
          <a:custGeom>
            <a:avLst/>
            <a:gdLst/>
            <a:ahLst/>
            <a:cxnLst/>
            <a:rect r="r" b="b" t="t" l="l"/>
            <a:pathLst>
              <a:path h="2699623" w="16758523">
                <a:moveTo>
                  <a:pt x="0" y="0"/>
                </a:moveTo>
                <a:lnTo>
                  <a:pt x="16758523" y="0"/>
                </a:lnTo>
                <a:lnTo>
                  <a:pt x="16758523" y="2699623"/>
                </a:lnTo>
                <a:lnTo>
                  <a:pt x="0" y="26996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85" r="0" b="-85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7859" y="-17859"/>
            <a:ext cx="18323195" cy="10322766"/>
            <a:chOff x="0" y="0"/>
            <a:chExt cx="24430926" cy="1376368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30989" cy="13763625"/>
            </a:xfrm>
            <a:custGeom>
              <a:avLst/>
              <a:gdLst/>
              <a:ahLst/>
              <a:cxnLst/>
              <a:rect r="r" b="b" t="t" l="l"/>
              <a:pathLst>
                <a:path h="13763625" w="24430989">
                  <a:moveTo>
                    <a:pt x="0" y="0"/>
                  </a:moveTo>
                  <a:lnTo>
                    <a:pt x="24430989" y="0"/>
                  </a:lnTo>
                  <a:lnTo>
                    <a:pt x="24430989" y="13763625"/>
                  </a:lnTo>
                  <a:lnTo>
                    <a:pt x="0" y="13763625"/>
                  </a:lnTo>
                  <a:close/>
                </a:path>
              </a:pathLst>
            </a:custGeom>
            <a:solidFill>
              <a:srgbClr val="081226"/>
            </a:solidFill>
            <a:ln w="14288" cap="sq">
              <a:solidFill>
                <a:srgbClr val="081226"/>
              </a:solidFill>
              <a:prstDash val="solid"/>
              <a:miter/>
            </a:ln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8485165" y="1277283"/>
            <a:ext cx="6957908" cy="7732452"/>
          </a:xfrm>
          <a:custGeom>
            <a:avLst/>
            <a:gdLst/>
            <a:ahLst/>
            <a:cxnLst/>
            <a:rect r="r" b="b" t="t" l="l"/>
            <a:pathLst>
              <a:path h="7732452" w="6957908">
                <a:moveTo>
                  <a:pt x="0" y="0"/>
                </a:moveTo>
                <a:lnTo>
                  <a:pt x="6957908" y="0"/>
                </a:lnTo>
                <a:lnTo>
                  <a:pt x="6957908" y="7732453"/>
                </a:lnTo>
                <a:lnTo>
                  <a:pt x="0" y="77324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2" t="0" r="-22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920240" y="-30032"/>
            <a:ext cx="12618720" cy="2623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7"/>
              </a:lnSpc>
            </a:pPr>
          </a:p>
          <a:p>
            <a:pPr algn="ctr">
              <a:lnSpc>
                <a:spcPts val="5757"/>
              </a:lnSpc>
            </a:pPr>
            <a:r>
              <a:rPr lang="en-US" sz="4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 PAGE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496929" y="-790137"/>
            <a:ext cx="15544800" cy="3114675"/>
            <a:chOff x="0" y="0"/>
            <a:chExt cx="20726400" cy="41529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726400" cy="4152900"/>
            </a:xfrm>
            <a:custGeom>
              <a:avLst/>
              <a:gdLst/>
              <a:ahLst/>
              <a:cxnLst/>
              <a:rect r="r" b="b" t="t" l="l"/>
              <a:pathLst>
                <a:path h="41529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7178" r="0" b="-4717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496929" y="-782993"/>
            <a:ext cx="15544800" cy="3107531"/>
            <a:chOff x="0" y="0"/>
            <a:chExt cx="20726400" cy="41433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726400" cy="4143375"/>
            </a:xfrm>
            <a:custGeom>
              <a:avLst/>
              <a:gdLst/>
              <a:ahLst/>
              <a:cxnLst/>
              <a:rect r="r" b="b" t="t" l="l"/>
              <a:pathLst>
                <a:path h="4143375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4143375"/>
                  </a:lnTo>
                  <a:lnTo>
                    <a:pt x="0" y="414337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7402" r="0" b="-47401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496929" y="-775849"/>
            <a:ext cx="15544800" cy="3100388"/>
            <a:chOff x="0" y="0"/>
            <a:chExt cx="20726400" cy="41338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726400" cy="4133850"/>
            </a:xfrm>
            <a:custGeom>
              <a:avLst/>
              <a:gdLst/>
              <a:ahLst/>
              <a:cxnLst/>
              <a:rect r="r" b="b" t="t" l="l"/>
              <a:pathLst>
                <a:path h="413385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4133850"/>
                  </a:lnTo>
                  <a:lnTo>
                    <a:pt x="0" y="413385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7694" r="0" b="-47694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9525"/>
              <a:ext cx="20726400" cy="4124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580"/>
                </a:lnSpc>
              </a:pPr>
              <a:r>
                <a:rPr lang="en-US" sz="4650" b="true">
                  <a:solidFill>
                    <a:srgbClr val="F4F7F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SMART INDIA HACKATHON 2026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73901" y="1310135"/>
            <a:ext cx="17226496" cy="6903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8"/>
              </a:lnSpc>
            </a:pPr>
          </a:p>
          <a:p>
            <a:pPr algn="just" marL="823314" indent="-205829" lvl="3">
              <a:lnSpc>
                <a:spcPts val="7558"/>
              </a:lnSpc>
              <a:buFont typeface="Arial"/>
              <a:buChar char="￭"/>
            </a:pPr>
            <a:r>
              <a:rPr lang="en-US" sz="3149">
                <a:solidFill>
                  <a:srgbClr val="F4F7FC"/>
                </a:solidFill>
                <a:latin typeface="Aptos"/>
                <a:ea typeface="Aptos"/>
                <a:cs typeface="Aptos"/>
                <a:sym typeface="Aptos"/>
              </a:rPr>
              <a:t>Problem Statement ID – SIH26104</a:t>
            </a:r>
          </a:p>
          <a:p>
            <a:pPr algn="just" marL="823314" indent="-205829" lvl="3">
              <a:lnSpc>
                <a:spcPts val="7558"/>
              </a:lnSpc>
              <a:buFont typeface="Arial"/>
              <a:buChar char="￭"/>
            </a:pPr>
            <a:r>
              <a:rPr lang="en-US" sz="3149">
                <a:solidFill>
                  <a:srgbClr val="F4F7FC"/>
                </a:solidFill>
                <a:latin typeface="Aptos"/>
                <a:ea typeface="Aptos"/>
                <a:cs typeface="Aptos"/>
                <a:sym typeface="Aptos"/>
              </a:rPr>
              <a:t>Problem Statement Title- AI-Powered Real-Time Detection and Prevention of Voice Cloning Impersonation Attacks</a:t>
            </a:r>
          </a:p>
          <a:p>
            <a:pPr algn="just" marL="823314" indent="-205829" lvl="3">
              <a:lnSpc>
                <a:spcPts val="7558"/>
              </a:lnSpc>
              <a:buFont typeface="Arial"/>
              <a:buChar char="￭"/>
            </a:pPr>
            <a:r>
              <a:rPr lang="en-US" sz="3149">
                <a:solidFill>
                  <a:srgbClr val="F4F7FC"/>
                </a:solidFill>
                <a:latin typeface="Aptos"/>
                <a:ea typeface="Aptos"/>
                <a:cs typeface="Aptos"/>
                <a:sym typeface="Aptos"/>
              </a:rPr>
              <a:t>Theme- Blockchain &amp; Cybersecurity</a:t>
            </a:r>
          </a:p>
          <a:p>
            <a:pPr algn="just" marL="823314" indent="-205829" lvl="3">
              <a:lnSpc>
                <a:spcPts val="7558"/>
              </a:lnSpc>
              <a:buFont typeface="Arial"/>
              <a:buChar char="￭"/>
            </a:pPr>
            <a:r>
              <a:rPr lang="en-US" sz="3149">
                <a:solidFill>
                  <a:srgbClr val="F4F7FC"/>
                </a:solidFill>
                <a:latin typeface="Aptos"/>
                <a:ea typeface="Aptos"/>
                <a:cs typeface="Aptos"/>
                <a:sym typeface="Aptos"/>
              </a:rPr>
              <a:t>PS Category- Software</a:t>
            </a:r>
          </a:p>
          <a:p>
            <a:pPr algn="just" marL="823314" indent="-205829" lvl="3">
              <a:lnSpc>
                <a:spcPts val="7558"/>
              </a:lnSpc>
              <a:buFont typeface="Arial"/>
              <a:buChar char="￭"/>
            </a:pPr>
            <a:r>
              <a:rPr lang="en-US" sz="3149">
                <a:solidFill>
                  <a:srgbClr val="F4F7FC"/>
                </a:solidFill>
                <a:latin typeface="Aptos"/>
                <a:ea typeface="Aptos"/>
                <a:cs typeface="Aptos"/>
                <a:sym typeface="Aptos"/>
              </a:rPr>
              <a:t>Team ID-</a:t>
            </a:r>
          </a:p>
          <a:p>
            <a:pPr algn="just" marL="823314" indent="-205829" lvl="3">
              <a:lnSpc>
                <a:spcPts val="7558"/>
              </a:lnSpc>
              <a:buFont typeface="Arial"/>
              <a:buChar char="￭"/>
            </a:pPr>
            <a:r>
              <a:rPr lang="en-US" sz="3149">
                <a:solidFill>
                  <a:srgbClr val="F4F7FC"/>
                </a:solidFill>
                <a:latin typeface="Aptos"/>
                <a:ea typeface="Aptos"/>
                <a:cs typeface="Aptos"/>
                <a:sym typeface="Aptos"/>
              </a:rPr>
              <a:t>Team Name : AURAfox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4670129" y="2248"/>
            <a:ext cx="3374803" cy="1593532"/>
            <a:chOff x="0" y="0"/>
            <a:chExt cx="4499737" cy="212471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59" r="0" b="-6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-17859" y="-17859"/>
            <a:ext cx="18323195" cy="131778"/>
            <a:chOff x="0" y="0"/>
            <a:chExt cx="24430926" cy="17570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4430989" cy="175641"/>
            </a:xfrm>
            <a:custGeom>
              <a:avLst/>
              <a:gdLst/>
              <a:ahLst/>
              <a:cxnLst/>
              <a:rect r="r" b="b" t="t" l="l"/>
              <a:pathLst>
                <a:path h="175641" w="24430989">
                  <a:moveTo>
                    <a:pt x="0" y="0"/>
                  </a:moveTo>
                  <a:lnTo>
                    <a:pt x="24430989" y="0"/>
                  </a:lnTo>
                  <a:lnTo>
                    <a:pt x="24430989" y="175641"/>
                  </a:lnTo>
                  <a:lnTo>
                    <a:pt x="0" y="175641"/>
                  </a:lnTo>
                  <a:close/>
                </a:path>
              </a:pathLst>
            </a:custGeom>
            <a:solidFill>
              <a:srgbClr val="28D2E6"/>
            </a:solidFill>
            <a:ln w="14288" cap="sq">
              <a:solidFill>
                <a:srgbClr val="28D2E6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0441575" y="3795755"/>
            <a:ext cx="4805267" cy="5139357"/>
            <a:chOff x="0" y="0"/>
            <a:chExt cx="6407023" cy="685247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407023" cy="6852412"/>
            </a:xfrm>
            <a:custGeom>
              <a:avLst/>
              <a:gdLst/>
              <a:ahLst/>
              <a:cxnLst/>
              <a:rect r="r" b="b" t="t" l="l"/>
              <a:pathLst>
                <a:path h="6852412" w="6407023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-149475" b="-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553654" y="6461446"/>
            <a:ext cx="11134963" cy="1945243"/>
          </a:xfrm>
          <a:custGeom>
            <a:avLst/>
            <a:gdLst/>
            <a:ahLst/>
            <a:cxnLst/>
            <a:rect r="r" b="b" t="t" l="l"/>
            <a:pathLst>
              <a:path h="1945243" w="11134963">
                <a:moveTo>
                  <a:pt x="0" y="0"/>
                </a:moveTo>
                <a:lnTo>
                  <a:pt x="11134963" y="0"/>
                </a:lnTo>
                <a:lnTo>
                  <a:pt x="11134963" y="1945243"/>
                </a:lnTo>
                <a:lnTo>
                  <a:pt x="0" y="19452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47" r="0" b="-14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303194" y="4170874"/>
            <a:ext cx="4619863" cy="1945243"/>
          </a:xfrm>
          <a:custGeom>
            <a:avLst/>
            <a:gdLst/>
            <a:ahLst/>
            <a:cxnLst/>
            <a:rect r="r" b="b" t="t" l="l"/>
            <a:pathLst>
              <a:path h="1945243" w="4619863">
                <a:moveTo>
                  <a:pt x="0" y="0"/>
                </a:moveTo>
                <a:lnTo>
                  <a:pt x="4619863" y="0"/>
                </a:lnTo>
                <a:lnTo>
                  <a:pt x="4619863" y="1945243"/>
                </a:lnTo>
                <a:lnTo>
                  <a:pt x="0" y="194524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89" r="0" b="-89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159694" y="4170874"/>
            <a:ext cx="4619863" cy="1945243"/>
          </a:xfrm>
          <a:custGeom>
            <a:avLst/>
            <a:gdLst/>
            <a:ahLst/>
            <a:cxnLst/>
            <a:rect r="r" b="b" t="t" l="l"/>
            <a:pathLst>
              <a:path h="1945243" w="4619863">
                <a:moveTo>
                  <a:pt x="0" y="0"/>
                </a:moveTo>
                <a:lnTo>
                  <a:pt x="4619863" y="0"/>
                </a:lnTo>
                <a:lnTo>
                  <a:pt x="4619863" y="1945243"/>
                </a:lnTo>
                <a:lnTo>
                  <a:pt x="0" y="194524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89" r="0" b="-89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16194" y="4170874"/>
            <a:ext cx="4619863" cy="1945243"/>
          </a:xfrm>
          <a:custGeom>
            <a:avLst/>
            <a:gdLst/>
            <a:ahLst/>
            <a:cxnLst/>
            <a:rect r="r" b="b" t="t" l="l"/>
            <a:pathLst>
              <a:path h="1945243" w="4619863">
                <a:moveTo>
                  <a:pt x="0" y="0"/>
                </a:moveTo>
                <a:lnTo>
                  <a:pt x="4619863" y="0"/>
                </a:lnTo>
                <a:lnTo>
                  <a:pt x="4619863" y="1945243"/>
                </a:lnTo>
                <a:lnTo>
                  <a:pt x="0" y="194524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89" r="0" b="-89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303194" y="1880302"/>
            <a:ext cx="4619863" cy="1945243"/>
          </a:xfrm>
          <a:custGeom>
            <a:avLst/>
            <a:gdLst/>
            <a:ahLst/>
            <a:cxnLst/>
            <a:rect r="r" b="b" t="t" l="l"/>
            <a:pathLst>
              <a:path h="1945243" w="4619863">
                <a:moveTo>
                  <a:pt x="0" y="0"/>
                </a:moveTo>
                <a:lnTo>
                  <a:pt x="4619863" y="0"/>
                </a:lnTo>
                <a:lnTo>
                  <a:pt x="4619863" y="1945243"/>
                </a:lnTo>
                <a:lnTo>
                  <a:pt x="0" y="194524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-89" r="0" b="-89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159694" y="1880302"/>
            <a:ext cx="4619863" cy="1945243"/>
          </a:xfrm>
          <a:custGeom>
            <a:avLst/>
            <a:gdLst/>
            <a:ahLst/>
            <a:cxnLst/>
            <a:rect r="r" b="b" t="t" l="l"/>
            <a:pathLst>
              <a:path h="1945243" w="4619863">
                <a:moveTo>
                  <a:pt x="0" y="0"/>
                </a:moveTo>
                <a:lnTo>
                  <a:pt x="4619863" y="0"/>
                </a:lnTo>
                <a:lnTo>
                  <a:pt x="4619863" y="1945243"/>
                </a:lnTo>
                <a:lnTo>
                  <a:pt x="0" y="194524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-89" r="0" b="-89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16194" y="1880302"/>
            <a:ext cx="4619863" cy="1945243"/>
          </a:xfrm>
          <a:custGeom>
            <a:avLst/>
            <a:gdLst/>
            <a:ahLst/>
            <a:cxnLst/>
            <a:rect r="r" b="b" t="t" l="l"/>
            <a:pathLst>
              <a:path h="1945243" w="4619863">
                <a:moveTo>
                  <a:pt x="0" y="0"/>
                </a:moveTo>
                <a:lnTo>
                  <a:pt x="4619863" y="0"/>
                </a:lnTo>
                <a:lnTo>
                  <a:pt x="4619863" y="1945243"/>
                </a:lnTo>
                <a:lnTo>
                  <a:pt x="0" y="1945243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-89" r="0" b="-89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-10725" y="43863"/>
            <a:ext cx="18323195" cy="10322766"/>
            <a:chOff x="0" y="0"/>
            <a:chExt cx="24430926" cy="1376368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430989" cy="13763625"/>
            </a:xfrm>
            <a:custGeom>
              <a:avLst/>
              <a:gdLst/>
              <a:ahLst/>
              <a:cxnLst/>
              <a:rect r="r" b="b" t="t" l="l"/>
              <a:pathLst>
                <a:path h="13763625" w="24430989">
                  <a:moveTo>
                    <a:pt x="0" y="0"/>
                  </a:moveTo>
                  <a:lnTo>
                    <a:pt x="24430989" y="0"/>
                  </a:lnTo>
                  <a:lnTo>
                    <a:pt x="24430989" y="13763625"/>
                  </a:lnTo>
                  <a:lnTo>
                    <a:pt x="0" y="13763625"/>
                  </a:lnTo>
                  <a:close/>
                </a:path>
              </a:pathLst>
            </a:custGeom>
            <a:solidFill>
              <a:srgbClr val="081226"/>
            </a:solidFill>
            <a:ln w="14288" cap="sq">
              <a:solidFill>
                <a:srgbClr val="081226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144000" y="0"/>
            <a:ext cx="8595360" cy="1714500"/>
            <a:chOff x="0" y="0"/>
            <a:chExt cx="11460480" cy="2286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460480" cy="2286000"/>
            </a:xfrm>
            <a:custGeom>
              <a:avLst/>
              <a:gdLst/>
              <a:ahLst/>
              <a:cxnLst/>
              <a:rect r="r" b="b" t="t" l="l"/>
              <a:pathLst>
                <a:path h="2286000" w="11460480">
                  <a:moveTo>
                    <a:pt x="0" y="0"/>
                  </a:moveTo>
                  <a:lnTo>
                    <a:pt x="11460480" y="0"/>
                  </a:lnTo>
                  <a:lnTo>
                    <a:pt x="1146048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17">
                <a:alphaModFix amt="0"/>
              </a:blip>
              <a:stretch>
                <a:fillRect l="0" t="-47617" r="0" b="-47616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144000" y="0"/>
            <a:ext cx="8595360" cy="1714500"/>
            <a:chOff x="0" y="0"/>
            <a:chExt cx="11460480" cy="2286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460480" cy="2286000"/>
            </a:xfrm>
            <a:custGeom>
              <a:avLst/>
              <a:gdLst/>
              <a:ahLst/>
              <a:cxnLst/>
              <a:rect r="r" b="b" t="t" l="l"/>
              <a:pathLst>
                <a:path h="2286000" w="11460480">
                  <a:moveTo>
                    <a:pt x="0" y="0"/>
                  </a:moveTo>
                  <a:lnTo>
                    <a:pt x="11460480" y="0"/>
                  </a:lnTo>
                  <a:lnTo>
                    <a:pt x="1146048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18">
                <a:alphaModFix amt="0"/>
              </a:blip>
              <a:stretch>
                <a:fillRect l="0" t="-47617" r="0" b="-47616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144000" y="0"/>
            <a:ext cx="8595360" cy="1714500"/>
            <a:chOff x="0" y="0"/>
            <a:chExt cx="11460480" cy="2286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460480" cy="2286000"/>
            </a:xfrm>
            <a:custGeom>
              <a:avLst/>
              <a:gdLst/>
              <a:ahLst/>
              <a:cxnLst/>
              <a:rect r="r" b="b" t="t" l="l"/>
              <a:pathLst>
                <a:path h="2286000" w="11460480">
                  <a:moveTo>
                    <a:pt x="0" y="0"/>
                  </a:moveTo>
                  <a:lnTo>
                    <a:pt x="11460480" y="0"/>
                  </a:lnTo>
                  <a:lnTo>
                    <a:pt x="1146048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19">
                <a:alphaModFix amt="0"/>
              </a:blip>
              <a:stretch>
                <a:fillRect l="0" t="-47684" r="0" b="-47684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11460480" cy="2286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F4F7F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PROPOSED SOLUTION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17">
                <a:alphaModFix amt="0"/>
              </a:blip>
              <a:stretch>
                <a:fillRect l="0" t="-101707" r="0" b="-101709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3106400" y="9520238"/>
            <a:ext cx="4267200" cy="561975"/>
            <a:chOff x="0" y="0"/>
            <a:chExt cx="5689600" cy="7493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689600" cy="749300"/>
            </a:xfrm>
            <a:custGeom>
              <a:avLst/>
              <a:gdLst/>
              <a:ahLst/>
              <a:cxnLst/>
              <a:rect r="r" b="b" t="t" l="l"/>
              <a:pathLst>
                <a:path h="74930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49300"/>
                  </a:lnTo>
                  <a:lnTo>
                    <a:pt x="0" y="749300"/>
                  </a:lnTo>
                  <a:close/>
                </a:path>
              </a:pathLst>
            </a:custGeom>
            <a:blipFill>
              <a:blip r:embed="rId18">
                <a:alphaModFix amt="0"/>
              </a:blip>
              <a:stretch>
                <a:fillRect l="0" t="-97850" r="0" b="-97852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3106400" y="9505950"/>
            <a:ext cx="4267200" cy="576262"/>
            <a:chOff x="0" y="0"/>
            <a:chExt cx="5689600" cy="76835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689600" cy="768350"/>
            </a:xfrm>
            <a:custGeom>
              <a:avLst/>
              <a:gdLst/>
              <a:ahLst/>
              <a:cxnLst/>
              <a:rect r="r" b="b" t="t" l="l"/>
              <a:pathLst>
                <a:path h="7683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68350"/>
                  </a:lnTo>
                  <a:lnTo>
                    <a:pt x="0" y="768350"/>
                  </a:lnTo>
                  <a:close/>
                </a:path>
              </a:pathLst>
            </a:custGeom>
            <a:blipFill>
              <a:blip r:embed="rId19">
                <a:alphaModFix amt="0"/>
              </a:blip>
              <a:stretch>
                <a:fillRect l="0" t="-94285" r="0" b="-94285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5689600" cy="787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sp>
        <p:nvSpPr>
          <p:cNvPr name="Freeform 27" id="27" descr="Your startup LOGO"/>
          <p:cNvSpPr/>
          <p:nvPr/>
        </p:nvSpPr>
        <p:spPr>
          <a:xfrm flipH="false" flipV="false" rot="0">
            <a:off x="461324" y="345034"/>
            <a:ext cx="1944433" cy="1277683"/>
          </a:xfrm>
          <a:custGeom>
            <a:avLst/>
            <a:gdLst/>
            <a:ahLst/>
            <a:cxnLst/>
            <a:rect r="r" b="b" t="t" l="l"/>
            <a:pathLst>
              <a:path h="1277683" w="1944433">
                <a:moveTo>
                  <a:pt x="0" y="0"/>
                </a:moveTo>
                <a:lnTo>
                  <a:pt x="1944434" y="0"/>
                </a:lnTo>
                <a:lnTo>
                  <a:pt x="1944434" y="1277683"/>
                </a:lnTo>
                <a:lnTo>
                  <a:pt x="0" y="1277683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-109" r="0" b="-109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0">
            <a:off x="475612" y="316459"/>
            <a:ext cx="1915887" cy="1291961"/>
            <a:chOff x="0" y="0"/>
            <a:chExt cx="2554516" cy="172261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554478" cy="1722628"/>
            </a:xfrm>
            <a:custGeom>
              <a:avLst/>
              <a:gdLst/>
              <a:ahLst/>
              <a:cxnLst/>
              <a:rect r="r" b="b" t="t" l="l"/>
              <a:pathLst>
                <a:path h="1722628" w="2554478">
                  <a:moveTo>
                    <a:pt x="0" y="0"/>
                  </a:moveTo>
                  <a:lnTo>
                    <a:pt x="2554478" y="0"/>
                  </a:lnTo>
                  <a:lnTo>
                    <a:pt x="2554478" y="1722628"/>
                  </a:lnTo>
                  <a:lnTo>
                    <a:pt x="0" y="1722628"/>
                  </a:lnTo>
                  <a:close/>
                </a:path>
              </a:pathLst>
            </a:custGeom>
            <a:blipFill>
              <a:blip r:embed="rId18">
                <a:alphaModFix amt="0"/>
              </a:blip>
              <a:stretch>
                <a:fillRect l="-36580" t="0" r="-36582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475612" y="273596"/>
            <a:ext cx="1915887" cy="1334824"/>
            <a:chOff x="0" y="0"/>
            <a:chExt cx="2554516" cy="177976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554516" cy="1779765"/>
            </a:xfrm>
            <a:custGeom>
              <a:avLst/>
              <a:gdLst/>
              <a:ahLst/>
              <a:cxnLst/>
              <a:rect r="r" b="b" t="t" l="l"/>
              <a:pathLst>
                <a:path h="1779765" w="2554516">
                  <a:moveTo>
                    <a:pt x="0" y="0"/>
                  </a:moveTo>
                  <a:lnTo>
                    <a:pt x="2554516" y="0"/>
                  </a:lnTo>
                  <a:lnTo>
                    <a:pt x="2554516" y="1779765"/>
                  </a:lnTo>
                  <a:lnTo>
                    <a:pt x="0" y="1779765"/>
                  </a:lnTo>
                  <a:close/>
                </a:path>
              </a:pathLst>
            </a:custGeom>
            <a:blipFill>
              <a:blip r:embed="rId19">
                <a:alphaModFix amt="0"/>
              </a:blip>
              <a:stretch>
                <a:fillRect l="-39390" t="0" r="-39390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57150"/>
              <a:ext cx="2554516" cy="18369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AURA</a:t>
              </a:r>
            </a:p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fox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4670129" y="2248"/>
            <a:ext cx="3374803" cy="1593532"/>
            <a:chOff x="0" y="0"/>
            <a:chExt cx="4499737" cy="212471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-59" r="0" b="-6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-17859" y="-17859"/>
            <a:ext cx="18323195" cy="131778"/>
            <a:chOff x="0" y="0"/>
            <a:chExt cx="24430926" cy="17570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4430989" cy="175641"/>
            </a:xfrm>
            <a:custGeom>
              <a:avLst/>
              <a:gdLst/>
              <a:ahLst/>
              <a:cxnLst/>
              <a:rect r="r" b="b" t="t" l="l"/>
              <a:pathLst>
                <a:path h="175641" w="24430989">
                  <a:moveTo>
                    <a:pt x="0" y="0"/>
                  </a:moveTo>
                  <a:lnTo>
                    <a:pt x="24430989" y="0"/>
                  </a:lnTo>
                  <a:lnTo>
                    <a:pt x="24430989" y="175641"/>
                  </a:lnTo>
                  <a:lnTo>
                    <a:pt x="0" y="175641"/>
                  </a:lnTo>
                  <a:close/>
                </a:path>
              </a:pathLst>
            </a:custGeom>
            <a:solidFill>
              <a:srgbClr val="28D2E6"/>
            </a:solidFill>
            <a:ln w="14288" cap="sq">
              <a:solidFill>
                <a:srgbClr val="28D2E6"/>
              </a:solidFill>
              <a:prstDash val="solid"/>
              <a:miter/>
            </a:ln>
          </p:spPr>
        </p:sp>
      </p:grpSp>
      <p:sp>
        <p:nvSpPr>
          <p:cNvPr name="Freeform 37" id="37"/>
          <p:cNvSpPr/>
          <p:nvPr/>
        </p:nvSpPr>
        <p:spPr>
          <a:xfrm flipH="false" flipV="false" rot="0">
            <a:off x="9569253" y="1506807"/>
            <a:ext cx="97536" cy="1408243"/>
          </a:xfrm>
          <a:custGeom>
            <a:avLst/>
            <a:gdLst/>
            <a:ahLst/>
            <a:cxnLst/>
            <a:rect r="r" b="b" t="t" l="l"/>
            <a:pathLst>
              <a:path h="1408243" w="97536">
                <a:moveTo>
                  <a:pt x="0" y="0"/>
                </a:moveTo>
                <a:lnTo>
                  <a:pt x="97536" y="0"/>
                </a:lnTo>
                <a:lnTo>
                  <a:pt x="97536" y="1408243"/>
                </a:lnTo>
                <a:lnTo>
                  <a:pt x="0" y="1408243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-3652" t="0" r="-3662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9090717" y="1702070"/>
            <a:ext cx="491347" cy="491347"/>
          </a:xfrm>
          <a:custGeom>
            <a:avLst/>
            <a:gdLst/>
            <a:ahLst/>
            <a:cxnLst/>
            <a:rect r="r" b="b" t="t" l="l"/>
            <a:pathLst>
              <a:path h="491347" w="491347">
                <a:moveTo>
                  <a:pt x="0" y="0"/>
                </a:moveTo>
                <a:lnTo>
                  <a:pt x="491347" y="0"/>
                </a:lnTo>
                <a:lnTo>
                  <a:pt x="491347" y="491347"/>
                </a:lnTo>
                <a:lnTo>
                  <a:pt x="0" y="491347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9235440" y="1856232"/>
            <a:ext cx="310896" cy="299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200">
                <a:solidFill>
                  <a:srgbClr val="BECADC"/>
                </a:solidFill>
                <a:latin typeface="Aptos"/>
                <a:ea typeface="Aptos"/>
                <a:cs typeface="Aptos"/>
                <a:sym typeface="Aptos"/>
              </a:rPr>
              <a:t>1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796272" y="1776222"/>
            <a:ext cx="3459480" cy="1282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28D2E6"/>
                </a:solidFill>
                <a:latin typeface="Aptos Bold"/>
                <a:ea typeface="Aptos Bold"/>
                <a:cs typeface="Aptos Bold"/>
                <a:sym typeface="Aptos Bold"/>
              </a:rPr>
              <a:t>LIVE DETECTION</a:t>
            </a:r>
          </a:p>
          <a:p>
            <a:pPr algn="l">
              <a:lnSpc>
                <a:spcPts val="1709"/>
              </a:lnSpc>
            </a:pPr>
            <a:r>
              <a:rPr lang="en-US" sz="1425">
                <a:solidFill>
                  <a:srgbClr val="F4F7FC"/>
                </a:solidFill>
                <a:latin typeface="Aptos"/>
                <a:ea typeface="Aptos"/>
                <a:cs typeface="Aptos"/>
                <a:sym typeface="Aptos"/>
              </a:rPr>
              <a:t>Built an AI-powered system that detects AI-generated and cloned voices during live calls.</a:t>
            </a:r>
          </a:p>
        </p:txBody>
      </p:sp>
      <p:sp>
        <p:nvSpPr>
          <p:cNvPr name="Freeform 41" id="41"/>
          <p:cNvSpPr/>
          <p:nvPr/>
        </p:nvSpPr>
        <p:spPr>
          <a:xfrm flipH="false" flipV="false" rot="0">
            <a:off x="9572825" y="3235071"/>
            <a:ext cx="97536" cy="1408243"/>
          </a:xfrm>
          <a:custGeom>
            <a:avLst/>
            <a:gdLst/>
            <a:ahLst/>
            <a:cxnLst/>
            <a:rect r="r" b="b" t="t" l="l"/>
            <a:pathLst>
              <a:path h="1408243" w="97536">
                <a:moveTo>
                  <a:pt x="0" y="0"/>
                </a:moveTo>
                <a:lnTo>
                  <a:pt x="97536" y="0"/>
                </a:lnTo>
                <a:lnTo>
                  <a:pt x="97536" y="1408243"/>
                </a:lnTo>
                <a:lnTo>
                  <a:pt x="0" y="1408243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-3652" t="0" r="-3662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9087136" y="3520364"/>
            <a:ext cx="491347" cy="491347"/>
          </a:xfrm>
          <a:custGeom>
            <a:avLst/>
            <a:gdLst/>
            <a:ahLst/>
            <a:cxnLst/>
            <a:rect r="r" b="b" t="t" l="l"/>
            <a:pathLst>
              <a:path h="491347" w="491347">
                <a:moveTo>
                  <a:pt x="0" y="0"/>
                </a:moveTo>
                <a:lnTo>
                  <a:pt x="491347" y="0"/>
                </a:lnTo>
                <a:lnTo>
                  <a:pt x="491347" y="491347"/>
                </a:lnTo>
                <a:lnTo>
                  <a:pt x="0" y="491347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3" id="43"/>
          <p:cNvSpPr txBox="true"/>
          <p:nvPr/>
        </p:nvSpPr>
        <p:spPr>
          <a:xfrm rot="0">
            <a:off x="13604015" y="1976247"/>
            <a:ext cx="310896" cy="299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200">
                <a:solidFill>
                  <a:srgbClr val="BECADC"/>
                </a:solidFill>
                <a:latin typeface="Aptos"/>
                <a:ea typeface="Aptos"/>
                <a:cs typeface="Aptos"/>
                <a:sym typeface="Aptos"/>
              </a:rPr>
              <a:t>2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4231112" y="1776222"/>
            <a:ext cx="3459480" cy="1282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3C7DFF"/>
                </a:solidFill>
                <a:latin typeface="Aptos Bold"/>
                <a:ea typeface="Aptos Bold"/>
                <a:cs typeface="Aptos Bold"/>
                <a:sym typeface="Aptos Bold"/>
              </a:rPr>
              <a:t>VOICE INTELLIGENCE</a:t>
            </a:r>
          </a:p>
          <a:p>
            <a:pPr algn="l">
              <a:lnSpc>
                <a:spcPts val="1709"/>
              </a:lnSpc>
            </a:pPr>
            <a:r>
              <a:rPr lang="en-US" sz="1425">
                <a:solidFill>
                  <a:srgbClr val="F4F7FC"/>
                </a:solidFill>
                <a:latin typeface="Aptos"/>
                <a:ea typeface="Aptos"/>
                <a:cs typeface="Aptos"/>
                <a:sym typeface="Aptos"/>
              </a:rPr>
              <a:t>Analyzes voice features such as sound patterns, tone, speech style, and speaker characteristics in real time.</a:t>
            </a:r>
          </a:p>
        </p:txBody>
      </p:sp>
      <p:sp>
        <p:nvSpPr>
          <p:cNvPr name="Freeform 45" id="45"/>
          <p:cNvSpPr/>
          <p:nvPr/>
        </p:nvSpPr>
        <p:spPr>
          <a:xfrm flipH="false" flipV="false" rot="0">
            <a:off x="13995854" y="1475832"/>
            <a:ext cx="98660" cy="1424454"/>
          </a:xfrm>
          <a:custGeom>
            <a:avLst/>
            <a:gdLst/>
            <a:ahLst/>
            <a:cxnLst/>
            <a:rect r="r" b="b" t="t" l="l"/>
            <a:pathLst>
              <a:path h="1424454" w="98660">
                <a:moveTo>
                  <a:pt x="0" y="0"/>
                </a:moveTo>
                <a:lnTo>
                  <a:pt x="98660" y="0"/>
                </a:lnTo>
                <a:lnTo>
                  <a:pt x="98660" y="1424454"/>
                </a:lnTo>
                <a:lnTo>
                  <a:pt x="0" y="1424454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 l="-2934" t="0" r="-2944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13536139" y="1880302"/>
            <a:ext cx="491347" cy="491347"/>
          </a:xfrm>
          <a:custGeom>
            <a:avLst/>
            <a:gdLst/>
            <a:ahLst/>
            <a:cxnLst/>
            <a:rect r="r" b="b" t="t" l="l"/>
            <a:pathLst>
              <a:path h="491347" w="491347">
                <a:moveTo>
                  <a:pt x="0" y="0"/>
                </a:moveTo>
                <a:lnTo>
                  <a:pt x="491348" y="0"/>
                </a:lnTo>
                <a:lnTo>
                  <a:pt x="491348" y="491347"/>
                </a:lnTo>
                <a:lnTo>
                  <a:pt x="0" y="491347"/>
                </a:lnTo>
                <a:lnTo>
                  <a:pt x="0" y="0"/>
                </a:lnTo>
                <a:close/>
              </a:path>
            </a:pathLst>
          </a:custGeom>
          <a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7" id="47"/>
          <p:cNvSpPr txBox="true"/>
          <p:nvPr/>
        </p:nvSpPr>
        <p:spPr>
          <a:xfrm rot="0">
            <a:off x="9235440" y="3687318"/>
            <a:ext cx="310896" cy="299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200">
                <a:solidFill>
                  <a:srgbClr val="BECADC"/>
                </a:solidFill>
                <a:latin typeface="Aptos"/>
                <a:ea typeface="Aptos"/>
                <a:cs typeface="Aptos"/>
                <a:sym typeface="Aptos"/>
              </a:rPr>
              <a:t>3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9796272" y="3607308"/>
            <a:ext cx="3459480" cy="1282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8B5CF6"/>
                </a:solidFill>
                <a:latin typeface="Aptos Bold"/>
                <a:ea typeface="Aptos Bold"/>
                <a:cs typeface="Aptos Bold"/>
                <a:sym typeface="Aptos Bold"/>
              </a:rPr>
              <a:t>DEEPFAKE DETECTION</a:t>
            </a:r>
          </a:p>
          <a:p>
            <a:pPr algn="l">
              <a:lnSpc>
                <a:spcPts val="1709"/>
              </a:lnSpc>
            </a:pPr>
            <a:r>
              <a:rPr lang="en-US" sz="1425">
                <a:solidFill>
                  <a:srgbClr val="F4F7FC"/>
                </a:solidFill>
                <a:latin typeface="Aptos"/>
                <a:ea typeface="Aptos"/>
                <a:cs typeface="Aptos"/>
                <a:sym typeface="Aptos"/>
              </a:rPr>
              <a:t>Uses deepfake detection models to identify synthetic or manipulated speech.</a:t>
            </a:r>
          </a:p>
        </p:txBody>
      </p:sp>
      <p:sp>
        <p:nvSpPr>
          <p:cNvPr name="Freeform 49" id="49"/>
          <p:cNvSpPr/>
          <p:nvPr/>
        </p:nvSpPr>
        <p:spPr>
          <a:xfrm flipH="false" flipV="false" rot="0">
            <a:off x="14066015" y="3273142"/>
            <a:ext cx="98860" cy="1427283"/>
          </a:xfrm>
          <a:custGeom>
            <a:avLst/>
            <a:gdLst/>
            <a:ahLst/>
            <a:cxnLst/>
            <a:rect r="r" b="b" t="t" l="l"/>
            <a:pathLst>
              <a:path h="1427283" w="98860">
                <a:moveTo>
                  <a:pt x="0" y="0"/>
                </a:moveTo>
                <a:lnTo>
                  <a:pt x="98860" y="0"/>
                </a:lnTo>
                <a:lnTo>
                  <a:pt x="98860" y="1427284"/>
                </a:lnTo>
                <a:lnTo>
                  <a:pt x="0" y="1427284"/>
                </a:lnTo>
                <a:lnTo>
                  <a:pt x="0" y="0"/>
                </a:lnTo>
                <a:close/>
              </a:path>
            </a:pathLst>
          </a:custGeom>
          <a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 l="-2938" t="0" r="-2938" b="0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0">
            <a:off x="13513784" y="3500799"/>
            <a:ext cx="491347" cy="491347"/>
          </a:xfrm>
          <a:custGeom>
            <a:avLst/>
            <a:gdLst/>
            <a:ahLst/>
            <a:cxnLst/>
            <a:rect r="r" b="b" t="t" l="l"/>
            <a:pathLst>
              <a:path h="491347" w="491347">
                <a:moveTo>
                  <a:pt x="0" y="0"/>
                </a:moveTo>
                <a:lnTo>
                  <a:pt x="491347" y="0"/>
                </a:lnTo>
                <a:lnTo>
                  <a:pt x="491347" y="491348"/>
                </a:lnTo>
                <a:lnTo>
                  <a:pt x="0" y="491348"/>
                </a:lnTo>
                <a:lnTo>
                  <a:pt x="0" y="0"/>
                </a:lnTo>
                <a:close/>
              </a:path>
            </a:pathLst>
          </a:custGeom>
          <a:blipFill>
            <a:blip r:embed="rId37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1" id="51"/>
          <p:cNvSpPr txBox="true"/>
          <p:nvPr/>
        </p:nvSpPr>
        <p:spPr>
          <a:xfrm rot="0">
            <a:off x="13670280" y="3687318"/>
            <a:ext cx="310896" cy="299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200">
                <a:solidFill>
                  <a:srgbClr val="BECADC"/>
                </a:solidFill>
                <a:latin typeface="Aptos"/>
                <a:ea typeface="Aptos"/>
                <a:cs typeface="Aptos"/>
                <a:sym typeface="Aptos"/>
              </a:rPr>
              <a:t>4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4231112" y="3607308"/>
            <a:ext cx="3459480" cy="1282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2CC682"/>
                </a:solidFill>
                <a:latin typeface="Aptos Bold"/>
                <a:ea typeface="Aptos Bold"/>
                <a:cs typeface="Aptos Bold"/>
                <a:sym typeface="Aptos Bold"/>
              </a:rPr>
              <a:t>SPEAKER VERIFICATION</a:t>
            </a:r>
          </a:p>
          <a:p>
            <a:pPr algn="l">
              <a:lnSpc>
                <a:spcPts val="1709"/>
              </a:lnSpc>
            </a:pPr>
            <a:r>
              <a:rPr lang="en-US" sz="1425">
                <a:solidFill>
                  <a:srgbClr val="F4F7FC"/>
                </a:solidFill>
                <a:latin typeface="Aptos"/>
                <a:ea typeface="Aptos"/>
                <a:cs typeface="Aptos"/>
                <a:sym typeface="Aptos"/>
              </a:rPr>
              <a:t>Compares the caller's voice with trusted reference voice samples to detect impersonation.</a:t>
            </a:r>
          </a:p>
        </p:txBody>
      </p:sp>
      <p:sp>
        <p:nvSpPr>
          <p:cNvPr name="Freeform 53" id="53"/>
          <p:cNvSpPr/>
          <p:nvPr/>
        </p:nvSpPr>
        <p:spPr>
          <a:xfrm flipH="false" flipV="false" rot="0">
            <a:off x="9668770" y="5201155"/>
            <a:ext cx="72238" cy="1475451"/>
          </a:xfrm>
          <a:custGeom>
            <a:avLst/>
            <a:gdLst/>
            <a:ahLst/>
            <a:cxnLst/>
            <a:rect r="r" b="b" t="t" l="l"/>
            <a:pathLst>
              <a:path h="1475451" w="72238">
                <a:moveTo>
                  <a:pt x="0" y="0"/>
                </a:moveTo>
                <a:lnTo>
                  <a:pt x="72238" y="0"/>
                </a:lnTo>
                <a:lnTo>
                  <a:pt x="72238" y="1475451"/>
                </a:lnTo>
                <a:lnTo>
                  <a:pt x="0" y="1475451"/>
                </a:lnTo>
                <a:lnTo>
                  <a:pt x="0" y="0"/>
                </a:lnTo>
                <a:close/>
              </a:path>
            </a:pathLst>
          </a:custGeom>
          <a:blipFill>
            <a:blip r:embed="rId39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 l="-2703" t="0" r="-2716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9129627" y="5371024"/>
            <a:ext cx="491347" cy="491347"/>
          </a:xfrm>
          <a:custGeom>
            <a:avLst/>
            <a:gdLst/>
            <a:ahLst/>
            <a:cxnLst/>
            <a:rect r="r" b="b" t="t" l="l"/>
            <a:pathLst>
              <a:path h="491347" w="491347">
                <a:moveTo>
                  <a:pt x="0" y="0"/>
                </a:moveTo>
                <a:lnTo>
                  <a:pt x="491347" y="0"/>
                </a:lnTo>
                <a:lnTo>
                  <a:pt x="491347" y="491347"/>
                </a:lnTo>
                <a:lnTo>
                  <a:pt x="0" y="491347"/>
                </a:lnTo>
                <a:lnTo>
                  <a:pt x="0" y="0"/>
                </a:lnTo>
                <a:close/>
              </a:path>
            </a:pathLst>
          </a:custGeom>
          <a:blipFill>
            <a:blip r:embed="rId41">
              <a:extLst>
                <a:ext uri="{96DAC541-7B7A-43D3-8B79-37D633B846F1}">
                  <asvg:svgBlip xmlns:asvg="http://schemas.microsoft.com/office/drawing/2016/SVG/main" r:embed="rId4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5" id="55"/>
          <p:cNvSpPr txBox="true"/>
          <p:nvPr/>
        </p:nvSpPr>
        <p:spPr>
          <a:xfrm rot="0">
            <a:off x="9235440" y="5518404"/>
            <a:ext cx="310896" cy="299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200">
                <a:solidFill>
                  <a:srgbClr val="BECADC"/>
                </a:solidFill>
                <a:latin typeface="Aptos"/>
                <a:ea typeface="Aptos"/>
                <a:cs typeface="Aptos"/>
                <a:sym typeface="Aptos"/>
              </a:rPr>
              <a:t>5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9796272" y="5438394"/>
            <a:ext cx="3459480" cy="1282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FF973D"/>
                </a:solidFill>
                <a:latin typeface="Aptos Bold"/>
                <a:ea typeface="Aptos Bold"/>
                <a:cs typeface="Aptos Bold"/>
                <a:sym typeface="Aptos Bold"/>
              </a:rPr>
              <a:t>DYNAMIC RISK SCORE</a:t>
            </a:r>
          </a:p>
          <a:p>
            <a:pPr algn="l">
              <a:lnSpc>
                <a:spcPts val="1709"/>
              </a:lnSpc>
            </a:pPr>
            <a:r>
              <a:rPr lang="en-US" sz="1425">
                <a:solidFill>
                  <a:srgbClr val="F4F7FC"/>
                </a:solidFill>
                <a:latin typeface="Aptos"/>
                <a:ea typeface="Aptos"/>
                <a:cs typeface="Aptos"/>
                <a:sym typeface="Aptos"/>
              </a:rPr>
              <a:t>Generates a live 0–100 Impersonation Risk Score that updates throughout the call.</a:t>
            </a:r>
          </a:p>
        </p:txBody>
      </p:sp>
      <p:sp>
        <p:nvSpPr>
          <p:cNvPr name="Freeform 57" id="57"/>
          <p:cNvSpPr/>
          <p:nvPr/>
        </p:nvSpPr>
        <p:spPr>
          <a:xfrm flipH="false" flipV="false" rot="0">
            <a:off x="14052137" y="5206746"/>
            <a:ext cx="105318" cy="1520561"/>
          </a:xfrm>
          <a:custGeom>
            <a:avLst/>
            <a:gdLst/>
            <a:ahLst/>
            <a:cxnLst/>
            <a:rect r="r" b="b" t="t" l="l"/>
            <a:pathLst>
              <a:path h="1520561" w="105318">
                <a:moveTo>
                  <a:pt x="0" y="0"/>
                </a:moveTo>
                <a:lnTo>
                  <a:pt x="105318" y="0"/>
                </a:lnTo>
                <a:lnTo>
                  <a:pt x="105318" y="1520561"/>
                </a:lnTo>
                <a:lnTo>
                  <a:pt x="0" y="1520561"/>
                </a:lnTo>
                <a:lnTo>
                  <a:pt x="0" y="0"/>
                </a:lnTo>
                <a:close/>
              </a:path>
            </a:pathLst>
          </a:custGeom>
          <a:blipFill>
            <a:blip r:embed="rId43">
              <a:extLst>
                <a:ext uri="{96DAC541-7B7A-43D3-8B79-37D633B846F1}">
                  <asvg:svgBlip xmlns:asvg="http://schemas.microsoft.com/office/drawing/2016/SVG/main" r:embed="rId44"/>
                </a:ext>
              </a:extLst>
            </a:blip>
            <a:stretch>
              <a:fillRect l="-4142" t="0" r="-4142" b="0"/>
            </a:stretch>
          </a:blipFill>
        </p:spPr>
      </p:sp>
      <p:sp>
        <p:nvSpPr>
          <p:cNvPr name="Freeform 58" id="58"/>
          <p:cNvSpPr/>
          <p:nvPr/>
        </p:nvSpPr>
        <p:spPr>
          <a:xfrm flipH="false" flipV="false" rot="0">
            <a:off x="13570334" y="5362546"/>
            <a:ext cx="491347" cy="491347"/>
          </a:xfrm>
          <a:custGeom>
            <a:avLst/>
            <a:gdLst/>
            <a:ahLst/>
            <a:cxnLst/>
            <a:rect r="r" b="b" t="t" l="l"/>
            <a:pathLst>
              <a:path h="491347" w="491347">
                <a:moveTo>
                  <a:pt x="0" y="0"/>
                </a:moveTo>
                <a:lnTo>
                  <a:pt x="491347" y="0"/>
                </a:lnTo>
                <a:lnTo>
                  <a:pt x="491347" y="491348"/>
                </a:lnTo>
                <a:lnTo>
                  <a:pt x="0" y="491348"/>
                </a:lnTo>
                <a:lnTo>
                  <a:pt x="0" y="0"/>
                </a:lnTo>
                <a:close/>
              </a:path>
            </a:pathLst>
          </a:custGeom>
          <a:blipFill>
            <a:blip r:embed="rId45">
              <a:extLst>
                <a:ext uri="{96DAC541-7B7A-43D3-8B79-37D633B846F1}">
                  <asvg:svgBlip xmlns:asvg="http://schemas.microsoft.com/office/drawing/2016/SVG/main" r:embed="rId4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9" id="59"/>
          <p:cNvSpPr txBox="true"/>
          <p:nvPr/>
        </p:nvSpPr>
        <p:spPr>
          <a:xfrm rot="0">
            <a:off x="13670280" y="5518404"/>
            <a:ext cx="310896" cy="299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200">
                <a:solidFill>
                  <a:srgbClr val="BECADC"/>
                </a:solidFill>
                <a:latin typeface="Aptos"/>
                <a:ea typeface="Aptos"/>
                <a:cs typeface="Aptos"/>
                <a:sym typeface="Aptos"/>
              </a:rPr>
              <a:t>6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4231112" y="5438394"/>
            <a:ext cx="3459480" cy="1282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F05454"/>
                </a:solidFill>
                <a:latin typeface="Aptos Bold"/>
                <a:ea typeface="Aptos Bold"/>
                <a:cs typeface="Aptos Bold"/>
                <a:sym typeface="Aptos Bold"/>
              </a:rPr>
              <a:t>THREAT FUSION</a:t>
            </a:r>
          </a:p>
          <a:p>
            <a:pPr algn="l">
              <a:lnSpc>
                <a:spcPts val="1709"/>
              </a:lnSpc>
            </a:pPr>
            <a:r>
              <a:rPr lang="en-US" sz="1425">
                <a:solidFill>
                  <a:srgbClr val="F4F7FC"/>
                </a:solidFill>
                <a:latin typeface="Aptos"/>
                <a:ea typeface="Aptos"/>
                <a:cs typeface="Aptos"/>
                <a:sym typeface="Aptos"/>
              </a:rPr>
              <a:t>Combines voice authenticity, speaker consistency, and other risk signals to assess the threat level.</a:t>
            </a:r>
          </a:p>
        </p:txBody>
      </p:sp>
      <p:sp>
        <p:nvSpPr>
          <p:cNvPr name="Freeform 61" id="61"/>
          <p:cNvSpPr/>
          <p:nvPr/>
        </p:nvSpPr>
        <p:spPr>
          <a:xfrm flipH="false" flipV="false" rot="0">
            <a:off x="11169701" y="6967566"/>
            <a:ext cx="97536" cy="1408243"/>
          </a:xfrm>
          <a:custGeom>
            <a:avLst/>
            <a:gdLst/>
            <a:ahLst/>
            <a:cxnLst/>
            <a:rect r="r" b="b" t="t" l="l"/>
            <a:pathLst>
              <a:path h="1408243" w="97536">
                <a:moveTo>
                  <a:pt x="0" y="0"/>
                </a:moveTo>
                <a:lnTo>
                  <a:pt x="97536" y="0"/>
                </a:lnTo>
                <a:lnTo>
                  <a:pt x="97536" y="1408243"/>
                </a:lnTo>
                <a:lnTo>
                  <a:pt x="0" y="1408243"/>
                </a:lnTo>
                <a:lnTo>
                  <a:pt x="0" y="0"/>
                </a:lnTo>
                <a:close/>
              </a:path>
            </a:pathLst>
          </a:custGeom>
          <a:blipFill>
            <a:blip r:embed="rId47">
              <a:extLst>
                <a:ext uri="{96DAC541-7B7A-43D3-8B79-37D633B846F1}">
                  <asvg:svgBlip xmlns:asvg="http://schemas.microsoft.com/office/drawing/2016/SVG/main" r:embed="rId48"/>
                </a:ext>
              </a:extLst>
            </a:blip>
            <a:stretch>
              <a:fillRect l="-3652" t="0" r="-3662" b="0"/>
            </a:stretch>
          </a:blipFill>
        </p:spPr>
      </p:sp>
      <p:sp>
        <p:nvSpPr>
          <p:cNvPr name="Freeform 62" id="62"/>
          <p:cNvSpPr/>
          <p:nvPr/>
        </p:nvSpPr>
        <p:spPr>
          <a:xfrm flipH="false" flipV="false" rot="0">
            <a:off x="10692374" y="7267927"/>
            <a:ext cx="491347" cy="491347"/>
          </a:xfrm>
          <a:custGeom>
            <a:avLst/>
            <a:gdLst/>
            <a:ahLst/>
            <a:cxnLst/>
            <a:rect r="r" b="b" t="t" l="l"/>
            <a:pathLst>
              <a:path h="491347" w="491347">
                <a:moveTo>
                  <a:pt x="0" y="0"/>
                </a:moveTo>
                <a:lnTo>
                  <a:pt x="491348" y="0"/>
                </a:lnTo>
                <a:lnTo>
                  <a:pt x="491348" y="491348"/>
                </a:lnTo>
                <a:lnTo>
                  <a:pt x="0" y="491348"/>
                </a:lnTo>
                <a:lnTo>
                  <a:pt x="0" y="0"/>
                </a:lnTo>
                <a:close/>
              </a:path>
            </a:pathLst>
          </a:custGeom>
          <a:blipFill>
            <a:blip r:embed="rId49">
              <a:extLst>
                <a:ext uri="{96DAC541-7B7A-43D3-8B79-37D633B846F1}">
                  <asvg:svgBlip xmlns:asvg="http://schemas.microsoft.com/office/drawing/2016/SVG/main" r:embed="rId5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3" id="63"/>
          <p:cNvSpPr txBox="true"/>
          <p:nvPr/>
        </p:nvSpPr>
        <p:spPr>
          <a:xfrm rot="0">
            <a:off x="10774204" y="7434072"/>
            <a:ext cx="310896" cy="299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200">
                <a:solidFill>
                  <a:srgbClr val="BECADC"/>
                </a:solidFill>
                <a:latin typeface="Aptos"/>
                <a:ea typeface="Aptos"/>
                <a:cs typeface="Aptos"/>
                <a:sym typeface="Aptos"/>
              </a:rPr>
              <a:t>7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1343437" y="7269480"/>
            <a:ext cx="5403494" cy="1282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F5BE42"/>
                </a:solidFill>
                <a:latin typeface="Aptos Bold"/>
                <a:ea typeface="Aptos Bold"/>
                <a:cs typeface="Aptos Bold"/>
                <a:sym typeface="Aptos Bold"/>
              </a:rPr>
              <a:t>PRIVACY-FIRST INTEGRATION</a:t>
            </a:r>
          </a:p>
          <a:p>
            <a:pPr algn="l">
              <a:lnSpc>
                <a:spcPts val="1709"/>
              </a:lnSpc>
            </a:pPr>
            <a:r>
              <a:rPr lang="en-US" sz="1425">
                <a:solidFill>
                  <a:srgbClr val="F4F7FC"/>
                </a:solidFill>
                <a:latin typeface="Aptos"/>
                <a:ea typeface="Aptos"/>
                <a:cs typeface="Aptos"/>
                <a:sym typeface="Aptos"/>
              </a:rPr>
              <a:t>Provides privacy-focused APIs and SDKs for banking, enterprises, telecom, and government systems.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2820286" y="448751"/>
            <a:ext cx="7498080" cy="880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true">
                <a:solidFill>
                  <a:srgbClr val="3C7D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PROBLEM STATEMENT</a:t>
            </a:r>
          </a:p>
        </p:txBody>
      </p:sp>
      <p:grpSp>
        <p:nvGrpSpPr>
          <p:cNvPr name="Group 66" id="66"/>
          <p:cNvGrpSpPr/>
          <p:nvPr/>
        </p:nvGrpSpPr>
        <p:grpSpPr>
          <a:xfrm rot="0">
            <a:off x="2514248" y="1433636"/>
            <a:ext cx="4762214" cy="82296"/>
            <a:chOff x="0" y="0"/>
            <a:chExt cx="6349619" cy="109728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6349619" cy="109728"/>
            </a:xfrm>
            <a:custGeom>
              <a:avLst/>
              <a:gdLst/>
              <a:ahLst/>
              <a:cxnLst/>
              <a:rect r="r" b="b" t="t" l="l"/>
              <a:pathLst>
                <a:path h="109728" w="6349619">
                  <a:moveTo>
                    <a:pt x="0" y="0"/>
                  </a:moveTo>
                  <a:lnTo>
                    <a:pt x="6349619" y="0"/>
                  </a:lnTo>
                  <a:lnTo>
                    <a:pt x="6349619" y="109728"/>
                  </a:lnTo>
                  <a:lnTo>
                    <a:pt x="0" y="109728"/>
                  </a:lnTo>
                  <a:close/>
                </a:path>
              </a:pathLst>
            </a:custGeom>
            <a:solidFill>
              <a:srgbClr val="2A7EA3"/>
            </a:solidFill>
          </p:spPr>
        </p:sp>
      </p:grpSp>
      <p:sp>
        <p:nvSpPr>
          <p:cNvPr name="Freeform 68" id="68"/>
          <p:cNvSpPr/>
          <p:nvPr/>
        </p:nvSpPr>
        <p:spPr>
          <a:xfrm flipH="false" flipV="false" rot="0">
            <a:off x="623411" y="1710785"/>
            <a:ext cx="7714297" cy="1319117"/>
          </a:xfrm>
          <a:custGeom>
            <a:avLst/>
            <a:gdLst/>
            <a:ahLst/>
            <a:cxnLst/>
            <a:rect r="r" b="b" t="t" l="l"/>
            <a:pathLst>
              <a:path h="1319117" w="7714297">
                <a:moveTo>
                  <a:pt x="0" y="0"/>
                </a:moveTo>
                <a:lnTo>
                  <a:pt x="7714298" y="0"/>
                </a:lnTo>
                <a:lnTo>
                  <a:pt x="7714298" y="1319117"/>
                </a:lnTo>
                <a:lnTo>
                  <a:pt x="0" y="1319117"/>
                </a:lnTo>
                <a:lnTo>
                  <a:pt x="0" y="0"/>
                </a:lnTo>
                <a:close/>
              </a:path>
            </a:pathLst>
          </a:custGeom>
          <a:blipFill>
            <a:blip r:embed="rId51">
              <a:extLst>
                <a:ext uri="{96DAC541-7B7A-43D3-8B79-37D633B846F1}">
                  <asvg:svgBlip xmlns:asvg="http://schemas.microsoft.com/office/drawing/2016/SVG/main" r:embed="rId52"/>
                </a:ext>
              </a:extLst>
            </a:blip>
            <a:stretch>
              <a:fillRect l="0" t="-177" r="0" b="-178"/>
            </a:stretch>
          </a:blipFill>
        </p:spPr>
      </p:sp>
      <p:sp>
        <p:nvSpPr>
          <p:cNvPr name="Freeform 69" id="69"/>
          <p:cNvSpPr/>
          <p:nvPr/>
        </p:nvSpPr>
        <p:spPr>
          <a:xfrm flipH="false" flipV="false" rot="0">
            <a:off x="847030" y="1921450"/>
            <a:ext cx="665083" cy="518779"/>
          </a:xfrm>
          <a:custGeom>
            <a:avLst/>
            <a:gdLst/>
            <a:ahLst/>
            <a:cxnLst/>
            <a:rect r="r" b="b" t="t" l="l"/>
            <a:pathLst>
              <a:path h="518779" w="665083">
                <a:moveTo>
                  <a:pt x="0" y="0"/>
                </a:moveTo>
                <a:lnTo>
                  <a:pt x="665083" y="0"/>
                </a:lnTo>
                <a:lnTo>
                  <a:pt x="665083" y="518779"/>
                </a:lnTo>
                <a:lnTo>
                  <a:pt x="0" y="518779"/>
                </a:lnTo>
                <a:lnTo>
                  <a:pt x="0" y="0"/>
                </a:lnTo>
                <a:close/>
              </a:path>
            </a:pathLst>
          </a:custGeom>
          <a:blipFill>
            <a:blip r:embed="rId53">
              <a:extLst>
                <a:ext uri="{96DAC541-7B7A-43D3-8B79-37D633B846F1}">
                  <asvg:svgBlip xmlns:asvg="http://schemas.microsoft.com/office/drawing/2016/SVG/main" r:embed="rId54"/>
                </a:ext>
              </a:extLst>
            </a:blip>
            <a:stretch>
              <a:fillRect l="0" t="-365" r="0" b="-363"/>
            </a:stretch>
          </a:blipFill>
        </p:spPr>
      </p:sp>
      <p:grpSp>
        <p:nvGrpSpPr>
          <p:cNvPr name="Group 70" id="70"/>
          <p:cNvGrpSpPr/>
          <p:nvPr/>
        </p:nvGrpSpPr>
        <p:grpSpPr>
          <a:xfrm rot="0">
            <a:off x="852392" y="1891094"/>
            <a:ext cx="654368" cy="543782"/>
            <a:chOff x="0" y="0"/>
            <a:chExt cx="872490" cy="725043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872490" cy="725043"/>
            </a:xfrm>
            <a:custGeom>
              <a:avLst/>
              <a:gdLst/>
              <a:ahLst/>
              <a:cxnLst/>
              <a:rect r="r" b="b" t="t" l="l"/>
              <a:pathLst>
                <a:path h="725043" w="872490">
                  <a:moveTo>
                    <a:pt x="0" y="0"/>
                  </a:moveTo>
                  <a:lnTo>
                    <a:pt x="872490" y="0"/>
                  </a:lnTo>
                  <a:lnTo>
                    <a:pt x="872490" y="725043"/>
                  </a:lnTo>
                  <a:lnTo>
                    <a:pt x="0" y="725043"/>
                  </a:lnTo>
                  <a:close/>
                </a:path>
              </a:pathLst>
            </a:custGeom>
            <a:blipFill>
              <a:blip r:embed="rId18">
                <a:alphaModFix amt="0"/>
              </a:blip>
              <a:stretch>
                <a:fillRect l="-56694" t="0" r="-56695" b="0"/>
              </a:stretch>
            </a:blip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852392" y="1855375"/>
            <a:ext cx="654368" cy="579501"/>
            <a:chOff x="0" y="0"/>
            <a:chExt cx="872490" cy="772668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872491" cy="772668"/>
            </a:xfrm>
            <a:custGeom>
              <a:avLst/>
              <a:gdLst/>
              <a:ahLst/>
              <a:cxnLst/>
              <a:rect r="r" b="b" t="t" l="l"/>
              <a:pathLst>
                <a:path h="772668" w="872491">
                  <a:moveTo>
                    <a:pt x="0" y="0"/>
                  </a:moveTo>
                  <a:lnTo>
                    <a:pt x="872491" y="0"/>
                  </a:lnTo>
                  <a:lnTo>
                    <a:pt x="872491" y="772668"/>
                  </a:lnTo>
                  <a:lnTo>
                    <a:pt x="0" y="772668"/>
                  </a:lnTo>
                  <a:close/>
                </a:path>
              </a:pathLst>
            </a:custGeom>
            <a:blipFill>
              <a:blip r:embed="rId19">
                <a:alphaModFix amt="0"/>
              </a:blip>
              <a:stretch>
                <a:fillRect l="-63624" t="0" r="-63624" b="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47625"/>
              <a:ext cx="872490" cy="8202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sp>
        <p:nvSpPr>
          <p:cNvPr name="TextBox 75" id="75"/>
          <p:cNvSpPr txBox="true"/>
          <p:nvPr/>
        </p:nvSpPr>
        <p:spPr>
          <a:xfrm rot="0">
            <a:off x="1792224" y="1803654"/>
            <a:ext cx="2109045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8"/>
              </a:lnSpc>
            </a:pPr>
            <a:r>
              <a:rPr lang="en-US" sz="2148" b="true">
                <a:solidFill>
                  <a:srgbClr val="1F3D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AI VOICE CLONING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792224" y="2184654"/>
            <a:ext cx="6217920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3"/>
              </a:lnSpc>
            </a:pPr>
            <a:r>
              <a:rPr lang="en-US" sz="1719">
                <a:solidFill>
                  <a:srgbClr val="3C4650"/>
                </a:solidFill>
                <a:latin typeface="Calibri (MS)"/>
                <a:ea typeface="Calibri (MS)"/>
                <a:cs typeface="Calibri (MS)"/>
                <a:sym typeface="Calibri (MS)"/>
              </a:rPr>
              <a:t>AI-generated voice cloning enables attackers to convincingly impersonate trusted individuals.</a:t>
            </a:r>
          </a:p>
        </p:txBody>
      </p:sp>
      <p:sp>
        <p:nvSpPr>
          <p:cNvPr name="Freeform 77" id="77"/>
          <p:cNvSpPr/>
          <p:nvPr/>
        </p:nvSpPr>
        <p:spPr>
          <a:xfrm flipH="false" flipV="false" rot="0">
            <a:off x="623411" y="3244310"/>
            <a:ext cx="7714297" cy="1319117"/>
          </a:xfrm>
          <a:custGeom>
            <a:avLst/>
            <a:gdLst/>
            <a:ahLst/>
            <a:cxnLst/>
            <a:rect r="r" b="b" t="t" l="l"/>
            <a:pathLst>
              <a:path h="1319117" w="7714297">
                <a:moveTo>
                  <a:pt x="0" y="0"/>
                </a:moveTo>
                <a:lnTo>
                  <a:pt x="7714298" y="0"/>
                </a:lnTo>
                <a:lnTo>
                  <a:pt x="7714298" y="1319118"/>
                </a:lnTo>
                <a:lnTo>
                  <a:pt x="0" y="1319118"/>
                </a:lnTo>
                <a:lnTo>
                  <a:pt x="0" y="0"/>
                </a:lnTo>
                <a:close/>
              </a:path>
            </a:pathLst>
          </a:custGeom>
          <a:blipFill>
            <a:blip r:embed="rId51">
              <a:extLst>
                <a:ext uri="{96DAC541-7B7A-43D3-8B79-37D633B846F1}">
                  <asvg:svgBlip xmlns:asvg="http://schemas.microsoft.com/office/drawing/2016/SVG/main" r:embed="rId52"/>
                </a:ext>
              </a:extLst>
            </a:blip>
            <a:stretch>
              <a:fillRect l="0" t="-177" r="0" b="-178"/>
            </a:stretch>
          </a:blipFill>
        </p:spPr>
      </p:sp>
      <p:sp>
        <p:nvSpPr>
          <p:cNvPr name="Freeform 78" id="78"/>
          <p:cNvSpPr/>
          <p:nvPr/>
        </p:nvSpPr>
        <p:spPr>
          <a:xfrm flipH="false" flipV="false" rot="0">
            <a:off x="847030" y="3433639"/>
            <a:ext cx="665083" cy="518779"/>
          </a:xfrm>
          <a:custGeom>
            <a:avLst/>
            <a:gdLst/>
            <a:ahLst/>
            <a:cxnLst/>
            <a:rect r="r" b="b" t="t" l="l"/>
            <a:pathLst>
              <a:path h="518779" w="665083">
                <a:moveTo>
                  <a:pt x="0" y="0"/>
                </a:moveTo>
                <a:lnTo>
                  <a:pt x="665083" y="0"/>
                </a:lnTo>
                <a:lnTo>
                  <a:pt x="665083" y="518779"/>
                </a:lnTo>
                <a:lnTo>
                  <a:pt x="0" y="518779"/>
                </a:lnTo>
                <a:lnTo>
                  <a:pt x="0" y="0"/>
                </a:lnTo>
                <a:close/>
              </a:path>
            </a:pathLst>
          </a:custGeom>
          <a:blipFill>
            <a:blip r:embed="rId53">
              <a:extLst>
                <a:ext uri="{96DAC541-7B7A-43D3-8B79-37D633B846F1}">
                  <asvg:svgBlip xmlns:asvg="http://schemas.microsoft.com/office/drawing/2016/SVG/main" r:embed="rId54"/>
                </a:ext>
              </a:extLst>
            </a:blip>
            <a:stretch>
              <a:fillRect l="0" t="-365" r="0" b="-363"/>
            </a:stretch>
          </a:blipFill>
        </p:spPr>
      </p:sp>
      <p:grpSp>
        <p:nvGrpSpPr>
          <p:cNvPr name="Group 79" id="79"/>
          <p:cNvGrpSpPr/>
          <p:nvPr/>
        </p:nvGrpSpPr>
        <p:grpSpPr>
          <a:xfrm rot="0">
            <a:off x="852392" y="3403283"/>
            <a:ext cx="654368" cy="543782"/>
            <a:chOff x="0" y="0"/>
            <a:chExt cx="872490" cy="725043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872490" cy="725043"/>
            </a:xfrm>
            <a:custGeom>
              <a:avLst/>
              <a:gdLst/>
              <a:ahLst/>
              <a:cxnLst/>
              <a:rect r="r" b="b" t="t" l="l"/>
              <a:pathLst>
                <a:path h="725043" w="872490">
                  <a:moveTo>
                    <a:pt x="0" y="0"/>
                  </a:moveTo>
                  <a:lnTo>
                    <a:pt x="872490" y="0"/>
                  </a:lnTo>
                  <a:lnTo>
                    <a:pt x="872490" y="725043"/>
                  </a:lnTo>
                  <a:lnTo>
                    <a:pt x="0" y="725043"/>
                  </a:lnTo>
                  <a:close/>
                </a:path>
              </a:pathLst>
            </a:custGeom>
            <a:blipFill>
              <a:blip r:embed="rId18">
                <a:alphaModFix amt="0"/>
              </a:blip>
              <a:stretch>
                <a:fillRect l="-56694" t="0" r="-56695" b="0"/>
              </a:stretch>
            </a:blip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852392" y="3367564"/>
            <a:ext cx="654368" cy="579501"/>
            <a:chOff x="0" y="0"/>
            <a:chExt cx="872490" cy="772668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872491" cy="772668"/>
            </a:xfrm>
            <a:custGeom>
              <a:avLst/>
              <a:gdLst/>
              <a:ahLst/>
              <a:cxnLst/>
              <a:rect r="r" b="b" t="t" l="l"/>
              <a:pathLst>
                <a:path h="772668" w="872491">
                  <a:moveTo>
                    <a:pt x="0" y="0"/>
                  </a:moveTo>
                  <a:lnTo>
                    <a:pt x="872491" y="0"/>
                  </a:lnTo>
                  <a:lnTo>
                    <a:pt x="872491" y="772668"/>
                  </a:lnTo>
                  <a:lnTo>
                    <a:pt x="0" y="772668"/>
                  </a:lnTo>
                  <a:close/>
                </a:path>
              </a:pathLst>
            </a:custGeom>
            <a:blipFill>
              <a:blip r:embed="rId19">
                <a:alphaModFix amt="0"/>
              </a:blip>
              <a:stretch>
                <a:fillRect l="-63624" t="0" r="-63624" b="0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47625"/>
              <a:ext cx="872490" cy="8202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sp>
        <p:nvSpPr>
          <p:cNvPr name="TextBox 84" id="84"/>
          <p:cNvSpPr txBox="true"/>
          <p:nvPr/>
        </p:nvSpPr>
        <p:spPr>
          <a:xfrm rot="0">
            <a:off x="1792224" y="3315843"/>
            <a:ext cx="2265312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8"/>
              </a:lnSpc>
            </a:pPr>
            <a:r>
              <a:rPr lang="en-US" sz="2148" b="true">
                <a:solidFill>
                  <a:srgbClr val="1F3D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HIGH-RISK ATTACKS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1792224" y="3686175"/>
            <a:ext cx="6217920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3"/>
              </a:lnSpc>
            </a:pPr>
            <a:r>
              <a:rPr lang="en-US" sz="1719">
                <a:solidFill>
                  <a:srgbClr val="3C4650"/>
                </a:solidFill>
                <a:latin typeface="Calibri (MS)"/>
                <a:ea typeface="Calibri (MS)"/>
                <a:cs typeface="Calibri (MS)"/>
                <a:sym typeface="Calibri (MS)"/>
              </a:rPr>
              <a:t>Can lead to financial fraud, social engineering, and unauthorized actions.</a:t>
            </a:r>
          </a:p>
        </p:txBody>
      </p:sp>
      <p:sp>
        <p:nvSpPr>
          <p:cNvPr name="Freeform 86" id="86"/>
          <p:cNvSpPr/>
          <p:nvPr/>
        </p:nvSpPr>
        <p:spPr>
          <a:xfrm flipH="false" flipV="false" rot="0">
            <a:off x="623411" y="4756499"/>
            <a:ext cx="7714297" cy="1319117"/>
          </a:xfrm>
          <a:custGeom>
            <a:avLst/>
            <a:gdLst/>
            <a:ahLst/>
            <a:cxnLst/>
            <a:rect r="r" b="b" t="t" l="l"/>
            <a:pathLst>
              <a:path h="1319117" w="7714297">
                <a:moveTo>
                  <a:pt x="0" y="0"/>
                </a:moveTo>
                <a:lnTo>
                  <a:pt x="7714298" y="0"/>
                </a:lnTo>
                <a:lnTo>
                  <a:pt x="7714298" y="1319118"/>
                </a:lnTo>
                <a:lnTo>
                  <a:pt x="0" y="1319118"/>
                </a:lnTo>
                <a:lnTo>
                  <a:pt x="0" y="0"/>
                </a:lnTo>
                <a:close/>
              </a:path>
            </a:pathLst>
          </a:custGeom>
          <a:blipFill>
            <a:blip r:embed="rId51">
              <a:extLst>
                <a:ext uri="{96DAC541-7B7A-43D3-8B79-37D633B846F1}">
                  <asvg:svgBlip xmlns:asvg="http://schemas.microsoft.com/office/drawing/2016/SVG/main" r:embed="rId52"/>
                </a:ext>
              </a:extLst>
            </a:blip>
            <a:stretch>
              <a:fillRect l="0" t="-177" r="0" b="-178"/>
            </a:stretch>
          </a:blipFill>
        </p:spPr>
      </p:sp>
      <p:sp>
        <p:nvSpPr>
          <p:cNvPr name="Freeform 87" id="87"/>
          <p:cNvSpPr/>
          <p:nvPr/>
        </p:nvSpPr>
        <p:spPr>
          <a:xfrm flipH="false" flipV="false" rot="0">
            <a:off x="847030" y="4945828"/>
            <a:ext cx="665083" cy="518779"/>
          </a:xfrm>
          <a:custGeom>
            <a:avLst/>
            <a:gdLst/>
            <a:ahLst/>
            <a:cxnLst/>
            <a:rect r="r" b="b" t="t" l="l"/>
            <a:pathLst>
              <a:path h="518779" w="665083">
                <a:moveTo>
                  <a:pt x="0" y="0"/>
                </a:moveTo>
                <a:lnTo>
                  <a:pt x="665083" y="0"/>
                </a:lnTo>
                <a:lnTo>
                  <a:pt x="665083" y="518779"/>
                </a:lnTo>
                <a:lnTo>
                  <a:pt x="0" y="518779"/>
                </a:lnTo>
                <a:lnTo>
                  <a:pt x="0" y="0"/>
                </a:lnTo>
                <a:close/>
              </a:path>
            </a:pathLst>
          </a:custGeom>
          <a:blipFill>
            <a:blip r:embed="rId53">
              <a:extLst>
                <a:ext uri="{96DAC541-7B7A-43D3-8B79-37D633B846F1}">
                  <asvg:svgBlip xmlns:asvg="http://schemas.microsoft.com/office/drawing/2016/SVG/main" r:embed="rId54"/>
                </a:ext>
              </a:extLst>
            </a:blip>
            <a:stretch>
              <a:fillRect l="0" t="-365" r="0" b="-363"/>
            </a:stretch>
          </a:blipFill>
        </p:spPr>
      </p:sp>
      <p:grpSp>
        <p:nvGrpSpPr>
          <p:cNvPr name="Group 88" id="88"/>
          <p:cNvGrpSpPr/>
          <p:nvPr/>
        </p:nvGrpSpPr>
        <p:grpSpPr>
          <a:xfrm rot="0">
            <a:off x="852392" y="4915471"/>
            <a:ext cx="654368" cy="543782"/>
            <a:chOff x="0" y="0"/>
            <a:chExt cx="872490" cy="725043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872490" cy="725043"/>
            </a:xfrm>
            <a:custGeom>
              <a:avLst/>
              <a:gdLst/>
              <a:ahLst/>
              <a:cxnLst/>
              <a:rect r="r" b="b" t="t" l="l"/>
              <a:pathLst>
                <a:path h="725043" w="872490">
                  <a:moveTo>
                    <a:pt x="0" y="0"/>
                  </a:moveTo>
                  <a:lnTo>
                    <a:pt x="872490" y="0"/>
                  </a:lnTo>
                  <a:lnTo>
                    <a:pt x="872490" y="725043"/>
                  </a:lnTo>
                  <a:lnTo>
                    <a:pt x="0" y="725043"/>
                  </a:lnTo>
                  <a:close/>
                </a:path>
              </a:pathLst>
            </a:custGeom>
            <a:blipFill>
              <a:blip r:embed="rId18">
                <a:alphaModFix amt="0"/>
              </a:blip>
              <a:stretch>
                <a:fillRect l="-56694" t="0" r="-56695" b="0"/>
              </a:stretch>
            </a:blip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852392" y="4879753"/>
            <a:ext cx="654368" cy="579501"/>
            <a:chOff x="0" y="0"/>
            <a:chExt cx="872490" cy="772668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872491" cy="772668"/>
            </a:xfrm>
            <a:custGeom>
              <a:avLst/>
              <a:gdLst/>
              <a:ahLst/>
              <a:cxnLst/>
              <a:rect r="r" b="b" t="t" l="l"/>
              <a:pathLst>
                <a:path h="772668" w="872491">
                  <a:moveTo>
                    <a:pt x="0" y="0"/>
                  </a:moveTo>
                  <a:lnTo>
                    <a:pt x="872491" y="0"/>
                  </a:lnTo>
                  <a:lnTo>
                    <a:pt x="872491" y="772668"/>
                  </a:lnTo>
                  <a:lnTo>
                    <a:pt x="0" y="772668"/>
                  </a:lnTo>
                  <a:close/>
                </a:path>
              </a:pathLst>
            </a:custGeom>
            <a:blipFill>
              <a:blip r:embed="rId19">
                <a:alphaModFix amt="0"/>
              </a:blip>
              <a:stretch>
                <a:fillRect l="-63624" t="0" r="-63624" b="0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47625"/>
              <a:ext cx="872490" cy="8202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sp>
        <p:nvSpPr>
          <p:cNvPr name="TextBox 93" id="93"/>
          <p:cNvSpPr txBox="true"/>
          <p:nvPr/>
        </p:nvSpPr>
        <p:spPr>
          <a:xfrm rot="0">
            <a:off x="1792224" y="4828032"/>
            <a:ext cx="1777451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8"/>
              </a:lnSpc>
            </a:pPr>
            <a:r>
              <a:rPr lang="en-US" sz="2148" b="true">
                <a:solidFill>
                  <a:srgbClr val="1F3D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REAL-TIME GAP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1792224" y="5198364"/>
            <a:ext cx="6217920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3"/>
              </a:lnSpc>
            </a:pPr>
            <a:r>
              <a:rPr lang="en-US" sz="1719">
                <a:solidFill>
                  <a:srgbClr val="3C4650"/>
                </a:solidFill>
                <a:latin typeface="Calibri (MS)"/>
                <a:ea typeface="Calibri (MS)"/>
                <a:cs typeface="Calibri (MS)"/>
                <a:sym typeface="Calibri (MS)"/>
              </a:rPr>
              <a:t>Existing systems lack reliable real-time detection and prevention of voice-cloning attacks.</a:t>
            </a:r>
          </a:p>
        </p:txBody>
      </p:sp>
      <p:sp>
        <p:nvSpPr>
          <p:cNvPr name="Freeform 95" id="95"/>
          <p:cNvSpPr/>
          <p:nvPr/>
        </p:nvSpPr>
        <p:spPr>
          <a:xfrm flipH="false" flipV="false" rot="0">
            <a:off x="632936" y="6289786"/>
            <a:ext cx="7714297" cy="1319117"/>
          </a:xfrm>
          <a:custGeom>
            <a:avLst/>
            <a:gdLst/>
            <a:ahLst/>
            <a:cxnLst/>
            <a:rect r="r" b="b" t="t" l="l"/>
            <a:pathLst>
              <a:path h="1319117" w="7714297">
                <a:moveTo>
                  <a:pt x="0" y="0"/>
                </a:moveTo>
                <a:lnTo>
                  <a:pt x="7714298" y="0"/>
                </a:lnTo>
                <a:lnTo>
                  <a:pt x="7714298" y="1319117"/>
                </a:lnTo>
                <a:lnTo>
                  <a:pt x="0" y="1319117"/>
                </a:lnTo>
                <a:lnTo>
                  <a:pt x="0" y="0"/>
                </a:lnTo>
                <a:close/>
              </a:path>
            </a:pathLst>
          </a:custGeom>
          <a:blipFill>
            <a:blip r:embed="rId51">
              <a:extLst>
                <a:ext uri="{96DAC541-7B7A-43D3-8B79-37D633B846F1}">
                  <asvg:svgBlip xmlns:asvg="http://schemas.microsoft.com/office/drawing/2016/SVG/main" r:embed="rId52"/>
                </a:ext>
              </a:extLst>
            </a:blip>
            <a:stretch>
              <a:fillRect l="0" t="-177" r="0" b="-178"/>
            </a:stretch>
          </a:blipFill>
        </p:spPr>
      </p:sp>
      <p:sp>
        <p:nvSpPr>
          <p:cNvPr name="Freeform 96" id="96"/>
          <p:cNvSpPr/>
          <p:nvPr/>
        </p:nvSpPr>
        <p:spPr>
          <a:xfrm flipH="false" flipV="false" rot="0">
            <a:off x="847030" y="6458017"/>
            <a:ext cx="665083" cy="518779"/>
          </a:xfrm>
          <a:custGeom>
            <a:avLst/>
            <a:gdLst/>
            <a:ahLst/>
            <a:cxnLst/>
            <a:rect r="r" b="b" t="t" l="l"/>
            <a:pathLst>
              <a:path h="518779" w="665083">
                <a:moveTo>
                  <a:pt x="0" y="0"/>
                </a:moveTo>
                <a:lnTo>
                  <a:pt x="665083" y="0"/>
                </a:lnTo>
                <a:lnTo>
                  <a:pt x="665083" y="518779"/>
                </a:lnTo>
                <a:lnTo>
                  <a:pt x="0" y="518779"/>
                </a:lnTo>
                <a:lnTo>
                  <a:pt x="0" y="0"/>
                </a:lnTo>
                <a:close/>
              </a:path>
            </a:pathLst>
          </a:custGeom>
          <a:blipFill>
            <a:blip r:embed="rId53">
              <a:extLst>
                <a:ext uri="{96DAC541-7B7A-43D3-8B79-37D633B846F1}">
                  <asvg:svgBlip xmlns:asvg="http://schemas.microsoft.com/office/drawing/2016/SVG/main" r:embed="rId54"/>
                </a:ext>
              </a:extLst>
            </a:blip>
            <a:stretch>
              <a:fillRect l="0" t="-365" r="0" b="-363"/>
            </a:stretch>
          </a:blipFill>
        </p:spPr>
      </p:sp>
      <p:grpSp>
        <p:nvGrpSpPr>
          <p:cNvPr name="Group 97" id="97"/>
          <p:cNvGrpSpPr/>
          <p:nvPr/>
        </p:nvGrpSpPr>
        <p:grpSpPr>
          <a:xfrm rot="0">
            <a:off x="852392" y="6427660"/>
            <a:ext cx="654368" cy="543782"/>
            <a:chOff x="0" y="0"/>
            <a:chExt cx="872490" cy="725043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872490" cy="725043"/>
            </a:xfrm>
            <a:custGeom>
              <a:avLst/>
              <a:gdLst/>
              <a:ahLst/>
              <a:cxnLst/>
              <a:rect r="r" b="b" t="t" l="l"/>
              <a:pathLst>
                <a:path h="725043" w="872490">
                  <a:moveTo>
                    <a:pt x="0" y="0"/>
                  </a:moveTo>
                  <a:lnTo>
                    <a:pt x="872490" y="0"/>
                  </a:lnTo>
                  <a:lnTo>
                    <a:pt x="872490" y="725043"/>
                  </a:lnTo>
                  <a:lnTo>
                    <a:pt x="0" y="725043"/>
                  </a:lnTo>
                  <a:close/>
                </a:path>
              </a:pathLst>
            </a:custGeom>
            <a:blipFill>
              <a:blip r:embed="rId18">
                <a:alphaModFix amt="0"/>
              </a:blip>
              <a:stretch>
                <a:fillRect l="-56694" t="0" r="-56695" b="0"/>
              </a:stretch>
            </a:blip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852392" y="6391942"/>
            <a:ext cx="654368" cy="579501"/>
            <a:chOff x="0" y="0"/>
            <a:chExt cx="872490" cy="772668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872491" cy="772668"/>
            </a:xfrm>
            <a:custGeom>
              <a:avLst/>
              <a:gdLst/>
              <a:ahLst/>
              <a:cxnLst/>
              <a:rect r="r" b="b" t="t" l="l"/>
              <a:pathLst>
                <a:path h="772668" w="872491">
                  <a:moveTo>
                    <a:pt x="0" y="0"/>
                  </a:moveTo>
                  <a:lnTo>
                    <a:pt x="872491" y="0"/>
                  </a:lnTo>
                  <a:lnTo>
                    <a:pt x="872491" y="772668"/>
                  </a:lnTo>
                  <a:lnTo>
                    <a:pt x="0" y="772668"/>
                  </a:lnTo>
                  <a:close/>
                </a:path>
              </a:pathLst>
            </a:custGeom>
            <a:blipFill>
              <a:blip r:embed="rId19">
                <a:alphaModFix amt="0"/>
              </a:blip>
              <a:stretch>
                <a:fillRect l="-63624" t="0" r="-63624" b="0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47625"/>
              <a:ext cx="872490" cy="8202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sp>
        <p:nvSpPr>
          <p:cNvPr name="TextBox 102" id="102"/>
          <p:cNvSpPr txBox="true"/>
          <p:nvPr/>
        </p:nvSpPr>
        <p:spPr>
          <a:xfrm rot="0">
            <a:off x="1792224" y="6340221"/>
            <a:ext cx="2171109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8"/>
              </a:lnSpc>
            </a:pPr>
            <a:r>
              <a:rPr lang="en-US" sz="2148" b="true">
                <a:solidFill>
                  <a:srgbClr val="1F3D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AI-POWERED NEED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1792224" y="6734842"/>
            <a:ext cx="6217920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1"/>
              </a:lnSpc>
            </a:pPr>
            <a:r>
              <a:rPr lang="en-US" sz="1818">
                <a:solidFill>
                  <a:srgbClr val="3C4650"/>
                </a:solidFill>
                <a:latin typeface="Calibri (MS)"/>
                <a:ea typeface="Calibri (MS)"/>
                <a:cs typeface="Calibri (MS)"/>
                <a:sym typeface="Calibri (MS)"/>
              </a:rPr>
              <a:t>Need to detect synthetic voices, verify identity, and assess risk dynamically.</a:t>
            </a:r>
          </a:p>
        </p:txBody>
      </p:sp>
      <p:sp>
        <p:nvSpPr>
          <p:cNvPr name="Freeform 104" id="104"/>
          <p:cNvSpPr/>
          <p:nvPr/>
        </p:nvSpPr>
        <p:spPr>
          <a:xfrm flipH="false" flipV="false" rot="0">
            <a:off x="623411" y="7780877"/>
            <a:ext cx="7714297" cy="1319117"/>
          </a:xfrm>
          <a:custGeom>
            <a:avLst/>
            <a:gdLst/>
            <a:ahLst/>
            <a:cxnLst/>
            <a:rect r="r" b="b" t="t" l="l"/>
            <a:pathLst>
              <a:path h="1319117" w="7714297">
                <a:moveTo>
                  <a:pt x="0" y="0"/>
                </a:moveTo>
                <a:lnTo>
                  <a:pt x="7714298" y="0"/>
                </a:lnTo>
                <a:lnTo>
                  <a:pt x="7714298" y="1319118"/>
                </a:lnTo>
                <a:lnTo>
                  <a:pt x="0" y="1319118"/>
                </a:lnTo>
                <a:lnTo>
                  <a:pt x="0" y="0"/>
                </a:lnTo>
                <a:close/>
              </a:path>
            </a:pathLst>
          </a:custGeom>
          <a:blipFill>
            <a:blip r:embed="rId51">
              <a:extLst>
                <a:ext uri="{96DAC541-7B7A-43D3-8B79-37D633B846F1}">
                  <asvg:svgBlip xmlns:asvg="http://schemas.microsoft.com/office/drawing/2016/SVG/main" r:embed="rId52"/>
                </a:ext>
              </a:extLst>
            </a:blip>
            <a:stretch>
              <a:fillRect l="0" t="-177" r="0" b="-178"/>
            </a:stretch>
          </a:blipFill>
        </p:spPr>
      </p:sp>
      <p:sp>
        <p:nvSpPr>
          <p:cNvPr name="Freeform 105" id="105"/>
          <p:cNvSpPr/>
          <p:nvPr/>
        </p:nvSpPr>
        <p:spPr>
          <a:xfrm flipH="false" flipV="false" rot="0">
            <a:off x="847030" y="7970206"/>
            <a:ext cx="665083" cy="518779"/>
          </a:xfrm>
          <a:custGeom>
            <a:avLst/>
            <a:gdLst/>
            <a:ahLst/>
            <a:cxnLst/>
            <a:rect r="r" b="b" t="t" l="l"/>
            <a:pathLst>
              <a:path h="518779" w="665083">
                <a:moveTo>
                  <a:pt x="0" y="0"/>
                </a:moveTo>
                <a:lnTo>
                  <a:pt x="665083" y="0"/>
                </a:lnTo>
                <a:lnTo>
                  <a:pt x="665083" y="518779"/>
                </a:lnTo>
                <a:lnTo>
                  <a:pt x="0" y="518779"/>
                </a:lnTo>
                <a:lnTo>
                  <a:pt x="0" y="0"/>
                </a:lnTo>
                <a:close/>
              </a:path>
            </a:pathLst>
          </a:custGeom>
          <a:blipFill>
            <a:blip r:embed="rId53">
              <a:extLst>
                <a:ext uri="{96DAC541-7B7A-43D3-8B79-37D633B846F1}">
                  <asvg:svgBlip xmlns:asvg="http://schemas.microsoft.com/office/drawing/2016/SVG/main" r:embed="rId54"/>
                </a:ext>
              </a:extLst>
            </a:blip>
            <a:stretch>
              <a:fillRect l="0" t="-365" r="0" b="-363"/>
            </a:stretch>
          </a:blipFill>
        </p:spPr>
      </p:sp>
      <p:grpSp>
        <p:nvGrpSpPr>
          <p:cNvPr name="Group 106" id="106"/>
          <p:cNvGrpSpPr/>
          <p:nvPr/>
        </p:nvGrpSpPr>
        <p:grpSpPr>
          <a:xfrm rot="0">
            <a:off x="852392" y="7939850"/>
            <a:ext cx="654368" cy="543782"/>
            <a:chOff x="0" y="0"/>
            <a:chExt cx="872490" cy="725043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872490" cy="725043"/>
            </a:xfrm>
            <a:custGeom>
              <a:avLst/>
              <a:gdLst/>
              <a:ahLst/>
              <a:cxnLst/>
              <a:rect r="r" b="b" t="t" l="l"/>
              <a:pathLst>
                <a:path h="725043" w="872490">
                  <a:moveTo>
                    <a:pt x="0" y="0"/>
                  </a:moveTo>
                  <a:lnTo>
                    <a:pt x="872490" y="0"/>
                  </a:lnTo>
                  <a:lnTo>
                    <a:pt x="872490" y="725043"/>
                  </a:lnTo>
                  <a:lnTo>
                    <a:pt x="0" y="725043"/>
                  </a:lnTo>
                  <a:close/>
                </a:path>
              </a:pathLst>
            </a:custGeom>
            <a:blipFill>
              <a:blip r:embed="rId18">
                <a:alphaModFix amt="0"/>
              </a:blip>
              <a:stretch>
                <a:fillRect l="-56694" t="0" r="-56695" b="0"/>
              </a:stretch>
            </a:blipFill>
          </p:spPr>
        </p:sp>
      </p:grpSp>
      <p:grpSp>
        <p:nvGrpSpPr>
          <p:cNvPr name="Group 108" id="108"/>
          <p:cNvGrpSpPr/>
          <p:nvPr/>
        </p:nvGrpSpPr>
        <p:grpSpPr>
          <a:xfrm rot="0">
            <a:off x="852392" y="7904131"/>
            <a:ext cx="654368" cy="579501"/>
            <a:chOff x="0" y="0"/>
            <a:chExt cx="872490" cy="772668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872491" cy="772668"/>
            </a:xfrm>
            <a:custGeom>
              <a:avLst/>
              <a:gdLst/>
              <a:ahLst/>
              <a:cxnLst/>
              <a:rect r="r" b="b" t="t" l="l"/>
              <a:pathLst>
                <a:path h="772668" w="872491">
                  <a:moveTo>
                    <a:pt x="0" y="0"/>
                  </a:moveTo>
                  <a:lnTo>
                    <a:pt x="872491" y="0"/>
                  </a:lnTo>
                  <a:lnTo>
                    <a:pt x="872491" y="772668"/>
                  </a:lnTo>
                  <a:lnTo>
                    <a:pt x="0" y="772668"/>
                  </a:lnTo>
                  <a:close/>
                </a:path>
              </a:pathLst>
            </a:custGeom>
            <a:blipFill>
              <a:blip r:embed="rId19">
                <a:alphaModFix amt="0"/>
              </a:blip>
              <a:stretch>
                <a:fillRect l="-63624" t="0" r="-63624" b="0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-47625"/>
              <a:ext cx="872490" cy="8202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sp>
        <p:nvSpPr>
          <p:cNvPr name="TextBox 111" id="111"/>
          <p:cNvSpPr txBox="true"/>
          <p:nvPr/>
        </p:nvSpPr>
        <p:spPr>
          <a:xfrm rot="0">
            <a:off x="1792224" y="7852410"/>
            <a:ext cx="2193874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8"/>
              </a:lnSpc>
            </a:pPr>
            <a:r>
              <a:rPr lang="en-US" sz="2148" b="true">
                <a:solidFill>
                  <a:srgbClr val="1F3D6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SAFE DEPLOYMENT</a:t>
            </a:r>
          </a:p>
        </p:txBody>
      </p:sp>
      <p:sp>
        <p:nvSpPr>
          <p:cNvPr name="TextBox 112" id="112"/>
          <p:cNvSpPr txBox="true"/>
          <p:nvPr/>
        </p:nvSpPr>
        <p:spPr>
          <a:xfrm rot="0">
            <a:off x="1792224" y="8222742"/>
            <a:ext cx="6217920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3"/>
              </a:lnSpc>
            </a:pPr>
            <a:r>
              <a:rPr lang="en-US" sz="1719">
                <a:solidFill>
                  <a:srgbClr val="3C4650"/>
                </a:solidFill>
                <a:latin typeface="Calibri (MS)"/>
                <a:ea typeface="Calibri (MS)"/>
                <a:cs typeface="Calibri (MS)"/>
                <a:sym typeface="Calibri (MS)"/>
              </a:rPr>
              <a:t>The solution must provide real-time alerts and preventive actions with privacy and scalability.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4536" y="30566"/>
            <a:ext cx="18323195" cy="10322766"/>
            <a:chOff x="0" y="0"/>
            <a:chExt cx="24430926" cy="1376368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30989" cy="13763625"/>
            </a:xfrm>
            <a:custGeom>
              <a:avLst/>
              <a:gdLst/>
              <a:ahLst/>
              <a:cxnLst/>
              <a:rect r="r" b="b" t="t" l="l"/>
              <a:pathLst>
                <a:path h="13763625" w="24430989">
                  <a:moveTo>
                    <a:pt x="0" y="0"/>
                  </a:moveTo>
                  <a:lnTo>
                    <a:pt x="24430989" y="0"/>
                  </a:lnTo>
                  <a:lnTo>
                    <a:pt x="24430989" y="13763625"/>
                  </a:lnTo>
                  <a:lnTo>
                    <a:pt x="0" y="13763625"/>
                  </a:lnTo>
                  <a:close/>
                </a:path>
              </a:pathLst>
            </a:custGeom>
            <a:solidFill>
              <a:srgbClr val="081226"/>
            </a:solidFill>
            <a:ln w="14288" cap="sq">
              <a:solidFill>
                <a:srgbClr val="081226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707" r="0" b="-101709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106400" y="9520238"/>
            <a:ext cx="4267200" cy="561975"/>
            <a:chOff x="0" y="0"/>
            <a:chExt cx="5689600" cy="7493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689600" cy="749300"/>
            </a:xfrm>
            <a:custGeom>
              <a:avLst/>
              <a:gdLst/>
              <a:ahLst/>
              <a:cxnLst/>
              <a:rect r="r" b="b" t="t" l="l"/>
              <a:pathLst>
                <a:path h="74930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49300"/>
                  </a:lnTo>
                  <a:lnTo>
                    <a:pt x="0" y="7493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7850" r="0" b="-97852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201945" y="9586941"/>
            <a:ext cx="4267200" cy="576262"/>
            <a:chOff x="0" y="0"/>
            <a:chExt cx="5689600" cy="7683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689600" cy="768350"/>
            </a:xfrm>
            <a:custGeom>
              <a:avLst/>
              <a:gdLst/>
              <a:ahLst/>
              <a:cxnLst/>
              <a:rect r="r" b="b" t="t" l="l"/>
              <a:pathLst>
                <a:path h="7683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68350"/>
                  </a:lnTo>
                  <a:lnTo>
                    <a:pt x="0" y="7683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4285" r="0" b="-9428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5689600" cy="787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sp>
        <p:nvSpPr>
          <p:cNvPr name="Freeform 13" id="13" descr="Your startup LOGO"/>
          <p:cNvSpPr/>
          <p:nvPr/>
        </p:nvSpPr>
        <p:spPr>
          <a:xfrm flipH="false" flipV="false" rot="0">
            <a:off x="461324" y="345034"/>
            <a:ext cx="1944433" cy="1277683"/>
          </a:xfrm>
          <a:custGeom>
            <a:avLst/>
            <a:gdLst/>
            <a:ahLst/>
            <a:cxnLst/>
            <a:rect r="r" b="b" t="t" l="l"/>
            <a:pathLst>
              <a:path h="1277683" w="1944433">
                <a:moveTo>
                  <a:pt x="0" y="0"/>
                </a:moveTo>
                <a:lnTo>
                  <a:pt x="1944434" y="0"/>
                </a:lnTo>
                <a:lnTo>
                  <a:pt x="1944434" y="1277683"/>
                </a:lnTo>
                <a:lnTo>
                  <a:pt x="0" y="12776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109" r="0" b="-109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475612" y="316459"/>
            <a:ext cx="1915887" cy="1291961"/>
            <a:chOff x="0" y="0"/>
            <a:chExt cx="2554516" cy="172261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54478" cy="1722628"/>
            </a:xfrm>
            <a:custGeom>
              <a:avLst/>
              <a:gdLst/>
              <a:ahLst/>
              <a:cxnLst/>
              <a:rect r="r" b="b" t="t" l="l"/>
              <a:pathLst>
                <a:path h="1722628" w="2554478">
                  <a:moveTo>
                    <a:pt x="0" y="0"/>
                  </a:moveTo>
                  <a:lnTo>
                    <a:pt x="2554478" y="0"/>
                  </a:lnTo>
                  <a:lnTo>
                    <a:pt x="2554478" y="1722628"/>
                  </a:lnTo>
                  <a:lnTo>
                    <a:pt x="0" y="17226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6580" t="0" r="-36582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475612" y="273596"/>
            <a:ext cx="1915887" cy="1334824"/>
            <a:chOff x="0" y="0"/>
            <a:chExt cx="2554516" cy="177976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554516" cy="1779765"/>
            </a:xfrm>
            <a:custGeom>
              <a:avLst/>
              <a:gdLst/>
              <a:ahLst/>
              <a:cxnLst/>
              <a:rect r="r" b="b" t="t" l="l"/>
              <a:pathLst>
                <a:path h="1779765" w="2554516">
                  <a:moveTo>
                    <a:pt x="0" y="0"/>
                  </a:moveTo>
                  <a:lnTo>
                    <a:pt x="2554516" y="0"/>
                  </a:lnTo>
                  <a:lnTo>
                    <a:pt x="2554516" y="1779765"/>
                  </a:lnTo>
                  <a:lnTo>
                    <a:pt x="0" y="177976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39390" t="0" r="-39390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2554516" cy="18369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AURA</a:t>
              </a:r>
            </a:p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fox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4742052" y="49559"/>
            <a:ext cx="3374803" cy="1593532"/>
            <a:chOff x="0" y="0"/>
            <a:chExt cx="4499737" cy="212471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59" r="0" b="-6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-17859" y="-17859"/>
            <a:ext cx="18323195" cy="131778"/>
            <a:chOff x="0" y="0"/>
            <a:chExt cx="24430926" cy="17570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4430989" cy="175641"/>
            </a:xfrm>
            <a:custGeom>
              <a:avLst/>
              <a:gdLst/>
              <a:ahLst/>
              <a:cxnLst/>
              <a:rect r="r" b="b" t="t" l="l"/>
              <a:pathLst>
                <a:path h="175641" w="24430989">
                  <a:moveTo>
                    <a:pt x="0" y="0"/>
                  </a:moveTo>
                  <a:lnTo>
                    <a:pt x="24430989" y="0"/>
                  </a:lnTo>
                  <a:lnTo>
                    <a:pt x="24430989" y="175641"/>
                  </a:lnTo>
                  <a:lnTo>
                    <a:pt x="0" y="175641"/>
                  </a:lnTo>
                  <a:close/>
                </a:path>
              </a:pathLst>
            </a:custGeom>
            <a:solidFill>
              <a:srgbClr val="28D2E6"/>
            </a:solidFill>
            <a:ln w="14288" cap="sq">
              <a:solidFill>
                <a:srgbClr val="28D2E6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8199853" y="985504"/>
            <a:ext cx="16459200" cy="1714500"/>
            <a:chOff x="0" y="0"/>
            <a:chExt cx="21945600" cy="2286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926" r="0" b="-136926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8645157" y="183671"/>
            <a:ext cx="16459200" cy="1714500"/>
            <a:chOff x="0" y="0"/>
            <a:chExt cx="21945600" cy="2286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6926" r="0" b="-136926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8645157" y="183671"/>
            <a:ext cx="16459200" cy="1714500"/>
            <a:chOff x="0" y="0"/>
            <a:chExt cx="21945600" cy="22860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21945600" cy="2286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F4F7F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TECHNICAL APPROACH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94681" y="1656055"/>
            <a:ext cx="5037201" cy="7555801"/>
            <a:chOff x="0" y="0"/>
            <a:chExt cx="6716268" cy="1007440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716268" cy="10074402"/>
            </a:xfrm>
            <a:custGeom>
              <a:avLst/>
              <a:gdLst/>
              <a:ahLst/>
              <a:cxnLst/>
              <a:rect r="r" b="b" t="t" l="l"/>
              <a:pathLst>
                <a:path h="10074402" w="6716268">
                  <a:moveTo>
                    <a:pt x="0" y="0"/>
                  </a:moveTo>
                  <a:lnTo>
                    <a:pt x="6716268" y="0"/>
                  </a:lnTo>
                  <a:lnTo>
                    <a:pt x="6716268" y="10074402"/>
                  </a:lnTo>
                  <a:lnTo>
                    <a:pt x="0" y="100744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23" r="0" b="-23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6172200" y="1656055"/>
            <a:ext cx="11796265" cy="7864211"/>
            <a:chOff x="0" y="0"/>
            <a:chExt cx="15728353" cy="1048561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5728314" cy="10485628"/>
            </a:xfrm>
            <a:custGeom>
              <a:avLst/>
              <a:gdLst/>
              <a:ahLst/>
              <a:cxnLst/>
              <a:rect r="r" b="b" t="t" l="l"/>
              <a:pathLst>
                <a:path h="10485628" w="15728314">
                  <a:moveTo>
                    <a:pt x="0" y="0"/>
                  </a:moveTo>
                  <a:lnTo>
                    <a:pt x="15728314" y="0"/>
                  </a:lnTo>
                  <a:lnTo>
                    <a:pt x="15728314" y="10485628"/>
                  </a:lnTo>
                  <a:lnTo>
                    <a:pt x="0" y="104856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75665" y="19124"/>
            <a:ext cx="18639331" cy="10489979"/>
            <a:chOff x="0" y="0"/>
            <a:chExt cx="16265754" cy="91541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265779" cy="9154160"/>
            </a:xfrm>
            <a:custGeom>
              <a:avLst/>
              <a:gdLst/>
              <a:ahLst/>
              <a:cxnLst/>
              <a:rect r="r" b="b" t="t" l="l"/>
              <a:pathLst>
                <a:path h="9154160" w="16265779">
                  <a:moveTo>
                    <a:pt x="0" y="0"/>
                  </a:moveTo>
                  <a:lnTo>
                    <a:pt x="16265779" y="0"/>
                  </a:lnTo>
                  <a:lnTo>
                    <a:pt x="16265779" y="9154160"/>
                  </a:lnTo>
                  <a:lnTo>
                    <a:pt x="0" y="9154160"/>
                  </a:lnTo>
                  <a:close/>
                </a:path>
              </a:pathLst>
            </a:custGeom>
            <a:solidFill>
              <a:srgbClr val="071325"/>
            </a:solidFill>
            <a:ln w="7620" cap="sq">
              <a:solidFill>
                <a:srgbClr val="071325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3902232" y="900805"/>
            <a:ext cx="951994" cy="23800"/>
            <a:chOff x="0" y="0"/>
            <a:chExt cx="877824" cy="2194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77824" cy="21971"/>
            </a:xfrm>
            <a:custGeom>
              <a:avLst/>
              <a:gdLst/>
              <a:ahLst/>
              <a:cxnLst/>
              <a:rect r="r" b="b" t="t" l="l"/>
              <a:pathLst>
                <a:path h="21971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21971"/>
                  </a:lnTo>
                  <a:lnTo>
                    <a:pt x="0" y="21971"/>
                  </a:lnTo>
                  <a:close/>
                </a:path>
              </a:pathLst>
            </a:custGeom>
            <a:solidFill>
              <a:srgbClr val="2A94BE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787514" y="900805"/>
            <a:ext cx="951994" cy="23800"/>
            <a:chOff x="0" y="0"/>
            <a:chExt cx="877824" cy="2194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77824" cy="21971"/>
            </a:xfrm>
            <a:custGeom>
              <a:avLst/>
              <a:gdLst/>
              <a:ahLst/>
              <a:cxnLst/>
              <a:rect r="r" b="b" t="t" l="l"/>
              <a:pathLst>
                <a:path h="21971" w="877824">
                  <a:moveTo>
                    <a:pt x="0" y="0"/>
                  </a:moveTo>
                  <a:lnTo>
                    <a:pt x="877824" y="0"/>
                  </a:lnTo>
                  <a:lnTo>
                    <a:pt x="877824" y="21971"/>
                  </a:lnTo>
                  <a:lnTo>
                    <a:pt x="0" y="21971"/>
                  </a:lnTo>
                  <a:close/>
                </a:path>
              </a:pathLst>
            </a:custGeom>
            <a:solidFill>
              <a:srgbClr val="2A94BE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4761672" y="847917"/>
            <a:ext cx="92555" cy="92555"/>
            <a:chOff x="0" y="0"/>
            <a:chExt cx="85344" cy="8534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5344" cy="85344"/>
            </a:xfrm>
            <a:custGeom>
              <a:avLst/>
              <a:gdLst/>
              <a:ahLst/>
              <a:cxnLst/>
              <a:rect r="r" b="b" t="t" l="l"/>
              <a:pathLst>
                <a:path h="85344" w="85344">
                  <a:moveTo>
                    <a:pt x="0" y="42672"/>
                  </a:moveTo>
                  <a:cubicBezTo>
                    <a:pt x="0" y="19050"/>
                    <a:pt x="19050" y="0"/>
                    <a:pt x="42672" y="0"/>
                  </a:cubicBezTo>
                  <a:cubicBezTo>
                    <a:pt x="66294" y="0"/>
                    <a:pt x="85344" y="19050"/>
                    <a:pt x="85344" y="42672"/>
                  </a:cubicBezTo>
                  <a:cubicBezTo>
                    <a:pt x="85344" y="66294"/>
                    <a:pt x="66294" y="85344"/>
                    <a:pt x="42672" y="85344"/>
                  </a:cubicBezTo>
                  <a:cubicBezTo>
                    <a:pt x="19050" y="85344"/>
                    <a:pt x="0" y="66294"/>
                    <a:pt x="0" y="42672"/>
                  </a:cubicBezTo>
                  <a:close/>
                </a:path>
              </a:pathLst>
            </a:custGeom>
            <a:solidFill>
              <a:srgbClr val="2A94BE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456960" y="847917"/>
            <a:ext cx="92555" cy="92555"/>
            <a:chOff x="0" y="0"/>
            <a:chExt cx="85344" cy="8534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5344" cy="85344"/>
            </a:xfrm>
            <a:custGeom>
              <a:avLst/>
              <a:gdLst/>
              <a:ahLst/>
              <a:cxnLst/>
              <a:rect r="r" b="b" t="t" l="l"/>
              <a:pathLst>
                <a:path h="85344" w="85344">
                  <a:moveTo>
                    <a:pt x="0" y="42672"/>
                  </a:moveTo>
                  <a:cubicBezTo>
                    <a:pt x="0" y="19050"/>
                    <a:pt x="19050" y="0"/>
                    <a:pt x="42672" y="0"/>
                  </a:cubicBezTo>
                  <a:cubicBezTo>
                    <a:pt x="66294" y="0"/>
                    <a:pt x="85344" y="19050"/>
                    <a:pt x="85344" y="42672"/>
                  </a:cubicBezTo>
                  <a:cubicBezTo>
                    <a:pt x="85344" y="66294"/>
                    <a:pt x="66294" y="85344"/>
                    <a:pt x="42672" y="85344"/>
                  </a:cubicBezTo>
                  <a:cubicBezTo>
                    <a:pt x="19050" y="85344"/>
                    <a:pt x="0" y="66294"/>
                    <a:pt x="0" y="42672"/>
                  </a:cubicBezTo>
                  <a:close/>
                </a:path>
              </a:pathLst>
            </a:custGeom>
            <a:solidFill>
              <a:srgbClr val="2A94BE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4112633" y="145821"/>
            <a:ext cx="8792727" cy="766884"/>
            <a:chOff x="0" y="0"/>
            <a:chExt cx="8107680" cy="70713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07680" cy="707136"/>
            </a:xfrm>
            <a:custGeom>
              <a:avLst/>
              <a:gdLst/>
              <a:ahLst/>
              <a:cxnLst/>
              <a:rect r="r" b="b" t="t" l="l"/>
              <a:pathLst>
                <a:path h="707136" w="8107680">
                  <a:moveTo>
                    <a:pt x="0" y="0"/>
                  </a:moveTo>
                  <a:lnTo>
                    <a:pt x="8107680" y="0"/>
                  </a:lnTo>
                  <a:lnTo>
                    <a:pt x="8107680" y="707136"/>
                  </a:lnTo>
                  <a:lnTo>
                    <a:pt x="0" y="7071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3406" r="0" b="-173406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9525"/>
              <a:ext cx="8107680" cy="6976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F2F4F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FEASIBILITY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217510" y="1021444"/>
            <a:ext cx="2853780" cy="3025668"/>
            <a:chOff x="0" y="0"/>
            <a:chExt cx="2631440" cy="278993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631440" cy="2789936"/>
            </a:xfrm>
            <a:custGeom>
              <a:avLst/>
              <a:gdLst/>
              <a:ahLst/>
              <a:cxnLst/>
              <a:rect r="r" b="b" t="t" l="l"/>
              <a:pathLst>
                <a:path h="2789936" w="2631440">
                  <a:moveTo>
                    <a:pt x="0" y="438531"/>
                  </a:moveTo>
                  <a:cubicBezTo>
                    <a:pt x="0" y="196342"/>
                    <a:pt x="196342" y="0"/>
                    <a:pt x="438531" y="0"/>
                  </a:cubicBezTo>
                  <a:lnTo>
                    <a:pt x="2192909" y="0"/>
                  </a:lnTo>
                  <a:cubicBezTo>
                    <a:pt x="2435098" y="0"/>
                    <a:pt x="2631440" y="196342"/>
                    <a:pt x="2631440" y="438531"/>
                  </a:cubicBezTo>
                  <a:lnTo>
                    <a:pt x="2631440" y="2351405"/>
                  </a:lnTo>
                  <a:cubicBezTo>
                    <a:pt x="2631440" y="2593594"/>
                    <a:pt x="2435098" y="2789936"/>
                    <a:pt x="2192909" y="2789936"/>
                  </a:cubicBezTo>
                  <a:lnTo>
                    <a:pt x="438531" y="2789936"/>
                  </a:lnTo>
                  <a:cubicBezTo>
                    <a:pt x="196342" y="2789936"/>
                    <a:pt x="0" y="2593594"/>
                    <a:pt x="0" y="2351405"/>
                  </a:cubicBezTo>
                  <a:close/>
                </a:path>
              </a:pathLst>
            </a:custGeom>
            <a:solidFill>
              <a:srgbClr val="EB3523"/>
            </a:solidFill>
            <a:ln w="7620" cap="sq">
              <a:solidFill>
                <a:srgbClr val="EB3523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2508398" y="4022871"/>
            <a:ext cx="2272005" cy="698570"/>
            <a:chOff x="0" y="0"/>
            <a:chExt cx="2094992" cy="64414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094992" cy="644144"/>
            </a:xfrm>
            <a:custGeom>
              <a:avLst/>
              <a:gdLst/>
              <a:ahLst/>
              <a:cxnLst/>
              <a:rect r="r" b="b" t="t" l="l"/>
              <a:pathLst>
                <a:path h="644144" w="2094992">
                  <a:moveTo>
                    <a:pt x="0" y="0"/>
                  </a:moveTo>
                  <a:lnTo>
                    <a:pt x="1772920" y="0"/>
                  </a:lnTo>
                  <a:lnTo>
                    <a:pt x="2094992" y="322072"/>
                  </a:lnTo>
                  <a:lnTo>
                    <a:pt x="1772920" y="644144"/>
                  </a:lnTo>
                  <a:lnTo>
                    <a:pt x="0" y="644144"/>
                  </a:lnTo>
                  <a:close/>
                </a:path>
              </a:pathLst>
            </a:custGeom>
            <a:solidFill>
              <a:srgbClr val="FFA298"/>
            </a:solidFill>
            <a:ln w="7620" cap="sq">
              <a:solidFill>
                <a:srgbClr val="FFA298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2674418" y="944657"/>
            <a:ext cx="1673282" cy="960533"/>
            <a:chOff x="0" y="0"/>
            <a:chExt cx="1524000" cy="87483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524000" cy="874839"/>
            </a:xfrm>
            <a:custGeom>
              <a:avLst/>
              <a:gdLst/>
              <a:ahLst/>
              <a:cxnLst/>
              <a:rect r="r" b="b" t="t" l="l"/>
              <a:pathLst>
                <a:path h="874839" w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874839"/>
                  </a:lnTo>
                  <a:lnTo>
                    <a:pt x="0" y="87483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251" r="0" b="42364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04775"/>
              <a:ext cx="1524000" cy="9796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799" b="true">
                  <a:solidFill>
                    <a:srgbClr val="F2F4F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▣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2434574" y="1648394"/>
            <a:ext cx="2419653" cy="727218"/>
            <a:chOff x="0" y="0"/>
            <a:chExt cx="2231136" cy="6705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231135" cy="670560"/>
            </a:xfrm>
            <a:custGeom>
              <a:avLst/>
              <a:gdLst/>
              <a:ahLst/>
              <a:cxnLst/>
              <a:rect r="r" b="b" t="t" l="l"/>
              <a:pathLst>
                <a:path h="670560" w="2231135">
                  <a:moveTo>
                    <a:pt x="0" y="0"/>
                  </a:moveTo>
                  <a:lnTo>
                    <a:pt x="2231135" y="0"/>
                  </a:lnTo>
                  <a:lnTo>
                    <a:pt x="2231135" y="670560"/>
                  </a:lnTo>
                  <a:lnTo>
                    <a:pt x="0" y="670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832" r="0" b="-14832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2231136" cy="670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19"/>
                </a:lnSpc>
              </a:pPr>
              <a:r>
                <a:rPr lang="en-US" sz="1849" b="true">
                  <a:solidFill>
                    <a:srgbClr val="F2F4F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EXISTING</a:t>
              </a:r>
            </a:p>
            <a:p>
              <a:pPr algn="ctr">
                <a:lnSpc>
                  <a:spcPts val="2219"/>
                </a:lnSpc>
              </a:pPr>
              <a:r>
                <a:rPr lang="en-US" sz="1849" b="true">
                  <a:solidFill>
                    <a:srgbClr val="F2F4F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INFRASTRUCTURE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2487463" y="2362390"/>
            <a:ext cx="2313875" cy="1589056"/>
            <a:chOff x="0" y="0"/>
            <a:chExt cx="2133600" cy="146525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33600" cy="1465250"/>
            </a:xfrm>
            <a:custGeom>
              <a:avLst/>
              <a:gdLst/>
              <a:ahLst/>
              <a:cxnLst/>
              <a:rect r="r" b="b" t="t" l="l"/>
              <a:pathLst>
                <a:path h="1465250" w="2133600">
                  <a:moveTo>
                    <a:pt x="0" y="0"/>
                  </a:moveTo>
                  <a:lnTo>
                    <a:pt x="2133600" y="0"/>
                  </a:lnTo>
                  <a:lnTo>
                    <a:pt x="2133600" y="1465250"/>
                  </a:lnTo>
                  <a:lnTo>
                    <a:pt x="0" y="1465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7979" t="0" r="-37979" b="15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9525"/>
              <a:ext cx="2133600" cy="14557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99"/>
                </a:lnSpc>
              </a:pPr>
              <a:r>
                <a:rPr lang="en-US" sz="1499">
                  <a:solidFill>
                    <a:srgbClr val="F2F4F7"/>
                  </a:solidFill>
                  <a:latin typeface="Aptos"/>
                  <a:ea typeface="Aptos"/>
                  <a:cs typeface="Aptos"/>
                  <a:sym typeface="Aptos"/>
                </a:rPr>
                <a:t>Uses existing</a:t>
              </a:r>
            </a:p>
            <a:p>
              <a:pPr algn="ctr">
                <a:lnSpc>
                  <a:spcPts val="1799"/>
                </a:lnSpc>
              </a:pPr>
              <a:r>
                <a:rPr lang="en-US" sz="1499">
                  <a:solidFill>
                    <a:srgbClr val="F2F4F7"/>
                  </a:solidFill>
                  <a:latin typeface="Aptos"/>
                  <a:ea typeface="Aptos"/>
                  <a:cs typeface="Aptos"/>
                  <a:sym typeface="Aptos"/>
                </a:rPr>
                <a:t>microphones, VoIP</a:t>
              </a:r>
            </a:p>
            <a:p>
              <a:pPr algn="ctr">
                <a:lnSpc>
                  <a:spcPts val="1799"/>
                </a:lnSpc>
              </a:pPr>
              <a:r>
                <a:rPr lang="en-US" sz="1499">
                  <a:solidFill>
                    <a:srgbClr val="F2F4F7"/>
                  </a:solidFill>
                  <a:latin typeface="Aptos"/>
                  <a:ea typeface="Aptos"/>
                  <a:cs typeface="Aptos"/>
                  <a:sym typeface="Aptos"/>
                </a:rPr>
                <a:t>and communication</a:t>
              </a:r>
            </a:p>
            <a:p>
              <a:pPr algn="ctr">
                <a:lnSpc>
                  <a:spcPts val="1799"/>
                </a:lnSpc>
              </a:pPr>
              <a:r>
                <a:rPr lang="en-US" sz="1499">
                  <a:solidFill>
                    <a:srgbClr val="F2F4F7"/>
                  </a:solidFill>
                  <a:latin typeface="Aptos"/>
                  <a:ea typeface="Aptos"/>
                  <a:cs typeface="Aptos"/>
                  <a:sym typeface="Aptos"/>
                </a:rPr>
                <a:t>infrastructure;</a:t>
              </a:r>
            </a:p>
            <a:p>
              <a:pPr algn="ctr">
                <a:lnSpc>
                  <a:spcPts val="1799"/>
                </a:lnSpc>
              </a:pPr>
              <a:r>
                <a:rPr lang="en-US" sz="1499">
                  <a:solidFill>
                    <a:srgbClr val="F2F4F7"/>
                  </a:solidFill>
                  <a:latin typeface="Aptos"/>
                  <a:ea typeface="Aptos"/>
                  <a:cs typeface="Aptos"/>
                  <a:sym typeface="Aptos"/>
                </a:rPr>
                <a:t>no specialized</a:t>
              </a:r>
            </a:p>
            <a:p>
              <a:pPr algn="ctr">
                <a:lnSpc>
                  <a:spcPts val="1799"/>
                </a:lnSpc>
              </a:pPr>
              <a:r>
                <a:rPr lang="en-US" sz="1499">
                  <a:solidFill>
                    <a:srgbClr val="F2F4F7"/>
                  </a:solidFill>
                  <a:latin typeface="Aptos"/>
                  <a:ea typeface="Aptos"/>
                  <a:cs typeface="Aptos"/>
                  <a:sym typeface="Aptos"/>
                </a:rPr>
                <a:t>hardware is</a:t>
              </a:r>
            </a:p>
            <a:p>
              <a:pPr algn="ctr">
                <a:lnSpc>
                  <a:spcPts val="1799"/>
                </a:lnSpc>
              </a:pPr>
              <a:r>
                <a:rPr lang="en-US" sz="1499">
                  <a:solidFill>
                    <a:srgbClr val="F2F4F7"/>
                  </a:solidFill>
                  <a:latin typeface="Aptos"/>
                  <a:ea typeface="Aptos"/>
                  <a:cs typeface="Aptos"/>
                  <a:sym typeface="Aptos"/>
                </a:rPr>
                <a:t>mandatory.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2513907" y="4134157"/>
            <a:ext cx="2260987" cy="356998"/>
            <a:chOff x="0" y="0"/>
            <a:chExt cx="2084832" cy="32918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084832" cy="329184"/>
            </a:xfrm>
            <a:custGeom>
              <a:avLst/>
              <a:gdLst/>
              <a:ahLst/>
              <a:cxnLst/>
              <a:rect r="r" b="b" t="t" l="l"/>
              <a:pathLst>
                <a:path h="329184" w="2084832">
                  <a:moveTo>
                    <a:pt x="0" y="0"/>
                  </a:moveTo>
                  <a:lnTo>
                    <a:pt x="2084832" y="0"/>
                  </a:lnTo>
                  <a:lnTo>
                    <a:pt x="2084832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3405" r="0" b="-73405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2084832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79"/>
                </a:lnSpc>
              </a:pPr>
              <a:r>
                <a:rPr lang="en-US" sz="1149" b="true">
                  <a:solidFill>
                    <a:srgbClr val="19222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01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5523047" y="1021444"/>
            <a:ext cx="2853780" cy="3025668"/>
            <a:chOff x="0" y="0"/>
            <a:chExt cx="2631440" cy="278993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631440" cy="2789936"/>
            </a:xfrm>
            <a:custGeom>
              <a:avLst/>
              <a:gdLst/>
              <a:ahLst/>
              <a:cxnLst/>
              <a:rect r="r" b="b" t="t" l="l"/>
              <a:pathLst>
                <a:path h="2789936" w="2631440">
                  <a:moveTo>
                    <a:pt x="0" y="438531"/>
                  </a:moveTo>
                  <a:cubicBezTo>
                    <a:pt x="0" y="196342"/>
                    <a:pt x="196342" y="0"/>
                    <a:pt x="438531" y="0"/>
                  </a:cubicBezTo>
                  <a:lnTo>
                    <a:pt x="2192909" y="0"/>
                  </a:lnTo>
                  <a:cubicBezTo>
                    <a:pt x="2435098" y="0"/>
                    <a:pt x="2631440" y="196342"/>
                    <a:pt x="2631440" y="438531"/>
                  </a:cubicBezTo>
                  <a:lnTo>
                    <a:pt x="2631440" y="2351405"/>
                  </a:lnTo>
                  <a:cubicBezTo>
                    <a:pt x="2631440" y="2593594"/>
                    <a:pt x="2435098" y="2789936"/>
                    <a:pt x="2192909" y="2789936"/>
                  </a:cubicBezTo>
                  <a:lnTo>
                    <a:pt x="438531" y="2789936"/>
                  </a:lnTo>
                  <a:cubicBezTo>
                    <a:pt x="196342" y="2789936"/>
                    <a:pt x="0" y="2593594"/>
                    <a:pt x="0" y="2351405"/>
                  </a:cubicBezTo>
                  <a:close/>
                </a:path>
              </a:pathLst>
            </a:custGeom>
            <a:solidFill>
              <a:srgbClr val="F28D12"/>
            </a:solidFill>
            <a:ln w="7620" cap="sq">
              <a:solidFill>
                <a:srgbClr val="F28D12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5813934" y="4022871"/>
            <a:ext cx="2272005" cy="698570"/>
            <a:chOff x="0" y="0"/>
            <a:chExt cx="2094992" cy="64414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094992" cy="644144"/>
            </a:xfrm>
            <a:custGeom>
              <a:avLst/>
              <a:gdLst/>
              <a:ahLst/>
              <a:cxnLst/>
              <a:rect r="r" b="b" t="t" l="l"/>
              <a:pathLst>
                <a:path h="644144" w="2094992">
                  <a:moveTo>
                    <a:pt x="0" y="0"/>
                  </a:moveTo>
                  <a:lnTo>
                    <a:pt x="1772920" y="0"/>
                  </a:lnTo>
                  <a:lnTo>
                    <a:pt x="2094992" y="322072"/>
                  </a:lnTo>
                  <a:lnTo>
                    <a:pt x="1772920" y="644144"/>
                  </a:lnTo>
                  <a:lnTo>
                    <a:pt x="0" y="644144"/>
                  </a:lnTo>
                  <a:close/>
                </a:path>
              </a:pathLst>
            </a:custGeom>
            <a:solidFill>
              <a:srgbClr val="FFD28F"/>
            </a:solidFill>
            <a:ln w="7620" cap="sq">
              <a:solidFill>
                <a:srgbClr val="FFD28F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6004764" y="708813"/>
            <a:ext cx="1673282" cy="1303190"/>
            <a:chOff x="0" y="0"/>
            <a:chExt cx="1524000" cy="118692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524000" cy="1186926"/>
            </a:xfrm>
            <a:custGeom>
              <a:avLst/>
              <a:gdLst/>
              <a:ahLst/>
              <a:cxnLst/>
              <a:rect r="r" b="b" t="t" l="l"/>
              <a:pathLst>
                <a:path h="1186926" w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1186926"/>
                  </a:lnTo>
                  <a:lnTo>
                    <a:pt x="0" y="11869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556" r="0" b="57519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1524000" cy="11869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279"/>
                </a:lnSpc>
              </a:pPr>
              <a:r>
                <a:rPr lang="en-US" sz="6899" b="true">
                  <a:solidFill>
                    <a:srgbClr val="F2F4F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⌁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5740110" y="1648394"/>
            <a:ext cx="2419653" cy="727218"/>
            <a:chOff x="0" y="0"/>
            <a:chExt cx="2231136" cy="67056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231135" cy="670560"/>
            </a:xfrm>
            <a:custGeom>
              <a:avLst/>
              <a:gdLst/>
              <a:ahLst/>
              <a:cxnLst/>
              <a:rect r="r" b="b" t="t" l="l"/>
              <a:pathLst>
                <a:path h="670560" w="2231135">
                  <a:moveTo>
                    <a:pt x="0" y="0"/>
                  </a:moveTo>
                  <a:lnTo>
                    <a:pt x="2231135" y="0"/>
                  </a:lnTo>
                  <a:lnTo>
                    <a:pt x="2231135" y="670560"/>
                  </a:lnTo>
                  <a:lnTo>
                    <a:pt x="0" y="670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832" r="0" b="-14832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2231136" cy="670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19"/>
                </a:lnSpc>
              </a:pPr>
              <a:r>
                <a:rPr lang="en-US" sz="1849" b="true">
                  <a:solidFill>
                    <a:srgbClr val="F2F4F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REAL-TIME</a:t>
              </a:r>
            </a:p>
            <a:p>
              <a:pPr algn="ctr">
                <a:lnSpc>
                  <a:spcPts val="2219"/>
                </a:lnSpc>
              </a:pPr>
              <a:r>
                <a:rPr lang="en-US" sz="1849" b="true">
                  <a:solidFill>
                    <a:srgbClr val="F2F4F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PROCESSING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5792999" y="2362390"/>
            <a:ext cx="2313875" cy="1586657"/>
            <a:chOff x="0" y="0"/>
            <a:chExt cx="2133600" cy="14630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133600" cy="1463039"/>
            </a:xfrm>
            <a:custGeom>
              <a:avLst/>
              <a:gdLst/>
              <a:ahLst/>
              <a:cxnLst/>
              <a:rect r="r" b="b" t="t" l="l"/>
              <a:pathLst>
                <a:path h="1463039" w="2133600">
                  <a:moveTo>
                    <a:pt x="0" y="0"/>
                  </a:moveTo>
                  <a:lnTo>
                    <a:pt x="2133600" y="0"/>
                  </a:lnTo>
                  <a:lnTo>
                    <a:pt x="2133600" y="1463039"/>
                  </a:lnTo>
                  <a:lnTo>
                    <a:pt x="0" y="146303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7979" t="0" r="-37979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9525"/>
              <a:ext cx="2133600" cy="14535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99"/>
                </a:lnSpc>
              </a:pPr>
              <a:r>
                <a:rPr lang="en-US" sz="1499">
                  <a:solidFill>
                    <a:srgbClr val="F2F4F7"/>
                  </a:solidFill>
                  <a:latin typeface="Aptos"/>
                  <a:ea typeface="Aptos"/>
                  <a:cs typeface="Aptos"/>
                  <a:sym typeface="Aptos"/>
                </a:rPr>
                <a:t>Audio can be</a:t>
              </a:r>
            </a:p>
            <a:p>
              <a:pPr algn="ctr">
                <a:lnSpc>
                  <a:spcPts val="1799"/>
                </a:lnSpc>
              </a:pPr>
              <a:r>
                <a:rPr lang="en-US" sz="1499">
                  <a:solidFill>
                    <a:srgbClr val="F2F4F7"/>
                  </a:solidFill>
                  <a:latin typeface="Aptos"/>
                  <a:ea typeface="Aptos"/>
                  <a:cs typeface="Aptos"/>
                  <a:sym typeface="Aptos"/>
                </a:rPr>
                <a:t>processed in short</a:t>
              </a:r>
            </a:p>
            <a:p>
              <a:pPr algn="ctr">
                <a:lnSpc>
                  <a:spcPts val="1799"/>
                </a:lnSpc>
              </a:pPr>
              <a:r>
                <a:rPr lang="en-US" sz="1499">
                  <a:solidFill>
                    <a:srgbClr val="F2F4F7"/>
                  </a:solidFill>
                  <a:latin typeface="Aptos"/>
                  <a:ea typeface="Aptos"/>
                  <a:cs typeface="Aptos"/>
                  <a:sym typeface="Aptos"/>
                </a:rPr>
                <a:t>streaming chunks,</a:t>
              </a:r>
            </a:p>
            <a:p>
              <a:pPr algn="ctr">
                <a:lnSpc>
                  <a:spcPts val="1799"/>
                </a:lnSpc>
              </a:pPr>
              <a:r>
                <a:rPr lang="en-US" sz="1499">
                  <a:solidFill>
                    <a:srgbClr val="F2F4F7"/>
                  </a:solidFill>
                  <a:latin typeface="Aptos"/>
                  <a:ea typeface="Aptos"/>
                  <a:cs typeface="Aptos"/>
                  <a:sym typeface="Aptos"/>
                </a:rPr>
                <a:t>enabling near-</a:t>
              </a:r>
            </a:p>
            <a:p>
              <a:pPr algn="ctr">
                <a:lnSpc>
                  <a:spcPts val="1799"/>
                </a:lnSpc>
              </a:pPr>
              <a:r>
                <a:rPr lang="en-US" sz="1499">
                  <a:solidFill>
                    <a:srgbClr val="F2F4F7"/>
                  </a:solidFill>
                  <a:latin typeface="Aptos"/>
                  <a:ea typeface="Aptos"/>
                  <a:cs typeface="Aptos"/>
                  <a:sym typeface="Aptos"/>
                </a:rPr>
                <a:t>real-time</a:t>
              </a:r>
            </a:p>
            <a:p>
              <a:pPr algn="ctr">
                <a:lnSpc>
                  <a:spcPts val="1799"/>
                </a:lnSpc>
              </a:pPr>
              <a:r>
                <a:rPr lang="en-US" sz="1499">
                  <a:solidFill>
                    <a:srgbClr val="F2F4F7"/>
                  </a:solidFill>
                  <a:latin typeface="Aptos"/>
                  <a:ea typeface="Aptos"/>
                  <a:cs typeface="Aptos"/>
                  <a:sym typeface="Aptos"/>
                </a:rPr>
                <a:t>detection.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5819443" y="4134157"/>
            <a:ext cx="2260987" cy="356998"/>
            <a:chOff x="0" y="0"/>
            <a:chExt cx="2084832" cy="32918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084832" cy="329184"/>
            </a:xfrm>
            <a:custGeom>
              <a:avLst/>
              <a:gdLst/>
              <a:ahLst/>
              <a:cxnLst/>
              <a:rect r="r" b="b" t="t" l="l"/>
              <a:pathLst>
                <a:path h="329184" w="2084832">
                  <a:moveTo>
                    <a:pt x="0" y="0"/>
                  </a:moveTo>
                  <a:lnTo>
                    <a:pt x="2084832" y="0"/>
                  </a:lnTo>
                  <a:lnTo>
                    <a:pt x="2084832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3405" r="0" b="-73405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2084832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79"/>
                </a:lnSpc>
              </a:pPr>
              <a:r>
                <a:rPr lang="en-US" sz="1149" b="true">
                  <a:solidFill>
                    <a:srgbClr val="19222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02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8828583" y="1021444"/>
            <a:ext cx="2853780" cy="3025668"/>
            <a:chOff x="0" y="0"/>
            <a:chExt cx="2631440" cy="278993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631440" cy="2789936"/>
            </a:xfrm>
            <a:custGeom>
              <a:avLst/>
              <a:gdLst/>
              <a:ahLst/>
              <a:cxnLst/>
              <a:rect r="r" b="b" t="t" l="l"/>
              <a:pathLst>
                <a:path h="2789936" w="2631440">
                  <a:moveTo>
                    <a:pt x="0" y="438531"/>
                  </a:moveTo>
                  <a:cubicBezTo>
                    <a:pt x="0" y="196342"/>
                    <a:pt x="196342" y="0"/>
                    <a:pt x="438531" y="0"/>
                  </a:cubicBezTo>
                  <a:lnTo>
                    <a:pt x="2192909" y="0"/>
                  </a:lnTo>
                  <a:cubicBezTo>
                    <a:pt x="2435098" y="0"/>
                    <a:pt x="2631440" y="196342"/>
                    <a:pt x="2631440" y="438531"/>
                  </a:cubicBezTo>
                  <a:lnTo>
                    <a:pt x="2631440" y="2351405"/>
                  </a:lnTo>
                  <a:cubicBezTo>
                    <a:pt x="2631440" y="2593594"/>
                    <a:pt x="2435098" y="2789936"/>
                    <a:pt x="2192909" y="2789936"/>
                  </a:cubicBezTo>
                  <a:lnTo>
                    <a:pt x="438531" y="2789936"/>
                  </a:lnTo>
                  <a:cubicBezTo>
                    <a:pt x="196342" y="2789936"/>
                    <a:pt x="0" y="2593594"/>
                    <a:pt x="0" y="2351405"/>
                  </a:cubicBezTo>
                  <a:close/>
                </a:path>
              </a:pathLst>
            </a:custGeom>
            <a:solidFill>
              <a:srgbClr val="5D9B20"/>
            </a:solidFill>
            <a:ln w="7620" cap="sq">
              <a:solidFill>
                <a:srgbClr val="5D9B20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9119471" y="4022871"/>
            <a:ext cx="2272005" cy="698570"/>
            <a:chOff x="0" y="0"/>
            <a:chExt cx="2094992" cy="64414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094992" cy="644144"/>
            </a:xfrm>
            <a:custGeom>
              <a:avLst/>
              <a:gdLst/>
              <a:ahLst/>
              <a:cxnLst/>
              <a:rect r="r" b="b" t="t" l="l"/>
              <a:pathLst>
                <a:path h="644144" w="2094992">
                  <a:moveTo>
                    <a:pt x="0" y="0"/>
                  </a:moveTo>
                  <a:lnTo>
                    <a:pt x="1772920" y="0"/>
                  </a:lnTo>
                  <a:lnTo>
                    <a:pt x="2094992" y="322072"/>
                  </a:lnTo>
                  <a:lnTo>
                    <a:pt x="1772920" y="644144"/>
                  </a:lnTo>
                  <a:lnTo>
                    <a:pt x="0" y="644144"/>
                  </a:lnTo>
                  <a:close/>
                </a:path>
              </a:pathLst>
            </a:custGeom>
            <a:solidFill>
              <a:srgbClr val="C2E285"/>
            </a:solidFill>
            <a:ln w="7620" cap="sq">
              <a:solidFill>
                <a:srgbClr val="C2E285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9367547" y="944657"/>
            <a:ext cx="1673282" cy="960533"/>
            <a:chOff x="0" y="0"/>
            <a:chExt cx="1524000" cy="874839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524000" cy="874839"/>
            </a:xfrm>
            <a:custGeom>
              <a:avLst/>
              <a:gdLst/>
              <a:ahLst/>
              <a:cxnLst/>
              <a:rect r="r" b="b" t="t" l="l"/>
              <a:pathLst>
                <a:path h="874839" w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874839"/>
                  </a:lnTo>
                  <a:lnTo>
                    <a:pt x="0" y="87483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251" r="0" b="42364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104775"/>
              <a:ext cx="1524000" cy="9796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799" b="true">
                  <a:solidFill>
                    <a:srgbClr val="F2F4F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◇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9045647" y="1648394"/>
            <a:ext cx="2419653" cy="727218"/>
            <a:chOff x="0" y="0"/>
            <a:chExt cx="2231136" cy="67056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231135" cy="670560"/>
            </a:xfrm>
            <a:custGeom>
              <a:avLst/>
              <a:gdLst/>
              <a:ahLst/>
              <a:cxnLst/>
              <a:rect r="r" b="b" t="t" l="l"/>
              <a:pathLst>
                <a:path h="670560" w="2231135">
                  <a:moveTo>
                    <a:pt x="0" y="0"/>
                  </a:moveTo>
                  <a:lnTo>
                    <a:pt x="2231135" y="0"/>
                  </a:lnTo>
                  <a:lnTo>
                    <a:pt x="2231135" y="670560"/>
                  </a:lnTo>
                  <a:lnTo>
                    <a:pt x="0" y="670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832" r="0" b="-14832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0"/>
              <a:ext cx="2231136" cy="670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19"/>
                </a:lnSpc>
              </a:pPr>
              <a:r>
                <a:rPr lang="en-US" sz="1849" b="true">
                  <a:solidFill>
                    <a:srgbClr val="F2F4F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MODULAR</a:t>
              </a:r>
            </a:p>
            <a:p>
              <a:pPr algn="ctr">
                <a:lnSpc>
                  <a:spcPts val="2219"/>
                </a:lnSpc>
              </a:pPr>
              <a:r>
                <a:rPr lang="en-US" sz="1849" b="true">
                  <a:solidFill>
                    <a:srgbClr val="F2F4F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ARCHITECTURE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9098535" y="2362390"/>
            <a:ext cx="2313875" cy="1586657"/>
            <a:chOff x="0" y="0"/>
            <a:chExt cx="2133600" cy="146304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133600" cy="1463039"/>
            </a:xfrm>
            <a:custGeom>
              <a:avLst/>
              <a:gdLst/>
              <a:ahLst/>
              <a:cxnLst/>
              <a:rect r="r" b="b" t="t" l="l"/>
              <a:pathLst>
                <a:path h="1463039" w="2133600">
                  <a:moveTo>
                    <a:pt x="0" y="0"/>
                  </a:moveTo>
                  <a:lnTo>
                    <a:pt x="2133600" y="0"/>
                  </a:lnTo>
                  <a:lnTo>
                    <a:pt x="2133600" y="1463039"/>
                  </a:lnTo>
                  <a:lnTo>
                    <a:pt x="0" y="146303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7979" t="0" r="-37979" b="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9525"/>
              <a:ext cx="2133600" cy="14535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99"/>
                </a:lnSpc>
              </a:pPr>
              <a:r>
                <a:rPr lang="en-US" sz="1499">
                  <a:solidFill>
                    <a:srgbClr val="F2F4F7"/>
                  </a:solidFill>
                  <a:latin typeface="Aptos"/>
                  <a:ea typeface="Aptos"/>
                  <a:cs typeface="Aptos"/>
                  <a:sym typeface="Aptos"/>
                </a:rPr>
                <a:t>Modular architecture</a:t>
              </a:r>
            </a:p>
            <a:p>
              <a:pPr algn="ctr">
                <a:lnSpc>
                  <a:spcPts val="1799"/>
                </a:lnSpc>
              </a:pPr>
              <a:r>
                <a:rPr lang="en-US" sz="1499">
                  <a:solidFill>
                    <a:srgbClr val="F2F4F7"/>
                  </a:solidFill>
                  <a:latin typeface="Aptos"/>
                  <a:ea typeface="Aptos"/>
                  <a:cs typeface="Aptos"/>
                  <a:sym typeface="Aptos"/>
                </a:rPr>
                <a:t>allows individual AI</a:t>
              </a:r>
            </a:p>
            <a:p>
              <a:pPr algn="ctr">
                <a:lnSpc>
                  <a:spcPts val="1799"/>
                </a:lnSpc>
              </a:pPr>
              <a:r>
                <a:rPr lang="en-US" sz="1499">
                  <a:solidFill>
                    <a:srgbClr val="F2F4F7"/>
                  </a:solidFill>
                  <a:latin typeface="Aptos"/>
                  <a:ea typeface="Aptos"/>
                  <a:cs typeface="Aptos"/>
                  <a:sym typeface="Aptos"/>
                </a:rPr>
                <a:t>components to be</a:t>
              </a:r>
            </a:p>
            <a:p>
              <a:pPr algn="ctr">
                <a:lnSpc>
                  <a:spcPts val="1799"/>
                </a:lnSpc>
              </a:pPr>
              <a:r>
                <a:rPr lang="en-US" sz="1499">
                  <a:solidFill>
                    <a:srgbClr val="F2F4F7"/>
                  </a:solidFill>
                  <a:latin typeface="Aptos"/>
                  <a:ea typeface="Aptos"/>
                  <a:cs typeface="Aptos"/>
                  <a:sym typeface="Aptos"/>
                </a:rPr>
                <a:t>upgraded without</a:t>
              </a:r>
            </a:p>
            <a:p>
              <a:pPr algn="ctr">
                <a:lnSpc>
                  <a:spcPts val="1799"/>
                </a:lnSpc>
              </a:pPr>
              <a:r>
                <a:rPr lang="en-US" sz="1499">
                  <a:solidFill>
                    <a:srgbClr val="F2F4F7"/>
                  </a:solidFill>
                  <a:latin typeface="Aptos"/>
                  <a:ea typeface="Aptos"/>
                  <a:cs typeface="Aptos"/>
                  <a:sym typeface="Aptos"/>
                </a:rPr>
                <a:t>redesigning the</a:t>
              </a:r>
            </a:p>
            <a:p>
              <a:pPr algn="ctr">
                <a:lnSpc>
                  <a:spcPts val="1799"/>
                </a:lnSpc>
              </a:pPr>
              <a:r>
                <a:rPr lang="en-US" sz="1499">
                  <a:solidFill>
                    <a:srgbClr val="F2F4F7"/>
                  </a:solidFill>
                  <a:latin typeface="Aptos"/>
                  <a:ea typeface="Aptos"/>
                  <a:cs typeface="Aptos"/>
                  <a:sym typeface="Aptos"/>
                </a:rPr>
                <a:t>entire system.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9124980" y="4134157"/>
            <a:ext cx="2260987" cy="356998"/>
            <a:chOff x="0" y="0"/>
            <a:chExt cx="2084832" cy="329184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084832" cy="329184"/>
            </a:xfrm>
            <a:custGeom>
              <a:avLst/>
              <a:gdLst/>
              <a:ahLst/>
              <a:cxnLst/>
              <a:rect r="r" b="b" t="t" l="l"/>
              <a:pathLst>
                <a:path h="329184" w="2084832">
                  <a:moveTo>
                    <a:pt x="0" y="0"/>
                  </a:moveTo>
                  <a:lnTo>
                    <a:pt x="2084832" y="0"/>
                  </a:lnTo>
                  <a:lnTo>
                    <a:pt x="2084832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3405" r="0" b="-73405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0"/>
              <a:ext cx="2084832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79"/>
                </a:lnSpc>
              </a:pPr>
              <a:r>
                <a:rPr lang="en-US" sz="1149" b="true">
                  <a:solidFill>
                    <a:srgbClr val="19222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03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2134120" y="1021444"/>
            <a:ext cx="2853780" cy="3025668"/>
            <a:chOff x="0" y="0"/>
            <a:chExt cx="2631440" cy="2789936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631440" cy="2789936"/>
            </a:xfrm>
            <a:custGeom>
              <a:avLst/>
              <a:gdLst/>
              <a:ahLst/>
              <a:cxnLst/>
              <a:rect r="r" b="b" t="t" l="l"/>
              <a:pathLst>
                <a:path h="2789936" w="2631440">
                  <a:moveTo>
                    <a:pt x="0" y="438531"/>
                  </a:moveTo>
                  <a:cubicBezTo>
                    <a:pt x="0" y="196342"/>
                    <a:pt x="196342" y="0"/>
                    <a:pt x="438531" y="0"/>
                  </a:cubicBezTo>
                  <a:lnTo>
                    <a:pt x="2192909" y="0"/>
                  </a:lnTo>
                  <a:cubicBezTo>
                    <a:pt x="2435098" y="0"/>
                    <a:pt x="2631440" y="196342"/>
                    <a:pt x="2631440" y="438531"/>
                  </a:cubicBezTo>
                  <a:lnTo>
                    <a:pt x="2631440" y="2351405"/>
                  </a:lnTo>
                  <a:cubicBezTo>
                    <a:pt x="2631440" y="2593594"/>
                    <a:pt x="2435098" y="2789936"/>
                    <a:pt x="2192909" y="2789936"/>
                  </a:cubicBezTo>
                  <a:lnTo>
                    <a:pt x="438531" y="2789936"/>
                  </a:lnTo>
                  <a:cubicBezTo>
                    <a:pt x="196342" y="2789936"/>
                    <a:pt x="0" y="2593594"/>
                    <a:pt x="0" y="2351405"/>
                  </a:cubicBezTo>
                  <a:close/>
                </a:path>
              </a:pathLst>
            </a:custGeom>
            <a:solidFill>
              <a:srgbClr val="298E97"/>
            </a:solidFill>
            <a:ln w="7620" cap="sq">
              <a:solidFill>
                <a:srgbClr val="298E97"/>
              </a:solidFill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12425007" y="4022871"/>
            <a:ext cx="2272005" cy="698570"/>
            <a:chOff x="0" y="0"/>
            <a:chExt cx="2094992" cy="644144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094992" cy="644144"/>
            </a:xfrm>
            <a:custGeom>
              <a:avLst/>
              <a:gdLst/>
              <a:ahLst/>
              <a:cxnLst/>
              <a:rect r="r" b="b" t="t" l="l"/>
              <a:pathLst>
                <a:path h="644144" w="2094992">
                  <a:moveTo>
                    <a:pt x="0" y="0"/>
                  </a:moveTo>
                  <a:lnTo>
                    <a:pt x="1772920" y="0"/>
                  </a:lnTo>
                  <a:lnTo>
                    <a:pt x="2094992" y="322072"/>
                  </a:lnTo>
                  <a:lnTo>
                    <a:pt x="1772920" y="644144"/>
                  </a:lnTo>
                  <a:lnTo>
                    <a:pt x="0" y="644144"/>
                  </a:lnTo>
                  <a:close/>
                </a:path>
              </a:pathLst>
            </a:custGeom>
            <a:solidFill>
              <a:srgbClr val="9CD3D8"/>
            </a:solidFill>
            <a:ln w="7620" cap="sq">
              <a:solidFill>
                <a:srgbClr val="9CD3D8"/>
              </a:solidFill>
              <a:prstDash val="solid"/>
              <a:miter/>
            </a:ln>
          </p:spPr>
        </p:sp>
      </p:grpSp>
      <p:grpSp>
        <p:nvGrpSpPr>
          <p:cNvPr name="Group 67" id="67"/>
          <p:cNvGrpSpPr/>
          <p:nvPr/>
        </p:nvGrpSpPr>
        <p:grpSpPr>
          <a:xfrm rot="0">
            <a:off x="12714111" y="944657"/>
            <a:ext cx="1673282" cy="960533"/>
            <a:chOff x="0" y="0"/>
            <a:chExt cx="1524000" cy="874839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524000" cy="874839"/>
            </a:xfrm>
            <a:custGeom>
              <a:avLst/>
              <a:gdLst/>
              <a:ahLst/>
              <a:cxnLst/>
              <a:rect r="r" b="b" t="t" l="l"/>
              <a:pathLst>
                <a:path h="874839" w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874839"/>
                  </a:lnTo>
                  <a:lnTo>
                    <a:pt x="0" y="87483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251" r="0" b="42364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104775"/>
              <a:ext cx="1524000" cy="9796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799" b="true">
                  <a:solidFill>
                    <a:srgbClr val="F2F4F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◒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2351183" y="1648394"/>
            <a:ext cx="2419653" cy="727218"/>
            <a:chOff x="0" y="0"/>
            <a:chExt cx="2231136" cy="67056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231135" cy="670560"/>
            </a:xfrm>
            <a:custGeom>
              <a:avLst/>
              <a:gdLst/>
              <a:ahLst/>
              <a:cxnLst/>
              <a:rect r="r" b="b" t="t" l="l"/>
              <a:pathLst>
                <a:path h="670560" w="2231135">
                  <a:moveTo>
                    <a:pt x="0" y="0"/>
                  </a:moveTo>
                  <a:lnTo>
                    <a:pt x="2231135" y="0"/>
                  </a:lnTo>
                  <a:lnTo>
                    <a:pt x="2231135" y="670560"/>
                  </a:lnTo>
                  <a:lnTo>
                    <a:pt x="0" y="670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832" r="0" b="-14832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0"/>
              <a:ext cx="2231136" cy="670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19"/>
                </a:lnSpc>
              </a:pPr>
              <a:r>
                <a:rPr lang="en-US" sz="1849" b="true">
                  <a:solidFill>
                    <a:srgbClr val="F2F4F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OPEN DATASETS &amp;</a:t>
              </a:r>
            </a:p>
            <a:p>
              <a:pPr algn="ctr">
                <a:lnSpc>
                  <a:spcPts val="2219"/>
                </a:lnSpc>
              </a:pPr>
              <a:r>
                <a:rPr lang="en-US" sz="1849" b="true">
                  <a:solidFill>
                    <a:srgbClr val="F2F4F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BENCHMARKS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2404072" y="2362390"/>
            <a:ext cx="2313875" cy="1589056"/>
            <a:chOff x="0" y="0"/>
            <a:chExt cx="2133600" cy="1465252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2133600" cy="1465250"/>
            </a:xfrm>
            <a:custGeom>
              <a:avLst/>
              <a:gdLst/>
              <a:ahLst/>
              <a:cxnLst/>
              <a:rect r="r" b="b" t="t" l="l"/>
              <a:pathLst>
                <a:path h="1465250" w="2133600">
                  <a:moveTo>
                    <a:pt x="0" y="0"/>
                  </a:moveTo>
                  <a:lnTo>
                    <a:pt x="2133600" y="0"/>
                  </a:lnTo>
                  <a:lnTo>
                    <a:pt x="2133600" y="1465250"/>
                  </a:lnTo>
                  <a:lnTo>
                    <a:pt x="0" y="1465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7979" t="0" r="-37979" b="150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9525"/>
              <a:ext cx="2133600" cy="14557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99"/>
                </a:lnSpc>
              </a:pPr>
              <a:r>
                <a:rPr lang="en-US" sz="1499">
                  <a:solidFill>
                    <a:srgbClr val="F2F4F7"/>
                  </a:solidFill>
                  <a:latin typeface="Aptos"/>
                  <a:ea typeface="Aptos"/>
                  <a:cs typeface="Aptos"/>
                  <a:sym typeface="Aptos"/>
                </a:rPr>
                <a:t>Open research</a:t>
              </a:r>
            </a:p>
            <a:p>
              <a:pPr algn="ctr">
                <a:lnSpc>
                  <a:spcPts val="1799"/>
                </a:lnSpc>
              </a:pPr>
              <a:r>
                <a:rPr lang="en-US" sz="1499">
                  <a:solidFill>
                    <a:srgbClr val="F2F4F7"/>
                  </a:solidFill>
                  <a:latin typeface="Aptos"/>
                  <a:ea typeface="Aptos"/>
                  <a:cs typeface="Aptos"/>
                  <a:sym typeface="Aptos"/>
                </a:rPr>
                <a:t>datasets and</a:t>
              </a:r>
            </a:p>
            <a:p>
              <a:pPr algn="ctr">
                <a:lnSpc>
                  <a:spcPts val="1799"/>
                </a:lnSpc>
              </a:pPr>
              <a:r>
                <a:rPr lang="en-US" sz="1499">
                  <a:solidFill>
                    <a:srgbClr val="F2F4F7"/>
                  </a:solidFill>
                  <a:latin typeface="Aptos"/>
                  <a:ea typeface="Aptos"/>
                  <a:cs typeface="Aptos"/>
                  <a:sym typeface="Aptos"/>
                </a:rPr>
                <a:t>established audio</a:t>
              </a:r>
            </a:p>
            <a:p>
              <a:pPr algn="ctr">
                <a:lnSpc>
                  <a:spcPts val="1799"/>
                </a:lnSpc>
              </a:pPr>
              <a:r>
                <a:rPr lang="en-US" sz="1499">
                  <a:solidFill>
                    <a:srgbClr val="F2F4F7"/>
                  </a:solidFill>
                  <a:latin typeface="Aptos"/>
                  <a:ea typeface="Aptos"/>
                  <a:cs typeface="Aptos"/>
                  <a:sym typeface="Aptos"/>
                </a:rPr>
                <a:t>anti-spoofing</a:t>
              </a:r>
            </a:p>
            <a:p>
              <a:pPr algn="ctr">
                <a:lnSpc>
                  <a:spcPts val="1799"/>
                </a:lnSpc>
              </a:pPr>
              <a:r>
                <a:rPr lang="en-US" sz="1499">
                  <a:solidFill>
                    <a:srgbClr val="F2F4F7"/>
                  </a:solidFill>
                  <a:latin typeface="Aptos"/>
                  <a:ea typeface="Aptos"/>
                  <a:cs typeface="Aptos"/>
                  <a:sym typeface="Aptos"/>
                </a:rPr>
                <a:t>benchmarks enable</a:t>
              </a:r>
            </a:p>
            <a:p>
              <a:pPr algn="ctr">
                <a:lnSpc>
                  <a:spcPts val="1799"/>
                </a:lnSpc>
              </a:pPr>
              <a:r>
                <a:rPr lang="en-US" sz="1499">
                  <a:solidFill>
                    <a:srgbClr val="F2F4F7"/>
                  </a:solidFill>
                  <a:latin typeface="Aptos"/>
                  <a:ea typeface="Aptos"/>
                  <a:cs typeface="Aptos"/>
                  <a:sym typeface="Aptos"/>
                </a:rPr>
                <a:t>model training and</a:t>
              </a:r>
            </a:p>
            <a:p>
              <a:pPr algn="ctr">
                <a:lnSpc>
                  <a:spcPts val="1799"/>
                </a:lnSpc>
              </a:pPr>
              <a:r>
                <a:rPr lang="en-US" sz="1499">
                  <a:solidFill>
                    <a:srgbClr val="F2F4F7"/>
                  </a:solidFill>
                  <a:latin typeface="Aptos"/>
                  <a:ea typeface="Aptos"/>
                  <a:cs typeface="Aptos"/>
                  <a:sym typeface="Aptos"/>
                </a:rPr>
                <a:t>evaluation.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2430516" y="4134157"/>
            <a:ext cx="2260987" cy="356998"/>
            <a:chOff x="0" y="0"/>
            <a:chExt cx="2084832" cy="329184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2084832" cy="329184"/>
            </a:xfrm>
            <a:custGeom>
              <a:avLst/>
              <a:gdLst/>
              <a:ahLst/>
              <a:cxnLst/>
              <a:rect r="r" b="b" t="t" l="l"/>
              <a:pathLst>
                <a:path h="329184" w="2084832">
                  <a:moveTo>
                    <a:pt x="0" y="0"/>
                  </a:moveTo>
                  <a:lnTo>
                    <a:pt x="2084832" y="0"/>
                  </a:lnTo>
                  <a:lnTo>
                    <a:pt x="2084832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3405" r="0" b="-73405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0"/>
              <a:ext cx="2084832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79"/>
                </a:lnSpc>
              </a:pPr>
              <a:r>
                <a:rPr lang="en-US" sz="1149" b="true">
                  <a:solidFill>
                    <a:srgbClr val="19222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04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041083" y="4985715"/>
            <a:ext cx="15496355" cy="18511"/>
            <a:chOff x="0" y="0"/>
            <a:chExt cx="14289024" cy="17069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4289024" cy="17018"/>
            </a:xfrm>
            <a:custGeom>
              <a:avLst/>
              <a:gdLst/>
              <a:ahLst/>
              <a:cxnLst/>
              <a:rect r="r" b="b" t="t" l="l"/>
              <a:pathLst>
                <a:path h="17018" w="14289024">
                  <a:moveTo>
                    <a:pt x="0" y="0"/>
                  </a:moveTo>
                  <a:lnTo>
                    <a:pt x="14289024" y="0"/>
                  </a:lnTo>
                  <a:lnTo>
                    <a:pt x="14289024" y="17018"/>
                  </a:lnTo>
                  <a:lnTo>
                    <a:pt x="0" y="17018"/>
                  </a:lnTo>
                  <a:close/>
                </a:path>
              </a:pathLst>
            </a:custGeom>
            <a:solidFill>
              <a:srgbClr val="4C5B6F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994806" y="4911671"/>
            <a:ext cx="92555" cy="92555"/>
            <a:chOff x="0" y="0"/>
            <a:chExt cx="85344" cy="85344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85344" cy="85344"/>
            </a:xfrm>
            <a:custGeom>
              <a:avLst/>
              <a:gdLst/>
              <a:ahLst/>
              <a:cxnLst/>
              <a:rect r="r" b="b" t="t" l="l"/>
              <a:pathLst>
                <a:path h="85344" w="85344">
                  <a:moveTo>
                    <a:pt x="0" y="42672"/>
                  </a:moveTo>
                  <a:cubicBezTo>
                    <a:pt x="0" y="19050"/>
                    <a:pt x="19050" y="0"/>
                    <a:pt x="42672" y="0"/>
                  </a:cubicBezTo>
                  <a:cubicBezTo>
                    <a:pt x="66294" y="0"/>
                    <a:pt x="85344" y="19050"/>
                    <a:pt x="85344" y="42672"/>
                  </a:cubicBezTo>
                  <a:cubicBezTo>
                    <a:pt x="85344" y="66294"/>
                    <a:pt x="66294" y="85344"/>
                    <a:pt x="42672" y="85344"/>
                  </a:cubicBezTo>
                  <a:cubicBezTo>
                    <a:pt x="19050" y="85344"/>
                    <a:pt x="0" y="66294"/>
                    <a:pt x="0" y="42672"/>
                  </a:cubicBezTo>
                  <a:close/>
                </a:path>
              </a:pathLst>
            </a:custGeom>
            <a:solidFill>
              <a:srgbClr val="4C5B6F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16537438" y="4902416"/>
            <a:ext cx="92555" cy="92555"/>
            <a:chOff x="0" y="0"/>
            <a:chExt cx="85344" cy="85344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85344" cy="85344"/>
            </a:xfrm>
            <a:custGeom>
              <a:avLst/>
              <a:gdLst/>
              <a:ahLst/>
              <a:cxnLst/>
              <a:rect r="r" b="b" t="t" l="l"/>
              <a:pathLst>
                <a:path h="85344" w="85344">
                  <a:moveTo>
                    <a:pt x="0" y="42672"/>
                  </a:moveTo>
                  <a:cubicBezTo>
                    <a:pt x="0" y="19050"/>
                    <a:pt x="19050" y="0"/>
                    <a:pt x="42672" y="0"/>
                  </a:cubicBezTo>
                  <a:cubicBezTo>
                    <a:pt x="66294" y="0"/>
                    <a:pt x="85344" y="19050"/>
                    <a:pt x="85344" y="42672"/>
                  </a:cubicBezTo>
                  <a:cubicBezTo>
                    <a:pt x="85344" y="66294"/>
                    <a:pt x="66294" y="85344"/>
                    <a:pt x="42672" y="85344"/>
                  </a:cubicBezTo>
                  <a:cubicBezTo>
                    <a:pt x="19050" y="85344"/>
                    <a:pt x="0" y="66294"/>
                    <a:pt x="0" y="42672"/>
                  </a:cubicBezTo>
                  <a:close/>
                </a:path>
              </a:pathLst>
            </a:custGeom>
            <a:solidFill>
              <a:srgbClr val="4C5B6F"/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4998832" y="5089951"/>
            <a:ext cx="7470512" cy="634663"/>
            <a:chOff x="0" y="0"/>
            <a:chExt cx="6888480" cy="585216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6888480" cy="585216"/>
            </a:xfrm>
            <a:custGeom>
              <a:avLst/>
              <a:gdLst/>
              <a:ahLst/>
              <a:cxnLst/>
              <a:rect r="r" b="b" t="t" l="l"/>
              <a:pathLst>
                <a:path h="585216" w="6888480">
                  <a:moveTo>
                    <a:pt x="0" y="0"/>
                  </a:moveTo>
                  <a:lnTo>
                    <a:pt x="6888480" y="0"/>
                  </a:lnTo>
                  <a:lnTo>
                    <a:pt x="68884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9355" r="0" b="-179355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0"/>
              <a:ext cx="6888480" cy="5852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19"/>
                </a:lnSpc>
              </a:pPr>
              <a:r>
                <a:rPr lang="en-US" sz="2599" b="true">
                  <a:solidFill>
                    <a:srgbClr val="F2F4F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VIABILITY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2229894" y="5776448"/>
            <a:ext cx="3058719" cy="2722814"/>
            <a:chOff x="0" y="0"/>
            <a:chExt cx="2631440" cy="2342459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2631440" cy="2342459"/>
            </a:xfrm>
            <a:custGeom>
              <a:avLst/>
              <a:gdLst/>
              <a:ahLst/>
              <a:cxnLst/>
              <a:rect r="r" b="b" t="t" l="l"/>
              <a:pathLst>
                <a:path h="2342459" w="2631440">
                  <a:moveTo>
                    <a:pt x="0" y="390364"/>
                  </a:moveTo>
                  <a:cubicBezTo>
                    <a:pt x="0" y="174852"/>
                    <a:pt x="160020" y="0"/>
                    <a:pt x="357251" y="0"/>
                  </a:cubicBezTo>
                  <a:lnTo>
                    <a:pt x="2274189" y="0"/>
                  </a:lnTo>
                  <a:cubicBezTo>
                    <a:pt x="2471420" y="0"/>
                    <a:pt x="2631440" y="174852"/>
                    <a:pt x="2631440" y="390364"/>
                  </a:cubicBezTo>
                  <a:lnTo>
                    <a:pt x="2631440" y="1952095"/>
                  </a:lnTo>
                  <a:cubicBezTo>
                    <a:pt x="2631440" y="2167746"/>
                    <a:pt x="2471420" y="2342459"/>
                    <a:pt x="2274189" y="2342459"/>
                  </a:cubicBezTo>
                  <a:lnTo>
                    <a:pt x="357251" y="2342459"/>
                  </a:lnTo>
                  <a:cubicBezTo>
                    <a:pt x="160020" y="2342459"/>
                    <a:pt x="0" y="2167607"/>
                    <a:pt x="0" y="1952095"/>
                  </a:cubicBezTo>
                  <a:close/>
                </a:path>
              </a:pathLst>
            </a:custGeom>
            <a:solidFill>
              <a:srgbClr val="4F3A8B"/>
            </a:solidFill>
            <a:ln w="7620" cap="sq">
              <a:solidFill>
                <a:srgbClr val="4F3A8B"/>
              </a:solidFill>
              <a:prstDash val="solid"/>
              <a:miter/>
            </a:ln>
          </p:spPr>
        </p:sp>
      </p:grpSp>
      <p:grpSp>
        <p:nvGrpSpPr>
          <p:cNvPr name="Group 90" id="90"/>
          <p:cNvGrpSpPr/>
          <p:nvPr/>
        </p:nvGrpSpPr>
        <p:grpSpPr>
          <a:xfrm rot="0">
            <a:off x="2589096" y="8550891"/>
            <a:ext cx="2272005" cy="698570"/>
            <a:chOff x="0" y="0"/>
            <a:chExt cx="2094992" cy="644144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2094992" cy="644144"/>
            </a:xfrm>
            <a:custGeom>
              <a:avLst/>
              <a:gdLst/>
              <a:ahLst/>
              <a:cxnLst/>
              <a:rect r="r" b="b" t="t" l="l"/>
              <a:pathLst>
                <a:path h="644144" w="2094992">
                  <a:moveTo>
                    <a:pt x="0" y="0"/>
                  </a:moveTo>
                  <a:lnTo>
                    <a:pt x="1772920" y="0"/>
                  </a:lnTo>
                  <a:lnTo>
                    <a:pt x="2094992" y="322072"/>
                  </a:lnTo>
                  <a:lnTo>
                    <a:pt x="1772920" y="644144"/>
                  </a:lnTo>
                  <a:lnTo>
                    <a:pt x="0" y="644144"/>
                  </a:lnTo>
                  <a:close/>
                </a:path>
              </a:pathLst>
            </a:custGeom>
            <a:solidFill>
              <a:srgbClr val="B29FDA"/>
            </a:solidFill>
            <a:ln w="7620" cap="sq">
              <a:solidFill>
                <a:srgbClr val="B29FDA"/>
              </a:solidFill>
              <a:prstDash val="solid"/>
              <a:miter/>
            </a:ln>
          </p:spPr>
        </p:sp>
      </p:grpSp>
      <p:grpSp>
        <p:nvGrpSpPr>
          <p:cNvPr name="Group 92" id="92"/>
          <p:cNvGrpSpPr/>
          <p:nvPr/>
        </p:nvGrpSpPr>
        <p:grpSpPr>
          <a:xfrm rot="0">
            <a:off x="2499846" y="5635747"/>
            <a:ext cx="2400954" cy="998968"/>
            <a:chOff x="0" y="0"/>
            <a:chExt cx="1524000" cy="634092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524000" cy="634092"/>
            </a:xfrm>
            <a:custGeom>
              <a:avLst/>
              <a:gdLst/>
              <a:ahLst/>
              <a:cxnLst/>
              <a:rect r="r" b="b" t="t" l="l"/>
              <a:pathLst>
                <a:path h="634092" w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634092"/>
                  </a:lnTo>
                  <a:lnTo>
                    <a:pt x="0" y="6340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144" r="0" b="20482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104775"/>
              <a:ext cx="1524000" cy="7388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999"/>
                </a:lnSpc>
              </a:pPr>
              <a:r>
                <a:rPr lang="en-US" sz="4999" b="true">
                  <a:solidFill>
                    <a:srgbClr val="F2F4F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♢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2446958" y="6266350"/>
            <a:ext cx="2419653" cy="727218"/>
            <a:chOff x="0" y="0"/>
            <a:chExt cx="2231136" cy="67056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2231135" cy="670560"/>
            </a:xfrm>
            <a:custGeom>
              <a:avLst/>
              <a:gdLst/>
              <a:ahLst/>
              <a:cxnLst/>
              <a:rect r="r" b="b" t="t" l="l"/>
              <a:pathLst>
                <a:path h="670560" w="2231135">
                  <a:moveTo>
                    <a:pt x="0" y="0"/>
                  </a:moveTo>
                  <a:lnTo>
                    <a:pt x="2231135" y="0"/>
                  </a:lnTo>
                  <a:lnTo>
                    <a:pt x="2231135" y="670560"/>
                  </a:lnTo>
                  <a:lnTo>
                    <a:pt x="0" y="670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832" r="0" b="-14832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0"/>
              <a:ext cx="2231136" cy="670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19"/>
                </a:lnSpc>
              </a:pPr>
              <a:r>
                <a:rPr lang="en-US" sz="1849" b="true">
                  <a:solidFill>
                    <a:srgbClr val="F2F4F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FRAUD RISK</a:t>
              </a:r>
            </a:p>
            <a:p>
              <a:pPr algn="ctr">
                <a:lnSpc>
                  <a:spcPts val="2219"/>
                </a:lnSpc>
              </a:pPr>
              <a:r>
                <a:rPr lang="en-US" sz="1849" b="true">
                  <a:solidFill>
                    <a:srgbClr val="F2F4F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REDUCTION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2499846" y="7021335"/>
            <a:ext cx="2313875" cy="1150906"/>
            <a:chOff x="0" y="0"/>
            <a:chExt cx="2133600" cy="1061238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2133600" cy="1061236"/>
            </a:xfrm>
            <a:custGeom>
              <a:avLst/>
              <a:gdLst/>
              <a:ahLst/>
              <a:cxnLst/>
              <a:rect r="r" b="b" t="t" l="l"/>
              <a:pathLst>
                <a:path h="1061236" w="2133600">
                  <a:moveTo>
                    <a:pt x="0" y="0"/>
                  </a:moveTo>
                  <a:lnTo>
                    <a:pt x="2133600" y="0"/>
                  </a:lnTo>
                  <a:lnTo>
                    <a:pt x="2133600" y="1061236"/>
                  </a:lnTo>
                  <a:lnTo>
                    <a:pt x="0" y="10612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87" r="0" b="22339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9525"/>
              <a:ext cx="2133600" cy="10517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99"/>
                </a:lnSpc>
              </a:pPr>
              <a:r>
                <a:rPr lang="en-US" sz="1499">
                  <a:solidFill>
                    <a:srgbClr val="F2F4F7"/>
                  </a:solidFill>
                  <a:latin typeface="Aptos"/>
                  <a:ea typeface="Aptos"/>
                  <a:cs typeface="Aptos"/>
                  <a:sym typeface="Aptos"/>
                </a:rPr>
                <a:t>Reduces risk of</a:t>
              </a:r>
            </a:p>
            <a:p>
              <a:pPr algn="ctr">
                <a:lnSpc>
                  <a:spcPts val="1799"/>
                </a:lnSpc>
              </a:pPr>
              <a:r>
                <a:rPr lang="en-US" sz="1499">
                  <a:solidFill>
                    <a:srgbClr val="F2F4F7"/>
                  </a:solidFill>
                  <a:latin typeface="Aptos"/>
                  <a:ea typeface="Aptos"/>
                  <a:cs typeface="Aptos"/>
                  <a:sym typeface="Aptos"/>
                </a:rPr>
                <a:t>voice-cloning fraud,</a:t>
              </a:r>
            </a:p>
            <a:p>
              <a:pPr algn="ctr">
                <a:lnSpc>
                  <a:spcPts val="1799"/>
                </a:lnSpc>
              </a:pPr>
              <a:r>
                <a:rPr lang="en-US" sz="1499">
                  <a:solidFill>
                    <a:srgbClr val="F2F4F7"/>
                  </a:solidFill>
                  <a:latin typeface="Aptos"/>
                  <a:ea typeface="Aptos"/>
                  <a:cs typeface="Aptos"/>
                  <a:sym typeface="Aptos"/>
                </a:rPr>
                <a:t>social engineering</a:t>
              </a:r>
            </a:p>
            <a:p>
              <a:pPr algn="ctr">
                <a:lnSpc>
                  <a:spcPts val="1799"/>
                </a:lnSpc>
              </a:pPr>
              <a:r>
                <a:rPr lang="en-US" sz="1499">
                  <a:solidFill>
                    <a:srgbClr val="F2F4F7"/>
                  </a:solidFill>
                  <a:latin typeface="Aptos"/>
                  <a:ea typeface="Aptos"/>
                  <a:cs typeface="Aptos"/>
                  <a:sym typeface="Aptos"/>
                </a:rPr>
                <a:t>and unauthorized</a:t>
              </a:r>
            </a:p>
            <a:p>
              <a:pPr algn="ctr">
                <a:lnSpc>
                  <a:spcPts val="1799"/>
                </a:lnSpc>
              </a:pPr>
              <a:r>
                <a:rPr lang="en-US" sz="1499">
                  <a:solidFill>
                    <a:srgbClr val="F2F4F7"/>
                  </a:solidFill>
                  <a:latin typeface="Aptos"/>
                  <a:ea typeface="Aptos"/>
                  <a:cs typeface="Aptos"/>
                  <a:sym typeface="Aptos"/>
                </a:rPr>
                <a:t>approvals.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2446958" y="8804062"/>
            <a:ext cx="2260987" cy="356998"/>
            <a:chOff x="0" y="0"/>
            <a:chExt cx="2084832" cy="329184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2084832" cy="329184"/>
            </a:xfrm>
            <a:custGeom>
              <a:avLst/>
              <a:gdLst/>
              <a:ahLst/>
              <a:cxnLst/>
              <a:rect r="r" b="b" t="t" l="l"/>
              <a:pathLst>
                <a:path h="329184" w="2084832">
                  <a:moveTo>
                    <a:pt x="0" y="0"/>
                  </a:moveTo>
                  <a:lnTo>
                    <a:pt x="2084832" y="0"/>
                  </a:lnTo>
                  <a:lnTo>
                    <a:pt x="2084832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3405" r="0" b="-73405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0"/>
              <a:ext cx="2084832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79"/>
                </a:lnSpc>
              </a:pPr>
              <a:r>
                <a:rPr lang="en-US" sz="1149" b="true">
                  <a:solidFill>
                    <a:srgbClr val="19222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05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5535430" y="5776448"/>
            <a:ext cx="2853780" cy="2751503"/>
            <a:chOff x="0" y="0"/>
            <a:chExt cx="2631440" cy="2537132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2631440" cy="2537132"/>
            </a:xfrm>
            <a:custGeom>
              <a:avLst/>
              <a:gdLst/>
              <a:ahLst/>
              <a:cxnLst/>
              <a:rect r="r" b="b" t="t" l="l"/>
              <a:pathLst>
                <a:path h="2537132" w="2631440">
                  <a:moveTo>
                    <a:pt x="0" y="422805"/>
                  </a:moveTo>
                  <a:cubicBezTo>
                    <a:pt x="0" y="189383"/>
                    <a:pt x="160020" y="0"/>
                    <a:pt x="357251" y="0"/>
                  </a:cubicBezTo>
                  <a:lnTo>
                    <a:pt x="2274189" y="0"/>
                  </a:lnTo>
                  <a:cubicBezTo>
                    <a:pt x="2471420" y="0"/>
                    <a:pt x="2631440" y="189383"/>
                    <a:pt x="2631440" y="422805"/>
                  </a:cubicBezTo>
                  <a:lnTo>
                    <a:pt x="2631440" y="2114326"/>
                  </a:lnTo>
                  <a:cubicBezTo>
                    <a:pt x="2631440" y="2347899"/>
                    <a:pt x="2471420" y="2537132"/>
                    <a:pt x="2274189" y="2537132"/>
                  </a:cubicBezTo>
                  <a:lnTo>
                    <a:pt x="357251" y="2537132"/>
                  </a:lnTo>
                  <a:cubicBezTo>
                    <a:pt x="160020" y="2537132"/>
                    <a:pt x="0" y="2347749"/>
                    <a:pt x="0" y="2114326"/>
                  </a:cubicBezTo>
                  <a:close/>
                </a:path>
              </a:pathLst>
            </a:custGeom>
            <a:solidFill>
              <a:srgbClr val="295C97"/>
            </a:solidFill>
            <a:ln w="7620" cap="sq">
              <a:solidFill>
                <a:srgbClr val="295C97"/>
              </a:solidFill>
              <a:prstDash val="solid"/>
              <a:miter/>
            </a:ln>
          </p:spPr>
        </p:sp>
      </p:grpSp>
      <p:grpSp>
        <p:nvGrpSpPr>
          <p:cNvPr name="Group 106" id="106"/>
          <p:cNvGrpSpPr/>
          <p:nvPr/>
        </p:nvGrpSpPr>
        <p:grpSpPr>
          <a:xfrm rot="0">
            <a:off x="5820808" y="8610391"/>
            <a:ext cx="2272005" cy="698570"/>
            <a:chOff x="0" y="0"/>
            <a:chExt cx="2094992" cy="644144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2094992" cy="644144"/>
            </a:xfrm>
            <a:custGeom>
              <a:avLst/>
              <a:gdLst/>
              <a:ahLst/>
              <a:cxnLst/>
              <a:rect r="r" b="b" t="t" l="l"/>
              <a:pathLst>
                <a:path h="644144" w="2094992">
                  <a:moveTo>
                    <a:pt x="0" y="0"/>
                  </a:moveTo>
                  <a:lnTo>
                    <a:pt x="1772920" y="0"/>
                  </a:lnTo>
                  <a:lnTo>
                    <a:pt x="2094992" y="322072"/>
                  </a:lnTo>
                  <a:lnTo>
                    <a:pt x="1772920" y="644144"/>
                  </a:lnTo>
                  <a:lnTo>
                    <a:pt x="0" y="644144"/>
                  </a:lnTo>
                  <a:close/>
                </a:path>
              </a:pathLst>
            </a:custGeom>
            <a:solidFill>
              <a:srgbClr val="95C0E6"/>
            </a:solidFill>
            <a:ln w="7620" cap="sq">
              <a:solidFill>
                <a:srgbClr val="95C0E6"/>
              </a:solidFill>
              <a:prstDash val="solid"/>
              <a:miter/>
            </a:ln>
          </p:spPr>
        </p:sp>
      </p:grpSp>
      <p:grpSp>
        <p:nvGrpSpPr>
          <p:cNvPr name="Group 108" id="108"/>
          <p:cNvGrpSpPr/>
          <p:nvPr/>
        </p:nvGrpSpPr>
        <p:grpSpPr>
          <a:xfrm rot="0">
            <a:off x="6119935" y="5622317"/>
            <a:ext cx="1673282" cy="998968"/>
            <a:chOff x="0" y="0"/>
            <a:chExt cx="1524000" cy="909845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1524000" cy="909844"/>
            </a:xfrm>
            <a:custGeom>
              <a:avLst/>
              <a:gdLst/>
              <a:ahLst/>
              <a:cxnLst/>
              <a:rect r="r" b="b" t="t" l="l"/>
              <a:pathLst>
                <a:path h="909844" w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909844"/>
                  </a:lnTo>
                  <a:lnTo>
                    <a:pt x="0" y="9098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857" r="0" b="44582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-104775"/>
              <a:ext cx="1524000" cy="1014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999"/>
                </a:lnSpc>
              </a:pPr>
              <a:r>
                <a:rPr lang="en-US" sz="4999" b="true">
                  <a:solidFill>
                    <a:srgbClr val="F2F4F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☷</a:t>
              </a: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5752494" y="6316194"/>
            <a:ext cx="2419653" cy="727218"/>
            <a:chOff x="0" y="0"/>
            <a:chExt cx="2231136" cy="670560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2231135" cy="670560"/>
            </a:xfrm>
            <a:custGeom>
              <a:avLst/>
              <a:gdLst/>
              <a:ahLst/>
              <a:cxnLst/>
              <a:rect r="r" b="b" t="t" l="l"/>
              <a:pathLst>
                <a:path h="670560" w="2231135">
                  <a:moveTo>
                    <a:pt x="0" y="0"/>
                  </a:moveTo>
                  <a:lnTo>
                    <a:pt x="2231135" y="0"/>
                  </a:lnTo>
                  <a:lnTo>
                    <a:pt x="2231135" y="670560"/>
                  </a:lnTo>
                  <a:lnTo>
                    <a:pt x="0" y="670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832" r="0" b="-14832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0"/>
              <a:ext cx="2231136" cy="670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19"/>
                </a:lnSpc>
              </a:pPr>
              <a:r>
                <a:rPr lang="en-US" sz="1849" b="true">
                  <a:solidFill>
                    <a:srgbClr val="F2F4F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CUSTOMIZABLE</a:t>
              </a:r>
            </a:p>
            <a:p>
              <a:pPr algn="ctr">
                <a:lnSpc>
                  <a:spcPts val="2219"/>
                </a:lnSpc>
              </a:pPr>
              <a:r>
                <a:rPr lang="en-US" sz="1849" b="true">
                  <a:solidFill>
                    <a:srgbClr val="F2F4F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DEPLOYMENT</a:t>
              </a:r>
            </a:p>
          </p:txBody>
        </p:sp>
      </p:grpSp>
      <p:grpSp>
        <p:nvGrpSpPr>
          <p:cNvPr name="Group 114" id="114"/>
          <p:cNvGrpSpPr/>
          <p:nvPr/>
        </p:nvGrpSpPr>
        <p:grpSpPr>
          <a:xfrm rot="0">
            <a:off x="5805383" y="7021335"/>
            <a:ext cx="2313875" cy="1369981"/>
            <a:chOff x="0" y="0"/>
            <a:chExt cx="2133600" cy="1263245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2133600" cy="1263243"/>
            </a:xfrm>
            <a:custGeom>
              <a:avLst/>
              <a:gdLst/>
              <a:ahLst/>
              <a:cxnLst/>
              <a:rect r="r" b="b" t="t" l="l"/>
              <a:pathLst>
                <a:path h="1263243" w="2133600">
                  <a:moveTo>
                    <a:pt x="0" y="0"/>
                  </a:moveTo>
                  <a:lnTo>
                    <a:pt x="2133600" y="0"/>
                  </a:lnTo>
                  <a:lnTo>
                    <a:pt x="2133600" y="1263243"/>
                  </a:lnTo>
                  <a:lnTo>
                    <a:pt x="0" y="12632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7" r="0" b="34758"/>
              </a:stretch>
            </a:blipFill>
          </p:spPr>
        </p:sp>
        <p:sp>
          <p:nvSpPr>
            <p:cNvPr name="TextBox 116" id="116"/>
            <p:cNvSpPr txBox="true"/>
            <p:nvPr/>
          </p:nvSpPr>
          <p:spPr>
            <a:xfrm>
              <a:off x="0" y="9525"/>
              <a:ext cx="2133600" cy="1253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99"/>
                </a:lnSpc>
              </a:pPr>
              <a:r>
                <a:rPr lang="en-US" sz="1499">
                  <a:solidFill>
                    <a:srgbClr val="F2F4F7"/>
                  </a:solidFill>
                  <a:latin typeface="Aptos"/>
                  <a:ea typeface="Aptos"/>
                  <a:cs typeface="Aptos"/>
                  <a:sym typeface="Aptos"/>
                </a:rPr>
                <a:t>Risk thresholds can be</a:t>
              </a:r>
            </a:p>
            <a:p>
              <a:pPr algn="ctr">
                <a:lnSpc>
                  <a:spcPts val="1799"/>
                </a:lnSpc>
              </a:pPr>
              <a:r>
                <a:rPr lang="en-US" sz="1499">
                  <a:solidFill>
                    <a:srgbClr val="F2F4F7"/>
                  </a:solidFill>
                  <a:latin typeface="Aptos"/>
                  <a:ea typeface="Aptos"/>
                  <a:cs typeface="Aptos"/>
                  <a:sym typeface="Aptos"/>
                </a:rPr>
                <a:t>customized for different</a:t>
              </a:r>
            </a:p>
            <a:p>
              <a:pPr algn="ctr">
                <a:lnSpc>
                  <a:spcPts val="1799"/>
                </a:lnSpc>
              </a:pPr>
              <a:r>
                <a:rPr lang="en-US" sz="1499">
                  <a:solidFill>
                    <a:srgbClr val="F2F4F7"/>
                  </a:solidFill>
                  <a:latin typeface="Aptos"/>
                  <a:ea typeface="Aptos"/>
                  <a:cs typeface="Aptos"/>
                  <a:sym typeface="Aptos"/>
                </a:rPr>
                <a:t>environments such as</a:t>
              </a:r>
            </a:p>
            <a:p>
              <a:pPr algn="ctr">
                <a:lnSpc>
                  <a:spcPts val="1799"/>
                </a:lnSpc>
              </a:pPr>
              <a:r>
                <a:rPr lang="en-US" sz="1499">
                  <a:solidFill>
                    <a:srgbClr val="F2F4F7"/>
                  </a:solidFill>
                  <a:latin typeface="Aptos"/>
                  <a:ea typeface="Aptos"/>
                  <a:cs typeface="Aptos"/>
                  <a:sym typeface="Aptos"/>
                </a:rPr>
                <a:t>banking, government</a:t>
              </a:r>
            </a:p>
            <a:p>
              <a:pPr algn="ctr">
                <a:lnSpc>
                  <a:spcPts val="1799"/>
                </a:lnSpc>
              </a:pPr>
              <a:r>
                <a:rPr lang="en-US" sz="1499">
                  <a:solidFill>
                    <a:srgbClr val="F2F4F7"/>
                  </a:solidFill>
                  <a:latin typeface="Aptos"/>
                  <a:ea typeface="Aptos"/>
                  <a:cs typeface="Aptos"/>
                  <a:sym typeface="Aptos"/>
                </a:rPr>
                <a:t>and corporate</a:t>
              </a:r>
            </a:p>
            <a:p>
              <a:pPr algn="ctr">
                <a:lnSpc>
                  <a:spcPts val="1799"/>
                </a:lnSpc>
              </a:pPr>
              <a:r>
                <a:rPr lang="en-US" sz="1499">
                  <a:solidFill>
                    <a:srgbClr val="F2F4F7"/>
                  </a:solidFill>
                  <a:latin typeface="Aptos"/>
                  <a:ea typeface="Aptos"/>
                  <a:cs typeface="Aptos"/>
                  <a:sym typeface="Aptos"/>
                </a:rPr>
                <a:t>operations.</a:t>
              </a:r>
            </a:p>
          </p:txBody>
        </p:sp>
      </p:grpSp>
      <p:grpSp>
        <p:nvGrpSpPr>
          <p:cNvPr name="Group 117" id="117"/>
          <p:cNvGrpSpPr/>
          <p:nvPr/>
        </p:nvGrpSpPr>
        <p:grpSpPr>
          <a:xfrm rot="0">
            <a:off x="5831827" y="8790899"/>
            <a:ext cx="2260987" cy="356998"/>
            <a:chOff x="0" y="0"/>
            <a:chExt cx="2084832" cy="329184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2084832" cy="329184"/>
            </a:xfrm>
            <a:custGeom>
              <a:avLst/>
              <a:gdLst/>
              <a:ahLst/>
              <a:cxnLst/>
              <a:rect r="r" b="b" t="t" l="l"/>
              <a:pathLst>
                <a:path h="329184" w="2084832">
                  <a:moveTo>
                    <a:pt x="0" y="0"/>
                  </a:moveTo>
                  <a:lnTo>
                    <a:pt x="2084832" y="0"/>
                  </a:lnTo>
                  <a:lnTo>
                    <a:pt x="2084832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3405" r="0" b="-73405"/>
              </a:stretch>
            </a:blipFill>
          </p:spPr>
        </p:sp>
        <p:sp>
          <p:nvSpPr>
            <p:cNvPr name="TextBox 119" id="119"/>
            <p:cNvSpPr txBox="true"/>
            <p:nvPr/>
          </p:nvSpPr>
          <p:spPr>
            <a:xfrm>
              <a:off x="0" y="0"/>
              <a:ext cx="2084832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79"/>
                </a:lnSpc>
              </a:pPr>
              <a:r>
                <a:rPr lang="en-US" sz="1149" b="true">
                  <a:solidFill>
                    <a:srgbClr val="19222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06</a:t>
              </a:r>
            </a:p>
          </p:txBody>
        </p:sp>
      </p:grpSp>
      <p:grpSp>
        <p:nvGrpSpPr>
          <p:cNvPr name="Group 120" id="120"/>
          <p:cNvGrpSpPr/>
          <p:nvPr/>
        </p:nvGrpSpPr>
        <p:grpSpPr>
          <a:xfrm rot="0">
            <a:off x="8840967" y="5776448"/>
            <a:ext cx="2853780" cy="2751503"/>
            <a:chOff x="0" y="0"/>
            <a:chExt cx="2631440" cy="2537132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2631440" cy="2537132"/>
            </a:xfrm>
            <a:custGeom>
              <a:avLst/>
              <a:gdLst/>
              <a:ahLst/>
              <a:cxnLst/>
              <a:rect r="r" b="b" t="t" l="l"/>
              <a:pathLst>
                <a:path h="2537132" w="2631440">
                  <a:moveTo>
                    <a:pt x="0" y="422805"/>
                  </a:moveTo>
                  <a:cubicBezTo>
                    <a:pt x="0" y="189383"/>
                    <a:pt x="160020" y="0"/>
                    <a:pt x="357251" y="0"/>
                  </a:cubicBezTo>
                  <a:lnTo>
                    <a:pt x="2274189" y="0"/>
                  </a:lnTo>
                  <a:cubicBezTo>
                    <a:pt x="2471420" y="0"/>
                    <a:pt x="2631440" y="189383"/>
                    <a:pt x="2631440" y="422805"/>
                  </a:cubicBezTo>
                  <a:lnTo>
                    <a:pt x="2631440" y="2114326"/>
                  </a:lnTo>
                  <a:cubicBezTo>
                    <a:pt x="2631440" y="2347899"/>
                    <a:pt x="2471420" y="2537132"/>
                    <a:pt x="2274189" y="2537132"/>
                  </a:cubicBezTo>
                  <a:lnTo>
                    <a:pt x="357251" y="2537132"/>
                  </a:lnTo>
                  <a:cubicBezTo>
                    <a:pt x="160020" y="2537132"/>
                    <a:pt x="0" y="2347749"/>
                    <a:pt x="0" y="2114326"/>
                  </a:cubicBezTo>
                  <a:close/>
                </a:path>
              </a:pathLst>
            </a:custGeom>
            <a:solidFill>
              <a:srgbClr val="298E97"/>
            </a:solidFill>
            <a:ln w="7620" cap="sq">
              <a:solidFill>
                <a:srgbClr val="298E97"/>
              </a:solidFill>
              <a:prstDash val="solid"/>
              <a:miter/>
            </a:ln>
          </p:spPr>
        </p:sp>
      </p:grpSp>
      <p:grpSp>
        <p:nvGrpSpPr>
          <p:cNvPr name="Group 122" id="122"/>
          <p:cNvGrpSpPr/>
          <p:nvPr/>
        </p:nvGrpSpPr>
        <p:grpSpPr>
          <a:xfrm rot="0">
            <a:off x="9126345" y="8610391"/>
            <a:ext cx="2272005" cy="698570"/>
            <a:chOff x="0" y="0"/>
            <a:chExt cx="2094992" cy="644144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2094992" cy="644144"/>
            </a:xfrm>
            <a:custGeom>
              <a:avLst/>
              <a:gdLst/>
              <a:ahLst/>
              <a:cxnLst/>
              <a:rect r="r" b="b" t="t" l="l"/>
              <a:pathLst>
                <a:path h="644144" w="2094992">
                  <a:moveTo>
                    <a:pt x="0" y="0"/>
                  </a:moveTo>
                  <a:lnTo>
                    <a:pt x="1772920" y="0"/>
                  </a:lnTo>
                  <a:lnTo>
                    <a:pt x="2094992" y="322072"/>
                  </a:lnTo>
                  <a:lnTo>
                    <a:pt x="1772920" y="644144"/>
                  </a:lnTo>
                  <a:lnTo>
                    <a:pt x="0" y="644144"/>
                  </a:lnTo>
                  <a:close/>
                </a:path>
              </a:pathLst>
            </a:custGeom>
            <a:solidFill>
              <a:srgbClr val="9CD3D8"/>
            </a:solidFill>
            <a:ln w="7620" cap="sq">
              <a:solidFill>
                <a:srgbClr val="9CD3D8"/>
              </a:solidFill>
              <a:prstDash val="solid"/>
              <a:miter/>
            </a:ln>
          </p:spPr>
        </p:sp>
      </p:grpSp>
      <p:grpSp>
        <p:nvGrpSpPr>
          <p:cNvPr name="Group 124" id="124"/>
          <p:cNvGrpSpPr/>
          <p:nvPr/>
        </p:nvGrpSpPr>
        <p:grpSpPr>
          <a:xfrm rot="0">
            <a:off x="9425706" y="5630992"/>
            <a:ext cx="1673282" cy="998968"/>
            <a:chOff x="0" y="0"/>
            <a:chExt cx="1524000" cy="909845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1524000" cy="909844"/>
            </a:xfrm>
            <a:custGeom>
              <a:avLst/>
              <a:gdLst/>
              <a:ahLst/>
              <a:cxnLst/>
              <a:rect r="r" b="b" t="t" l="l"/>
              <a:pathLst>
                <a:path h="909844" w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909844"/>
                  </a:lnTo>
                  <a:lnTo>
                    <a:pt x="0" y="9098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857" r="0" b="44582"/>
              </a:stretch>
            </a:blipFill>
          </p:spPr>
        </p:sp>
        <p:sp>
          <p:nvSpPr>
            <p:cNvPr name="TextBox 126" id="126"/>
            <p:cNvSpPr txBox="true"/>
            <p:nvPr/>
          </p:nvSpPr>
          <p:spPr>
            <a:xfrm>
              <a:off x="0" y="-104775"/>
              <a:ext cx="1524000" cy="1014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999"/>
                </a:lnSpc>
              </a:pPr>
              <a:r>
                <a:rPr lang="en-US" sz="4999" b="true">
                  <a:solidFill>
                    <a:srgbClr val="F2F4F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♧</a:t>
              </a:r>
            </a:p>
          </p:txBody>
        </p:sp>
      </p:grpSp>
      <p:grpSp>
        <p:nvGrpSpPr>
          <p:cNvPr name="Group 127" id="127"/>
          <p:cNvGrpSpPr/>
          <p:nvPr/>
        </p:nvGrpSpPr>
        <p:grpSpPr>
          <a:xfrm rot="0">
            <a:off x="9058030" y="6316194"/>
            <a:ext cx="2419653" cy="727218"/>
            <a:chOff x="0" y="0"/>
            <a:chExt cx="2231136" cy="670560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2231135" cy="670560"/>
            </a:xfrm>
            <a:custGeom>
              <a:avLst/>
              <a:gdLst/>
              <a:ahLst/>
              <a:cxnLst/>
              <a:rect r="r" b="b" t="t" l="l"/>
              <a:pathLst>
                <a:path h="670560" w="2231135">
                  <a:moveTo>
                    <a:pt x="0" y="0"/>
                  </a:moveTo>
                  <a:lnTo>
                    <a:pt x="2231135" y="0"/>
                  </a:lnTo>
                  <a:lnTo>
                    <a:pt x="2231135" y="670560"/>
                  </a:lnTo>
                  <a:lnTo>
                    <a:pt x="0" y="670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832" r="0" b="-14832"/>
              </a:stretch>
            </a:blipFill>
          </p:spPr>
        </p:sp>
        <p:sp>
          <p:nvSpPr>
            <p:cNvPr name="TextBox 129" id="129"/>
            <p:cNvSpPr txBox="true"/>
            <p:nvPr/>
          </p:nvSpPr>
          <p:spPr>
            <a:xfrm>
              <a:off x="0" y="0"/>
              <a:ext cx="2231136" cy="670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19"/>
                </a:lnSpc>
              </a:pPr>
              <a:r>
                <a:rPr lang="en-US" sz="1849" b="true">
                  <a:solidFill>
                    <a:srgbClr val="F2F4F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INDIAN LANGUAGES</a:t>
              </a:r>
            </a:p>
            <a:p>
              <a:pPr algn="ctr">
                <a:lnSpc>
                  <a:spcPts val="2219"/>
                </a:lnSpc>
              </a:pPr>
              <a:r>
                <a:rPr lang="en-US" sz="1849" b="true">
                  <a:solidFill>
                    <a:srgbClr val="F2F4F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&amp; ACCENTS</a:t>
              </a:r>
            </a:p>
          </p:txBody>
        </p:sp>
      </p:grpSp>
      <p:grpSp>
        <p:nvGrpSpPr>
          <p:cNvPr name="Group 130" id="130"/>
          <p:cNvGrpSpPr/>
          <p:nvPr/>
        </p:nvGrpSpPr>
        <p:grpSpPr>
          <a:xfrm rot="0">
            <a:off x="9110919" y="6821310"/>
            <a:ext cx="2313875" cy="1789081"/>
            <a:chOff x="0" y="0"/>
            <a:chExt cx="2133600" cy="1649693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2133600" cy="1649690"/>
            </a:xfrm>
            <a:custGeom>
              <a:avLst/>
              <a:gdLst/>
              <a:ahLst/>
              <a:cxnLst/>
              <a:rect r="r" b="b" t="t" l="l"/>
              <a:pathLst>
                <a:path h="1649690" w="2133600">
                  <a:moveTo>
                    <a:pt x="0" y="0"/>
                  </a:moveTo>
                  <a:lnTo>
                    <a:pt x="2133600" y="0"/>
                  </a:lnTo>
                  <a:lnTo>
                    <a:pt x="2133600" y="1649690"/>
                  </a:lnTo>
                  <a:lnTo>
                    <a:pt x="0" y="164969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42" r="0" b="50041"/>
              </a:stretch>
            </a:blipFill>
          </p:spPr>
        </p:sp>
        <p:sp>
          <p:nvSpPr>
            <p:cNvPr name="TextBox 132" id="132"/>
            <p:cNvSpPr txBox="true"/>
            <p:nvPr/>
          </p:nvSpPr>
          <p:spPr>
            <a:xfrm>
              <a:off x="0" y="9525"/>
              <a:ext cx="2133600" cy="16401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99"/>
                </a:lnSpc>
              </a:pPr>
              <a:r>
                <a:rPr lang="en-US" sz="1499">
                  <a:solidFill>
                    <a:srgbClr val="F2F4F7"/>
                  </a:solidFill>
                  <a:latin typeface="Aptos"/>
                  <a:ea typeface="Aptos"/>
                  <a:cs typeface="Aptos"/>
                  <a:sym typeface="Aptos"/>
                </a:rPr>
                <a:t>Can support Indian</a:t>
              </a:r>
            </a:p>
            <a:p>
              <a:pPr algn="ctr">
                <a:lnSpc>
                  <a:spcPts val="1799"/>
                </a:lnSpc>
              </a:pPr>
              <a:r>
                <a:rPr lang="en-US" sz="1499">
                  <a:solidFill>
                    <a:srgbClr val="F2F4F7"/>
                  </a:solidFill>
                  <a:latin typeface="Aptos"/>
                  <a:ea typeface="Aptos"/>
                  <a:cs typeface="Aptos"/>
                  <a:sym typeface="Aptos"/>
                </a:rPr>
                <a:t>languages, regional</a:t>
              </a:r>
            </a:p>
            <a:p>
              <a:pPr algn="ctr">
                <a:lnSpc>
                  <a:spcPts val="1799"/>
                </a:lnSpc>
              </a:pPr>
              <a:r>
                <a:rPr lang="en-US" sz="1499">
                  <a:solidFill>
                    <a:srgbClr val="F2F4F7"/>
                  </a:solidFill>
                  <a:latin typeface="Aptos"/>
                  <a:ea typeface="Aptos"/>
                  <a:cs typeface="Aptos"/>
                  <a:sym typeface="Aptos"/>
                </a:rPr>
                <a:t>accents and diverse</a:t>
              </a:r>
            </a:p>
            <a:p>
              <a:pPr algn="ctr">
                <a:lnSpc>
                  <a:spcPts val="1799"/>
                </a:lnSpc>
              </a:pPr>
              <a:r>
                <a:rPr lang="en-US" sz="1499">
                  <a:solidFill>
                    <a:srgbClr val="F2F4F7"/>
                  </a:solidFill>
                  <a:latin typeface="Aptos"/>
                  <a:ea typeface="Aptos"/>
                  <a:cs typeface="Aptos"/>
                  <a:sym typeface="Aptos"/>
                </a:rPr>
                <a:t>communication</a:t>
              </a:r>
            </a:p>
            <a:p>
              <a:pPr algn="ctr">
                <a:lnSpc>
                  <a:spcPts val="1799"/>
                </a:lnSpc>
              </a:pPr>
              <a:r>
                <a:rPr lang="en-US" sz="1499">
                  <a:solidFill>
                    <a:srgbClr val="F2F4F7"/>
                  </a:solidFill>
                  <a:latin typeface="Aptos"/>
                  <a:ea typeface="Aptos"/>
                  <a:cs typeface="Aptos"/>
                  <a:sym typeface="Aptos"/>
                </a:rPr>
                <a:t>environments through</a:t>
              </a:r>
            </a:p>
            <a:p>
              <a:pPr algn="ctr">
                <a:lnSpc>
                  <a:spcPts val="1799"/>
                </a:lnSpc>
              </a:pPr>
              <a:r>
                <a:rPr lang="en-US" sz="1499">
                  <a:solidFill>
                    <a:srgbClr val="F2F4F7"/>
                  </a:solidFill>
                  <a:latin typeface="Aptos"/>
                  <a:ea typeface="Aptos"/>
                  <a:cs typeface="Aptos"/>
                  <a:sym typeface="Aptos"/>
                </a:rPr>
                <a:t>suitable training and</a:t>
              </a:r>
            </a:p>
            <a:p>
              <a:pPr algn="ctr">
                <a:lnSpc>
                  <a:spcPts val="1799"/>
                </a:lnSpc>
              </a:pPr>
              <a:r>
                <a:rPr lang="en-US" sz="1499">
                  <a:solidFill>
                    <a:srgbClr val="F2F4F7"/>
                  </a:solidFill>
                  <a:latin typeface="Aptos"/>
                  <a:ea typeface="Aptos"/>
                  <a:cs typeface="Aptos"/>
                  <a:sym typeface="Aptos"/>
                </a:rPr>
                <a:t>evaluation.</a:t>
              </a:r>
            </a:p>
          </p:txBody>
        </p:sp>
      </p:grpSp>
      <p:grpSp>
        <p:nvGrpSpPr>
          <p:cNvPr name="Group 133" id="133"/>
          <p:cNvGrpSpPr/>
          <p:nvPr/>
        </p:nvGrpSpPr>
        <p:grpSpPr>
          <a:xfrm rot="0">
            <a:off x="9137363" y="8790899"/>
            <a:ext cx="2260987" cy="356998"/>
            <a:chOff x="0" y="0"/>
            <a:chExt cx="2084832" cy="329184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2084832" cy="329184"/>
            </a:xfrm>
            <a:custGeom>
              <a:avLst/>
              <a:gdLst/>
              <a:ahLst/>
              <a:cxnLst/>
              <a:rect r="r" b="b" t="t" l="l"/>
              <a:pathLst>
                <a:path h="329184" w="2084832">
                  <a:moveTo>
                    <a:pt x="0" y="0"/>
                  </a:moveTo>
                  <a:lnTo>
                    <a:pt x="2084832" y="0"/>
                  </a:lnTo>
                  <a:lnTo>
                    <a:pt x="2084832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3405" r="0" b="-73405"/>
              </a:stretch>
            </a:blipFill>
          </p:spPr>
        </p:sp>
        <p:sp>
          <p:nvSpPr>
            <p:cNvPr name="TextBox 135" id="135"/>
            <p:cNvSpPr txBox="true"/>
            <p:nvPr/>
          </p:nvSpPr>
          <p:spPr>
            <a:xfrm>
              <a:off x="0" y="0"/>
              <a:ext cx="2084832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79"/>
                </a:lnSpc>
              </a:pPr>
              <a:r>
                <a:rPr lang="en-US" sz="1149" b="true">
                  <a:solidFill>
                    <a:srgbClr val="19222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07</a:t>
              </a:r>
            </a:p>
          </p:txBody>
        </p:sp>
      </p:grpSp>
      <p:grpSp>
        <p:nvGrpSpPr>
          <p:cNvPr name="Group 136" id="136"/>
          <p:cNvGrpSpPr/>
          <p:nvPr/>
        </p:nvGrpSpPr>
        <p:grpSpPr>
          <a:xfrm rot="0">
            <a:off x="12146503" y="5776448"/>
            <a:ext cx="2853780" cy="2751503"/>
            <a:chOff x="0" y="0"/>
            <a:chExt cx="2631440" cy="2537132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2631440" cy="2537132"/>
            </a:xfrm>
            <a:custGeom>
              <a:avLst/>
              <a:gdLst/>
              <a:ahLst/>
              <a:cxnLst/>
              <a:rect r="r" b="b" t="t" l="l"/>
              <a:pathLst>
                <a:path h="2537132" w="2631440">
                  <a:moveTo>
                    <a:pt x="0" y="422805"/>
                  </a:moveTo>
                  <a:cubicBezTo>
                    <a:pt x="0" y="189383"/>
                    <a:pt x="160020" y="0"/>
                    <a:pt x="357251" y="0"/>
                  </a:cubicBezTo>
                  <a:lnTo>
                    <a:pt x="2274189" y="0"/>
                  </a:lnTo>
                  <a:cubicBezTo>
                    <a:pt x="2471420" y="0"/>
                    <a:pt x="2631440" y="189383"/>
                    <a:pt x="2631440" y="422805"/>
                  </a:cubicBezTo>
                  <a:lnTo>
                    <a:pt x="2631440" y="2114326"/>
                  </a:lnTo>
                  <a:cubicBezTo>
                    <a:pt x="2631440" y="2347899"/>
                    <a:pt x="2471420" y="2537132"/>
                    <a:pt x="2274189" y="2537132"/>
                  </a:cubicBezTo>
                  <a:lnTo>
                    <a:pt x="357251" y="2537132"/>
                  </a:lnTo>
                  <a:cubicBezTo>
                    <a:pt x="160020" y="2537132"/>
                    <a:pt x="0" y="2347749"/>
                    <a:pt x="0" y="2114326"/>
                  </a:cubicBezTo>
                  <a:close/>
                </a:path>
              </a:pathLst>
            </a:custGeom>
            <a:solidFill>
              <a:srgbClr val="C22A66"/>
            </a:solidFill>
            <a:ln w="7620" cap="sq">
              <a:solidFill>
                <a:srgbClr val="C22A66"/>
              </a:solidFill>
              <a:prstDash val="solid"/>
              <a:miter/>
            </a:ln>
          </p:spPr>
        </p:sp>
      </p:grpSp>
      <p:grpSp>
        <p:nvGrpSpPr>
          <p:cNvPr name="Group 138" id="138"/>
          <p:cNvGrpSpPr/>
          <p:nvPr/>
        </p:nvGrpSpPr>
        <p:grpSpPr>
          <a:xfrm rot="0">
            <a:off x="12431881" y="8610391"/>
            <a:ext cx="2272005" cy="698570"/>
            <a:chOff x="0" y="0"/>
            <a:chExt cx="2094992" cy="644144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2094992" cy="644144"/>
            </a:xfrm>
            <a:custGeom>
              <a:avLst/>
              <a:gdLst/>
              <a:ahLst/>
              <a:cxnLst/>
              <a:rect r="r" b="b" t="t" l="l"/>
              <a:pathLst>
                <a:path h="644144" w="2094992">
                  <a:moveTo>
                    <a:pt x="0" y="0"/>
                  </a:moveTo>
                  <a:lnTo>
                    <a:pt x="1772920" y="0"/>
                  </a:lnTo>
                  <a:lnTo>
                    <a:pt x="2094992" y="322072"/>
                  </a:lnTo>
                  <a:lnTo>
                    <a:pt x="1772920" y="644144"/>
                  </a:lnTo>
                  <a:lnTo>
                    <a:pt x="0" y="644144"/>
                  </a:lnTo>
                  <a:close/>
                </a:path>
              </a:pathLst>
            </a:custGeom>
            <a:solidFill>
              <a:srgbClr val="F3AAC7"/>
            </a:solidFill>
            <a:ln w="7620" cap="sq">
              <a:solidFill>
                <a:srgbClr val="F3AAC7"/>
              </a:solidFill>
              <a:prstDash val="solid"/>
              <a:miter/>
            </a:ln>
          </p:spPr>
        </p:sp>
      </p:grpSp>
      <p:grpSp>
        <p:nvGrpSpPr>
          <p:cNvPr name="Group 140" id="140"/>
          <p:cNvGrpSpPr/>
          <p:nvPr/>
        </p:nvGrpSpPr>
        <p:grpSpPr>
          <a:xfrm rot="0">
            <a:off x="12716994" y="5635747"/>
            <a:ext cx="1673282" cy="998968"/>
            <a:chOff x="0" y="0"/>
            <a:chExt cx="1524000" cy="909845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1524000" cy="909844"/>
            </a:xfrm>
            <a:custGeom>
              <a:avLst/>
              <a:gdLst/>
              <a:ahLst/>
              <a:cxnLst/>
              <a:rect r="r" b="b" t="t" l="l"/>
              <a:pathLst>
                <a:path h="909844" w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909844"/>
                  </a:lnTo>
                  <a:lnTo>
                    <a:pt x="0" y="90984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857" r="0" b="44582"/>
              </a:stretch>
            </a:blipFill>
          </p:spPr>
        </p:sp>
        <p:sp>
          <p:nvSpPr>
            <p:cNvPr name="TextBox 142" id="142"/>
            <p:cNvSpPr txBox="true"/>
            <p:nvPr/>
          </p:nvSpPr>
          <p:spPr>
            <a:xfrm>
              <a:off x="0" y="-104775"/>
              <a:ext cx="1524000" cy="1014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999"/>
                </a:lnSpc>
              </a:pPr>
              <a:r>
                <a:rPr lang="en-US" sz="4999" b="true">
                  <a:solidFill>
                    <a:srgbClr val="F2F4F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◎</a:t>
              </a:r>
            </a:p>
          </p:txBody>
        </p:sp>
      </p:grpSp>
      <p:grpSp>
        <p:nvGrpSpPr>
          <p:cNvPr name="Group 143" id="143"/>
          <p:cNvGrpSpPr/>
          <p:nvPr/>
        </p:nvGrpSpPr>
        <p:grpSpPr>
          <a:xfrm rot="0">
            <a:off x="12343809" y="6381839"/>
            <a:ext cx="2419653" cy="727218"/>
            <a:chOff x="0" y="0"/>
            <a:chExt cx="2231136" cy="670560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2231135" cy="670560"/>
            </a:xfrm>
            <a:custGeom>
              <a:avLst/>
              <a:gdLst/>
              <a:ahLst/>
              <a:cxnLst/>
              <a:rect r="r" b="b" t="t" l="l"/>
              <a:pathLst>
                <a:path h="670560" w="2231135">
                  <a:moveTo>
                    <a:pt x="0" y="0"/>
                  </a:moveTo>
                  <a:lnTo>
                    <a:pt x="2231135" y="0"/>
                  </a:lnTo>
                  <a:lnTo>
                    <a:pt x="2231135" y="670560"/>
                  </a:lnTo>
                  <a:lnTo>
                    <a:pt x="0" y="670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832" r="0" b="-14832"/>
              </a:stretch>
            </a:blipFill>
          </p:spPr>
        </p:sp>
        <p:sp>
          <p:nvSpPr>
            <p:cNvPr name="TextBox 145" id="145"/>
            <p:cNvSpPr txBox="true"/>
            <p:nvPr/>
          </p:nvSpPr>
          <p:spPr>
            <a:xfrm>
              <a:off x="0" y="0"/>
              <a:ext cx="2231136" cy="670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19"/>
                </a:lnSpc>
              </a:pPr>
              <a:r>
                <a:rPr lang="en-US" sz="1849" b="true">
                  <a:solidFill>
                    <a:srgbClr val="F2F4F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MULTI-SECTOR</a:t>
              </a:r>
            </a:p>
            <a:p>
              <a:pPr algn="ctr">
                <a:lnSpc>
                  <a:spcPts val="2219"/>
                </a:lnSpc>
              </a:pPr>
              <a:r>
                <a:rPr lang="en-US" sz="1849" b="true">
                  <a:solidFill>
                    <a:srgbClr val="F2F4F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SCALABILITY</a:t>
              </a:r>
            </a:p>
          </p:txBody>
        </p:sp>
      </p:grpSp>
      <p:grpSp>
        <p:nvGrpSpPr>
          <p:cNvPr name="Group 146" id="146"/>
          <p:cNvGrpSpPr/>
          <p:nvPr/>
        </p:nvGrpSpPr>
        <p:grpSpPr>
          <a:xfrm rot="0">
            <a:off x="12416455" y="7021335"/>
            <a:ext cx="2313875" cy="1369981"/>
            <a:chOff x="0" y="0"/>
            <a:chExt cx="2133600" cy="1263245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2133600" cy="1263243"/>
            </a:xfrm>
            <a:custGeom>
              <a:avLst/>
              <a:gdLst/>
              <a:ahLst/>
              <a:cxnLst/>
              <a:rect r="r" b="b" t="t" l="l"/>
              <a:pathLst>
                <a:path h="1263243" w="2133600">
                  <a:moveTo>
                    <a:pt x="0" y="0"/>
                  </a:moveTo>
                  <a:lnTo>
                    <a:pt x="2133600" y="0"/>
                  </a:lnTo>
                  <a:lnTo>
                    <a:pt x="2133600" y="1263243"/>
                  </a:lnTo>
                  <a:lnTo>
                    <a:pt x="0" y="126324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7" r="0" b="34758"/>
              </a:stretch>
            </a:blipFill>
          </p:spPr>
        </p:sp>
        <p:sp>
          <p:nvSpPr>
            <p:cNvPr name="TextBox 148" id="148"/>
            <p:cNvSpPr txBox="true"/>
            <p:nvPr/>
          </p:nvSpPr>
          <p:spPr>
            <a:xfrm>
              <a:off x="0" y="9525"/>
              <a:ext cx="2133600" cy="1253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99"/>
                </a:lnSpc>
              </a:pPr>
              <a:r>
                <a:rPr lang="en-US" sz="1499">
                  <a:solidFill>
                    <a:srgbClr val="F2F4F7"/>
                  </a:solidFill>
                  <a:latin typeface="Aptos"/>
                  <a:ea typeface="Aptos"/>
                  <a:cs typeface="Aptos"/>
                  <a:sym typeface="Aptos"/>
                </a:rPr>
                <a:t>Long-term platform</a:t>
              </a:r>
            </a:p>
            <a:p>
              <a:pPr algn="ctr">
                <a:lnSpc>
                  <a:spcPts val="1799"/>
                </a:lnSpc>
              </a:pPr>
              <a:r>
                <a:rPr lang="en-US" sz="1499">
                  <a:solidFill>
                    <a:srgbClr val="F2F4F7"/>
                  </a:solidFill>
                  <a:latin typeface="Aptos"/>
                  <a:ea typeface="Aptos"/>
                  <a:cs typeface="Aptos"/>
                  <a:sym typeface="Aptos"/>
                </a:rPr>
                <a:t>potential across</a:t>
              </a:r>
            </a:p>
            <a:p>
              <a:pPr algn="ctr">
                <a:lnSpc>
                  <a:spcPts val="1799"/>
                </a:lnSpc>
              </a:pPr>
              <a:r>
                <a:rPr lang="en-US" sz="1499">
                  <a:solidFill>
                    <a:srgbClr val="F2F4F7"/>
                  </a:solidFill>
                  <a:latin typeface="Aptos"/>
                  <a:ea typeface="Aptos"/>
                  <a:cs typeface="Aptos"/>
                  <a:sym typeface="Aptos"/>
                </a:rPr>
                <a:t>banking, telecom,</a:t>
              </a:r>
            </a:p>
            <a:p>
              <a:pPr algn="ctr">
                <a:lnSpc>
                  <a:spcPts val="1799"/>
                </a:lnSpc>
              </a:pPr>
              <a:r>
                <a:rPr lang="en-US" sz="1499">
                  <a:solidFill>
                    <a:srgbClr val="F2F4F7"/>
                  </a:solidFill>
                  <a:latin typeface="Aptos"/>
                  <a:ea typeface="Aptos"/>
                  <a:cs typeface="Aptos"/>
                  <a:sym typeface="Aptos"/>
                </a:rPr>
                <a:t>enterprises, government</a:t>
              </a:r>
            </a:p>
            <a:p>
              <a:pPr algn="ctr">
                <a:lnSpc>
                  <a:spcPts val="1799"/>
                </a:lnSpc>
              </a:pPr>
              <a:r>
                <a:rPr lang="en-US" sz="1499">
                  <a:solidFill>
                    <a:srgbClr val="F2F4F7"/>
                  </a:solidFill>
                  <a:latin typeface="Aptos"/>
                  <a:ea typeface="Aptos"/>
                  <a:cs typeface="Aptos"/>
                  <a:sym typeface="Aptos"/>
                </a:rPr>
                <a:t>and customer-support</a:t>
              </a:r>
            </a:p>
            <a:p>
              <a:pPr algn="ctr">
                <a:lnSpc>
                  <a:spcPts val="1799"/>
                </a:lnSpc>
              </a:pPr>
              <a:r>
                <a:rPr lang="en-US" sz="1499">
                  <a:solidFill>
                    <a:srgbClr val="F2F4F7"/>
                  </a:solidFill>
                  <a:latin typeface="Aptos"/>
                  <a:ea typeface="Aptos"/>
                  <a:cs typeface="Aptos"/>
                  <a:sym typeface="Aptos"/>
                </a:rPr>
                <a:t>systems.</a:t>
              </a:r>
            </a:p>
          </p:txBody>
        </p:sp>
      </p:grpSp>
      <p:grpSp>
        <p:nvGrpSpPr>
          <p:cNvPr name="Group 149" id="149"/>
          <p:cNvGrpSpPr/>
          <p:nvPr/>
        </p:nvGrpSpPr>
        <p:grpSpPr>
          <a:xfrm rot="0">
            <a:off x="12442900" y="8790899"/>
            <a:ext cx="2260987" cy="356998"/>
            <a:chOff x="0" y="0"/>
            <a:chExt cx="2084832" cy="329184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2084832" cy="329184"/>
            </a:xfrm>
            <a:custGeom>
              <a:avLst/>
              <a:gdLst/>
              <a:ahLst/>
              <a:cxnLst/>
              <a:rect r="r" b="b" t="t" l="l"/>
              <a:pathLst>
                <a:path h="329184" w="2084832">
                  <a:moveTo>
                    <a:pt x="0" y="0"/>
                  </a:moveTo>
                  <a:lnTo>
                    <a:pt x="2084832" y="0"/>
                  </a:lnTo>
                  <a:lnTo>
                    <a:pt x="2084832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3405" r="0" b="-73405"/>
              </a:stretch>
            </a:blipFill>
          </p:spPr>
        </p:sp>
        <p:sp>
          <p:nvSpPr>
            <p:cNvPr name="TextBox 151" id="151"/>
            <p:cNvSpPr txBox="true"/>
            <p:nvPr/>
          </p:nvSpPr>
          <p:spPr>
            <a:xfrm>
              <a:off x="0" y="0"/>
              <a:ext cx="2084832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79"/>
                </a:lnSpc>
              </a:pPr>
              <a:r>
                <a:rPr lang="en-US" sz="1149" b="true">
                  <a:solidFill>
                    <a:srgbClr val="19222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08</a:t>
              </a:r>
            </a:p>
          </p:txBody>
        </p:sp>
      </p:grpSp>
      <p:sp>
        <p:nvSpPr>
          <p:cNvPr name="Freeform 152" id="152" descr="Your startup LOGO"/>
          <p:cNvSpPr/>
          <p:nvPr/>
        </p:nvSpPr>
        <p:spPr>
          <a:xfrm flipH="false" flipV="false" rot="0">
            <a:off x="22589" y="83102"/>
            <a:ext cx="1944433" cy="1277683"/>
          </a:xfrm>
          <a:custGeom>
            <a:avLst/>
            <a:gdLst/>
            <a:ahLst/>
            <a:cxnLst/>
            <a:rect r="r" b="b" t="t" l="l"/>
            <a:pathLst>
              <a:path h="1277683" w="1944433">
                <a:moveTo>
                  <a:pt x="0" y="0"/>
                </a:moveTo>
                <a:lnTo>
                  <a:pt x="1944434" y="0"/>
                </a:lnTo>
                <a:lnTo>
                  <a:pt x="1944434" y="1277683"/>
                </a:lnTo>
                <a:lnTo>
                  <a:pt x="0" y="127768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09" r="0" b="-109"/>
            </a:stretch>
          </a:blipFill>
        </p:spPr>
      </p:sp>
      <p:grpSp>
        <p:nvGrpSpPr>
          <p:cNvPr name="Group 153" id="153"/>
          <p:cNvGrpSpPr/>
          <p:nvPr/>
        </p:nvGrpSpPr>
        <p:grpSpPr>
          <a:xfrm rot="0">
            <a:off x="36877" y="54527"/>
            <a:ext cx="1915887" cy="1291961"/>
            <a:chOff x="0" y="0"/>
            <a:chExt cx="2554516" cy="1722615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2554478" cy="1722628"/>
            </a:xfrm>
            <a:custGeom>
              <a:avLst/>
              <a:gdLst/>
              <a:ahLst/>
              <a:cxnLst/>
              <a:rect r="r" b="b" t="t" l="l"/>
              <a:pathLst>
                <a:path h="1722628" w="2554478">
                  <a:moveTo>
                    <a:pt x="0" y="0"/>
                  </a:moveTo>
                  <a:lnTo>
                    <a:pt x="2554478" y="0"/>
                  </a:lnTo>
                  <a:lnTo>
                    <a:pt x="2554478" y="1722628"/>
                  </a:lnTo>
                  <a:lnTo>
                    <a:pt x="0" y="172262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36580" t="0" r="-36582" b="0"/>
              </a:stretch>
            </a:blipFill>
          </p:spPr>
        </p:sp>
      </p:grpSp>
      <p:grpSp>
        <p:nvGrpSpPr>
          <p:cNvPr name="Group 155" id="155"/>
          <p:cNvGrpSpPr/>
          <p:nvPr/>
        </p:nvGrpSpPr>
        <p:grpSpPr>
          <a:xfrm rot="0">
            <a:off x="36877" y="11664"/>
            <a:ext cx="1915887" cy="1334824"/>
            <a:chOff x="0" y="0"/>
            <a:chExt cx="2554516" cy="1779765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2554516" cy="1779765"/>
            </a:xfrm>
            <a:custGeom>
              <a:avLst/>
              <a:gdLst/>
              <a:ahLst/>
              <a:cxnLst/>
              <a:rect r="r" b="b" t="t" l="l"/>
              <a:pathLst>
                <a:path h="1779765" w="2554516">
                  <a:moveTo>
                    <a:pt x="0" y="0"/>
                  </a:moveTo>
                  <a:lnTo>
                    <a:pt x="2554516" y="0"/>
                  </a:lnTo>
                  <a:lnTo>
                    <a:pt x="2554516" y="1779765"/>
                  </a:lnTo>
                  <a:lnTo>
                    <a:pt x="0" y="177976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9390" t="0" r="-39390" b="0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-57150"/>
              <a:ext cx="2554516" cy="18369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AURA</a:t>
              </a:r>
            </a:p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fox</a:t>
              </a: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14837653" y="54861"/>
            <a:ext cx="3374803" cy="1593532"/>
            <a:chOff x="0" y="0"/>
            <a:chExt cx="4499737" cy="2124710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59" r="0" b="-60"/>
              </a:stretch>
            </a:blipFill>
          </p:spPr>
        </p:sp>
      </p:grpSp>
      <p:grpSp>
        <p:nvGrpSpPr>
          <p:cNvPr name="Group 160" id="160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162" id="162"/>
          <p:cNvGrpSpPr/>
          <p:nvPr/>
        </p:nvGrpSpPr>
        <p:grpSpPr>
          <a:xfrm rot="0">
            <a:off x="13106400" y="9505950"/>
            <a:ext cx="4267200" cy="576262"/>
            <a:chOff x="0" y="0"/>
            <a:chExt cx="5689600" cy="768350"/>
          </a:xfrm>
        </p:grpSpPr>
        <p:sp>
          <p:nvSpPr>
            <p:cNvPr name="Freeform 163" id="163"/>
            <p:cNvSpPr/>
            <p:nvPr/>
          </p:nvSpPr>
          <p:spPr>
            <a:xfrm flipH="false" flipV="false" rot="0">
              <a:off x="0" y="0"/>
              <a:ext cx="5689600" cy="768350"/>
            </a:xfrm>
            <a:custGeom>
              <a:avLst/>
              <a:gdLst/>
              <a:ahLst/>
              <a:cxnLst/>
              <a:rect r="r" b="b" t="t" l="l"/>
              <a:pathLst>
                <a:path h="7683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68350"/>
                  </a:lnTo>
                  <a:lnTo>
                    <a:pt x="0" y="7683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4285" r="0" b="-94285"/>
              </a:stretch>
            </a:blipFill>
          </p:spPr>
        </p:sp>
        <p:sp>
          <p:nvSpPr>
            <p:cNvPr name="TextBox 164" id="164"/>
            <p:cNvSpPr txBox="true"/>
            <p:nvPr/>
          </p:nvSpPr>
          <p:spPr>
            <a:xfrm>
              <a:off x="0" y="-19050"/>
              <a:ext cx="5689600" cy="787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958" y="13525"/>
            <a:ext cx="18297525" cy="10296525"/>
            <a:chOff x="0" y="0"/>
            <a:chExt cx="24396700" cy="13728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700" cy="13728700"/>
            </a:xfrm>
            <a:custGeom>
              <a:avLst/>
              <a:gdLst/>
              <a:ahLst/>
              <a:cxnLst/>
              <a:rect r="r" b="b" t="t" l="l"/>
              <a:pathLst>
                <a:path h="13728700" w="24396700">
                  <a:moveTo>
                    <a:pt x="0" y="0"/>
                  </a:moveTo>
                  <a:lnTo>
                    <a:pt x="24396700" y="0"/>
                  </a:lnTo>
                  <a:lnTo>
                    <a:pt x="24396700" y="13728700"/>
                  </a:lnTo>
                  <a:lnTo>
                    <a:pt x="0" y="13728700"/>
                  </a:lnTo>
                  <a:close/>
                </a:path>
              </a:pathLst>
            </a:custGeom>
            <a:solidFill>
              <a:srgbClr val="081327"/>
            </a:solidFill>
            <a:ln w="9525" cap="sq">
              <a:solidFill>
                <a:srgbClr val="081327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4762" y="13526"/>
            <a:ext cx="18297525" cy="41529"/>
            <a:chOff x="0" y="0"/>
            <a:chExt cx="24396700" cy="5537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96700" cy="55372"/>
            </a:xfrm>
            <a:custGeom>
              <a:avLst/>
              <a:gdLst/>
              <a:ahLst/>
              <a:cxnLst/>
              <a:rect r="r" b="b" t="t" l="l"/>
              <a:pathLst>
                <a:path h="55372" w="24396700">
                  <a:moveTo>
                    <a:pt x="0" y="0"/>
                  </a:moveTo>
                  <a:lnTo>
                    <a:pt x="24396700" y="0"/>
                  </a:lnTo>
                  <a:lnTo>
                    <a:pt x="24396700" y="55372"/>
                  </a:lnTo>
                  <a:lnTo>
                    <a:pt x="0" y="55372"/>
                  </a:lnTo>
                  <a:close/>
                </a:path>
              </a:pathLst>
            </a:custGeom>
            <a:solidFill>
              <a:srgbClr val="8C96A5"/>
            </a:solidFill>
            <a:ln w="9525" cap="sq">
              <a:solidFill>
                <a:srgbClr val="8C96A5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-4762" y="10236518"/>
            <a:ext cx="18297525" cy="41529"/>
            <a:chOff x="0" y="0"/>
            <a:chExt cx="24396700" cy="553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96700" cy="55372"/>
            </a:xfrm>
            <a:custGeom>
              <a:avLst/>
              <a:gdLst/>
              <a:ahLst/>
              <a:cxnLst/>
              <a:rect r="r" b="b" t="t" l="l"/>
              <a:pathLst>
                <a:path h="55372" w="24396700">
                  <a:moveTo>
                    <a:pt x="0" y="0"/>
                  </a:moveTo>
                  <a:lnTo>
                    <a:pt x="24396700" y="0"/>
                  </a:lnTo>
                  <a:lnTo>
                    <a:pt x="24396700" y="55372"/>
                  </a:lnTo>
                  <a:lnTo>
                    <a:pt x="0" y="55372"/>
                  </a:lnTo>
                  <a:close/>
                </a:path>
              </a:pathLst>
            </a:custGeom>
            <a:solidFill>
              <a:srgbClr val="8C96A5"/>
            </a:solidFill>
            <a:ln w="9525" cap="sq">
              <a:solidFill>
                <a:srgbClr val="8C96A5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3406140" y="103632"/>
            <a:ext cx="11777882" cy="1093660"/>
            <a:chOff x="0" y="0"/>
            <a:chExt cx="8534400" cy="7924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534400" cy="792480"/>
            </a:xfrm>
            <a:custGeom>
              <a:avLst/>
              <a:gdLst/>
              <a:ahLst/>
              <a:cxnLst/>
              <a:rect r="r" b="b" t="t" l="l"/>
              <a:pathLst>
                <a:path h="79248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792480"/>
                  </a:lnTo>
                  <a:lnTo>
                    <a:pt x="0" y="792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9838" r="0" b="-15983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8534400" cy="792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59"/>
                </a:lnSpc>
              </a:pPr>
              <a:r>
                <a:rPr lang="en-US" sz="3799" b="true">
                  <a:solidFill>
                    <a:srgbClr val="F5F7F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IMPACT &amp; BENEFITS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25005" y="1778317"/>
            <a:ext cx="512445" cy="512445"/>
            <a:chOff x="0" y="0"/>
            <a:chExt cx="683260" cy="6832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83260" cy="683260"/>
            </a:xfrm>
            <a:custGeom>
              <a:avLst/>
              <a:gdLst/>
              <a:ahLst/>
              <a:cxnLst/>
              <a:rect r="r" b="b" t="t" l="l"/>
              <a:pathLst>
                <a:path h="683260" w="683260">
                  <a:moveTo>
                    <a:pt x="0" y="82042"/>
                  </a:moveTo>
                  <a:cubicBezTo>
                    <a:pt x="0" y="36703"/>
                    <a:pt x="36703" y="0"/>
                    <a:pt x="82042" y="0"/>
                  </a:cubicBezTo>
                  <a:lnTo>
                    <a:pt x="601218" y="0"/>
                  </a:lnTo>
                  <a:cubicBezTo>
                    <a:pt x="646557" y="0"/>
                    <a:pt x="683260" y="36703"/>
                    <a:pt x="683260" y="82042"/>
                  </a:cubicBezTo>
                  <a:lnTo>
                    <a:pt x="683260" y="601218"/>
                  </a:lnTo>
                  <a:cubicBezTo>
                    <a:pt x="683260" y="646557"/>
                    <a:pt x="646557" y="683260"/>
                    <a:pt x="601218" y="683260"/>
                  </a:cubicBezTo>
                  <a:lnTo>
                    <a:pt x="82042" y="683260"/>
                  </a:lnTo>
                  <a:cubicBezTo>
                    <a:pt x="36703" y="683260"/>
                    <a:pt x="0" y="646557"/>
                    <a:pt x="0" y="601218"/>
                  </a:cubicBezTo>
                  <a:close/>
                </a:path>
              </a:pathLst>
            </a:custGeom>
            <a:solidFill>
              <a:srgbClr val="C52A2D"/>
            </a:solidFill>
            <a:ln w="9525" cap="sq">
              <a:solidFill>
                <a:srgbClr val="C52A2D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429768" y="1783080"/>
            <a:ext cx="502920" cy="502920"/>
            <a:chOff x="0" y="0"/>
            <a:chExt cx="670560" cy="6705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70560" cy="670560"/>
            </a:xfrm>
            <a:custGeom>
              <a:avLst/>
              <a:gdLst/>
              <a:ahLst/>
              <a:cxnLst/>
              <a:rect r="r" b="b" t="t" l="l"/>
              <a:pathLst>
                <a:path h="670560" w="670560">
                  <a:moveTo>
                    <a:pt x="0" y="0"/>
                  </a:moveTo>
                  <a:lnTo>
                    <a:pt x="670560" y="0"/>
                  </a:lnTo>
                  <a:lnTo>
                    <a:pt x="670560" y="670560"/>
                  </a:lnTo>
                  <a:lnTo>
                    <a:pt x="0" y="670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670560" cy="670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5F7F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01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55357" y="1549718"/>
            <a:ext cx="4901565" cy="1243965"/>
            <a:chOff x="0" y="0"/>
            <a:chExt cx="6535420" cy="16586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535420" cy="1658620"/>
            </a:xfrm>
            <a:custGeom>
              <a:avLst/>
              <a:gdLst/>
              <a:ahLst/>
              <a:cxnLst/>
              <a:rect r="r" b="b" t="t" l="l"/>
              <a:pathLst>
                <a:path h="1658620" w="6535420">
                  <a:moveTo>
                    <a:pt x="0" y="199009"/>
                  </a:moveTo>
                  <a:cubicBezTo>
                    <a:pt x="0" y="89154"/>
                    <a:pt x="89154" y="0"/>
                    <a:pt x="199009" y="0"/>
                  </a:cubicBezTo>
                  <a:lnTo>
                    <a:pt x="6336411" y="0"/>
                  </a:lnTo>
                  <a:cubicBezTo>
                    <a:pt x="6446393" y="0"/>
                    <a:pt x="6535420" y="89154"/>
                    <a:pt x="6535420" y="199009"/>
                  </a:cubicBezTo>
                  <a:lnTo>
                    <a:pt x="6535420" y="1459611"/>
                  </a:lnTo>
                  <a:cubicBezTo>
                    <a:pt x="6535420" y="1569593"/>
                    <a:pt x="6446266" y="1658620"/>
                    <a:pt x="6336411" y="1658620"/>
                  </a:cubicBezTo>
                  <a:lnTo>
                    <a:pt x="199009" y="1658620"/>
                  </a:lnTo>
                  <a:cubicBezTo>
                    <a:pt x="89154" y="1658620"/>
                    <a:pt x="0" y="1569466"/>
                    <a:pt x="0" y="1459611"/>
                  </a:cubicBezTo>
                  <a:close/>
                </a:path>
              </a:pathLst>
            </a:custGeom>
            <a:solidFill>
              <a:srgbClr val="F4F5F6"/>
            </a:solidFill>
            <a:ln w="9525" cap="sq">
              <a:solidFill>
                <a:srgbClr val="C52A2D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119950" y="1705166"/>
            <a:ext cx="521589" cy="521589"/>
            <a:chOff x="0" y="0"/>
            <a:chExt cx="695452" cy="69545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95452" cy="695452"/>
            </a:xfrm>
            <a:custGeom>
              <a:avLst/>
              <a:gdLst/>
              <a:ahLst/>
              <a:cxnLst/>
              <a:rect r="r" b="b" t="t" l="l"/>
              <a:pathLst>
                <a:path h="695452" w="695452">
                  <a:moveTo>
                    <a:pt x="0" y="347726"/>
                  </a:moveTo>
                  <a:cubicBezTo>
                    <a:pt x="0" y="155702"/>
                    <a:pt x="155702" y="0"/>
                    <a:pt x="347726" y="0"/>
                  </a:cubicBezTo>
                  <a:cubicBezTo>
                    <a:pt x="539750" y="0"/>
                    <a:pt x="695452" y="155702"/>
                    <a:pt x="695452" y="347726"/>
                  </a:cubicBezTo>
                  <a:cubicBezTo>
                    <a:pt x="695452" y="539750"/>
                    <a:pt x="539750" y="695452"/>
                    <a:pt x="347726" y="695452"/>
                  </a:cubicBezTo>
                  <a:cubicBezTo>
                    <a:pt x="155702" y="695452"/>
                    <a:pt x="0" y="539750"/>
                    <a:pt x="0" y="347726"/>
                  </a:cubicBezTo>
                  <a:close/>
                </a:path>
              </a:pathLst>
            </a:custGeom>
            <a:solidFill>
              <a:srgbClr val="E2E6EB"/>
            </a:solidFill>
            <a:ln w="9525" cap="sq">
              <a:solidFill>
                <a:srgbClr val="C52A2D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695452" cy="695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C52A2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828800" y="1609870"/>
            <a:ext cx="3840480" cy="356090"/>
            <a:chOff x="0" y="0"/>
            <a:chExt cx="5120640" cy="47478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120639" cy="474786"/>
            </a:xfrm>
            <a:custGeom>
              <a:avLst/>
              <a:gdLst/>
              <a:ahLst/>
              <a:cxnLst/>
              <a:rect r="r" b="b" t="t" l="l"/>
              <a:pathLst>
                <a:path h="474786" w="5120639">
                  <a:moveTo>
                    <a:pt x="0" y="0"/>
                  </a:moveTo>
                  <a:lnTo>
                    <a:pt x="5120639" y="0"/>
                  </a:lnTo>
                  <a:lnTo>
                    <a:pt x="5120639" y="474786"/>
                  </a:lnTo>
                  <a:lnTo>
                    <a:pt x="0" y="47478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4198" r="0" b="-146099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5120640" cy="4747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 b="true">
                  <a:solidFill>
                    <a:srgbClr val="C52A2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FRAUD PREVENTION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828800" y="1965960"/>
            <a:ext cx="3840480" cy="774312"/>
            <a:chOff x="0" y="0"/>
            <a:chExt cx="5120640" cy="103241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120639" cy="1032415"/>
            </a:xfrm>
            <a:custGeom>
              <a:avLst/>
              <a:gdLst/>
              <a:ahLst/>
              <a:cxnLst/>
              <a:rect r="r" b="b" t="t" l="l"/>
              <a:pathLst>
                <a:path h="1032415" w="5120639">
                  <a:moveTo>
                    <a:pt x="0" y="0"/>
                  </a:moveTo>
                  <a:lnTo>
                    <a:pt x="5120639" y="0"/>
                  </a:lnTo>
                  <a:lnTo>
                    <a:pt x="5120639" y="1032415"/>
                  </a:lnTo>
                  <a:lnTo>
                    <a:pt x="0" y="10324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034" r="0" b="-33251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5120640" cy="1032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42"/>
                </a:lnSpc>
              </a:pPr>
              <a:r>
                <a:rPr lang="en-US" sz="1618">
                  <a:solidFill>
                    <a:srgbClr val="28303A"/>
                  </a:solidFill>
                  <a:latin typeface="Aptos"/>
                  <a:ea typeface="Aptos"/>
                  <a:cs typeface="Aptos"/>
                  <a:sym typeface="Aptos"/>
                </a:rPr>
                <a:t>Detects AI-generated voices before attackers can manipulate high-risk transactions or approvals.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425005" y="3378517"/>
            <a:ext cx="512445" cy="512445"/>
            <a:chOff x="0" y="0"/>
            <a:chExt cx="683260" cy="6832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83260" cy="683260"/>
            </a:xfrm>
            <a:custGeom>
              <a:avLst/>
              <a:gdLst/>
              <a:ahLst/>
              <a:cxnLst/>
              <a:rect r="r" b="b" t="t" l="l"/>
              <a:pathLst>
                <a:path h="683260" w="683260">
                  <a:moveTo>
                    <a:pt x="0" y="82042"/>
                  </a:moveTo>
                  <a:cubicBezTo>
                    <a:pt x="0" y="36703"/>
                    <a:pt x="36703" y="0"/>
                    <a:pt x="82042" y="0"/>
                  </a:cubicBezTo>
                  <a:lnTo>
                    <a:pt x="601218" y="0"/>
                  </a:lnTo>
                  <a:cubicBezTo>
                    <a:pt x="646557" y="0"/>
                    <a:pt x="683260" y="36703"/>
                    <a:pt x="683260" y="82042"/>
                  </a:cubicBezTo>
                  <a:lnTo>
                    <a:pt x="683260" y="601218"/>
                  </a:lnTo>
                  <a:cubicBezTo>
                    <a:pt x="683260" y="646557"/>
                    <a:pt x="646557" y="683260"/>
                    <a:pt x="601218" y="683260"/>
                  </a:cubicBezTo>
                  <a:lnTo>
                    <a:pt x="82042" y="683260"/>
                  </a:lnTo>
                  <a:cubicBezTo>
                    <a:pt x="36703" y="683260"/>
                    <a:pt x="0" y="646557"/>
                    <a:pt x="0" y="601218"/>
                  </a:cubicBezTo>
                  <a:close/>
                </a:path>
              </a:pathLst>
            </a:custGeom>
            <a:solidFill>
              <a:srgbClr val="257D81"/>
            </a:solidFill>
            <a:ln w="9525" cap="sq">
              <a:solidFill>
                <a:srgbClr val="257D81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429768" y="3383280"/>
            <a:ext cx="502920" cy="502920"/>
            <a:chOff x="0" y="0"/>
            <a:chExt cx="670560" cy="67056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70560" cy="670560"/>
            </a:xfrm>
            <a:custGeom>
              <a:avLst/>
              <a:gdLst/>
              <a:ahLst/>
              <a:cxnLst/>
              <a:rect r="r" b="b" t="t" l="l"/>
              <a:pathLst>
                <a:path h="670560" w="670560">
                  <a:moveTo>
                    <a:pt x="0" y="0"/>
                  </a:moveTo>
                  <a:lnTo>
                    <a:pt x="670560" y="0"/>
                  </a:lnTo>
                  <a:lnTo>
                    <a:pt x="670560" y="670560"/>
                  </a:lnTo>
                  <a:lnTo>
                    <a:pt x="0" y="670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670560" cy="670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5F7F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02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55357" y="3149917"/>
            <a:ext cx="4901565" cy="1243965"/>
            <a:chOff x="0" y="0"/>
            <a:chExt cx="6535420" cy="16586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535420" cy="1658620"/>
            </a:xfrm>
            <a:custGeom>
              <a:avLst/>
              <a:gdLst/>
              <a:ahLst/>
              <a:cxnLst/>
              <a:rect r="r" b="b" t="t" l="l"/>
              <a:pathLst>
                <a:path h="1658620" w="6535420">
                  <a:moveTo>
                    <a:pt x="0" y="199009"/>
                  </a:moveTo>
                  <a:cubicBezTo>
                    <a:pt x="0" y="89154"/>
                    <a:pt x="89154" y="0"/>
                    <a:pt x="199009" y="0"/>
                  </a:cubicBezTo>
                  <a:lnTo>
                    <a:pt x="6336411" y="0"/>
                  </a:lnTo>
                  <a:cubicBezTo>
                    <a:pt x="6446393" y="0"/>
                    <a:pt x="6535420" y="89154"/>
                    <a:pt x="6535420" y="199009"/>
                  </a:cubicBezTo>
                  <a:lnTo>
                    <a:pt x="6535420" y="1459611"/>
                  </a:lnTo>
                  <a:cubicBezTo>
                    <a:pt x="6535420" y="1569593"/>
                    <a:pt x="6446266" y="1658620"/>
                    <a:pt x="6336411" y="1658620"/>
                  </a:cubicBezTo>
                  <a:lnTo>
                    <a:pt x="199009" y="1658620"/>
                  </a:lnTo>
                  <a:cubicBezTo>
                    <a:pt x="89154" y="1658620"/>
                    <a:pt x="0" y="1569466"/>
                    <a:pt x="0" y="1459611"/>
                  </a:cubicBezTo>
                  <a:close/>
                </a:path>
              </a:pathLst>
            </a:custGeom>
            <a:solidFill>
              <a:srgbClr val="F4F5F6"/>
            </a:solidFill>
            <a:ln w="9525" cap="sq">
              <a:solidFill>
                <a:srgbClr val="257D81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119950" y="3305366"/>
            <a:ext cx="521589" cy="521589"/>
            <a:chOff x="0" y="0"/>
            <a:chExt cx="695452" cy="69545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95452" cy="695452"/>
            </a:xfrm>
            <a:custGeom>
              <a:avLst/>
              <a:gdLst/>
              <a:ahLst/>
              <a:cxnLst/>
              <a:rect r="r" b="b" t="t" l="l"/>
              <a:pathLst>
                <a:path h="695452" w="695452">
                  <a:moveTo>
                    <a:pt x="0" y="347726"/>
                  </a:moveTo>
                  <a:cubicBezTo>
                    <a:pt x="0" y="155702"/>
                    <a:pt x="155702" y="0"/>
                    <a:pt x="347726" y="0"/>
                  </a:cubicBezTo>
                  <a:cubicBezTo>
                    <a:pt x="539750" y="0"/>
                    <a:pt x="695452" y="155702"/>
                    <a:pt x="695452" y="347726"/>
                  </a:cubicBezTo>
                  <a:cubicBezTo>
                    <a:pt x="695452" y="539750"/>
                    <a:pt x="539750" y="695452"/>
                    <a:pt x="347726" y="695452"/>
                  </a:cubicBezTo>
                  <a:cubicBezTo>
                    <a:pt x="155702" y="695452"/>
                    <a:pt x="0" y="539750"/>
                    <a:pt x="0" y="347726"/>
                  </a:cubicBezTo>
                  <a:close/>
                </a:path>
              </a:pathLst>
            </a:custGeom>
            <a:solidFill>
              <a:srgbClr val="E2E6EB"/>
            </a:solidFill>
            <a:ln w="9525" cap="sq">
              <a:solidFill>
                <a:srgbClr val="257D81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695452" cy="695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257D81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759213" y="3191020"/>
            <a:ext cx="3840480" cy="356090"/>
            <a:chOff x="0" y="0"/>
            <a:chExt cx="5120640" cy="47478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120639" cy="474786"/>
            </a:xfrm>
            <a:custGeom>
              <a:avLst/>
              <a:gdLst/>
              <a:ahLst/>
              <a:cxnLst/>
              <a:rect r="r" b="b" t="t" l="l"/>
              <a:pathLst>
                <a:path h="474786" w="5120639">
                  <a:moveTo>
                    <a:pt x="0" y="0"/>
                  </a:moveTo>
                  <a:lnTo>
                    <a:pt x="5120639" y="0"/>
                  </a:lnTo>
                  <a:lnTo>
                    <a:pt x="5120639" y="474786"/>
                  </a:lnTo>
                  <a:lnTo>
                    <a:pt x="0" y="47478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4198" r="0" b="-146099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5120640" cy="4747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 b="true">
                  <a:solidFill>
                    <a:srgbClr val="257D81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REAL-TIME PROTECTION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828800" y="3566160"/>
            <a:ext cx="3840480" cy="774312"/>
            <a:chOff x="0" y="0"/>
            <a:chExt cx="5120640" cy="1032415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120639" cy="1032415"/>
            </a:xfrm>
            <a:custGeom>
              <a:avLst/>
              <a:gdLst/>
              <a:ahLst/>
              <a:cxnLst/>
              <a:rect r="r" b="b" t="t" l="l"/>
              <a:pathLst>
                <a:path h="1032415" w="5120639">
                  <a:moveTo>
                    <a:pt x="0" y="0"/>
                  </a:moveTo>
                  <a:lnTo>
                    <a:pt x="5120639" y="0"/>
                  </a:lnTo>
                  <a:lnTo>
                    <a:pt x="5120639" y="1032415"/>
                  </a:lnTo>
                  <a:lnTo>
                    <a:pt x="0" y="10324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034" r="0" b="-33251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5120640" cy="1032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42"/>
                </a:lnSpc>
              </a:pPr>
              <a:r>
                <a:rPr lang="en-US" sz="1618">
                  <a:solidFill>
                    <a:srgbClr val="28303A"/>
                  </a:solidFill>
                  <a:latin typeface="Aptos"/>
                  <a:ea typeface="Aptos"/>
                  <a:cs typeface="Aptos"/>
                  <a:sym typeface="Aptos"/>
                </a:rPr>
                <a:t>Provides warnings while the conversation is still happening instead of analyzing the call afterward.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425005" y="4978718"/>
            <a:ext cx="512445" cy="512445"/>
            <a:chOff x="0" y="0"/>
            <a:chExt cx="683260" cy="68326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83260" cy="683260"/>
            </a:xfrm>
            <a:custGeom>
              <a:avLst/>
              <a:gdLst/>
              <a:ahLst/>
              <a:cxnLst/>
              <a:rect r="r" b="b" t="t" l="l"/>
              <a:pathLst>
                <a:path h="683260" w="683260">
                  <a:moveTo>
                    <a:pt x="0" y="82042"/>
                  </a:moveTo>
                  <a:cubicBezTo>
                    <a:pt x="0" y="36703"/>
                    <a:pt x="36703" y="0"/>
                    <a:pt x="82042" y="0"/>
                  </a:cubicBezTo>
                  <a:lnTo>
                    <a:pt x="601218" y="0"/>
                  </a:lnTo>
                  <a:cubicBezTo>
                    <a:pt x="646557" y="0"/>
                    <a:pt x="683260" y="36703"/>
                    <a:pt x="683260" y="82042"/>
                  </a:cubicBezTo>
                  <a:lnTo>
                    <a:pt x="683260" y="601218"/>
                  </a:lnTo>
                  <a:cubicBezTo>
                    <a:pt x="683260" y="646557"/>
                    <a:pt x="646557" y="683260"/>
                    <a:pt x="601218" y="683260"/>
                  </a:cubicBezTo>
                  <a:lnTo>
                    <a:pt x="82042" y="683260"/>
                  </a:lnTo>
                  <a:cubicBezTo>
                    <a:pt x="36703" y="683260"/>
                    <a:pt x="0" y="646557"/>
                    <a:pt x="0" y="601218"/>
                  </a:cubicBezTo>
                  <a:close/>
                </a:path>
              </a:pathLst>
            </a:custGeom>
            <a:solidFill>
              <a:srgbClr val="60378C"/>
            </a:solidFill>
            <a:ln w="9525" cap="sq">
              <a:solidFill>
                <a:srgbClr val="60378C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429768" y="4983480"/>
            <a:ext cx="502920" cy="502920"/>
            <a:chOff x="0" y="0"/>
            <a:chExt cx="670560" cy="67056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70560" cy="670560"/>
            </a:xfrm>
            <a:custGeom>
              <a:avLst/>
              <a:gdLst/>
              <a:ahLst/>
              <a:cxnLst/>
              <a:rect r="r" b="b" t="t" l="l"/>
              <a:pathLst>
                <a:path h="670560" w="670560">
                  <a:moveTo>
                    <a:pt x="0" y="0"/>
                  </a:moveTo>
                  <a:lnTo>
                    <a:pt x="670560" y="0"/>
                  </a:lnTo>
                  <a:lnTo>
                    <a:pt x="670560" y="670560"/>
                  </a:lnTo>
                  <a:lnTo>
                    <a:pt x="0" y="670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670560" cy="670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5F7F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03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55357" y="4750118"/>
            <a:ext cx="4901565" cy="1243965"/>
            <a:chOff x="0" y="0"/>
            <a:chExt cx="6535420" cy="165862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535420" cy="1658620"/>
            </a:xfrm>
            <a:custGeom>
              <a:avLst/>
              <a:gdLst/>
              <a:ahLst/>
              <a:cxnLst/>
              <a:rect r="r" b="b" t="t" l="l"/>
              <a:pathLst>
                <a:path h="1658620" w="6535420">
                  <a:moveTo>
                    <a:pt x="0" y="199009"/>
                  </a:moveTo>
                  <a:cubicBezTo>
                    <a:pt x="0" y="89154"/>
                    <a:pt x="89154" y="0"/>
                    <a:pt x="199009" y="0"/>
                  </a:cubicBezTo>
                  <a:lnTo>
                    <a:pt x="6336411" y="0"/>
                  </a:lnTo>
                  <a:cubicBezTo>
                    <a:pt x="6446393" y="0"/>
                    <a:pt x="6535420" y="89154"/>
                    <a:pt x="6535420" y="199009"/>
                  </a:cubicBezTo>
                  <a:lnTo>
                    <a:pt x="6535420" y="1459611"/>
                  </a:lnTo>
                  <a:cubicBezTo>
                    <a:pt x="6535420" y="1569593"/>
                    <a:pt x="6446266" y="1658620"/>
                    <a:pt x="6336411" y="1658620"/>
                  </a:cubicBezTo>
                  <a:lnTo>
                    <a:pt x="199009" y="1658620"/>
                  </a:lnTo>
                  <a:cubicBezTo>
                    <a:pt x="89154" y="1658620"/>
                    <a:pt x="0" y="1569466"/>
                    <a:pt x="0" y="1459611"/>
                  </a:cubicBezTo>
                  <a:close/>
                </a:path>
              </a:pathLst>
            </a:custGeom>
            <a:solidFill>
              <a:srgbClr val="F4F5F6"/>
            </a:solidFill>
            <a:ln w="9525" cap="sq">
              <a:solidFill>
                <a:srgbClr val="60378C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1119950" y="4905566"/>
            <a:ext cx="521589" cy="521589"/>
            <a:chOff x="0" y="0"/>
            <a:chExt cx="695452" cy="69545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95452" cy="695452"/>
            </a:xfrm>
            <a:custGeom>
              <a:avLst/>
              <a:gdLst/>
              <a:ahLst/>
              <a:cxnLst/>
              <a:rect r="r" b="b" t="t" l="l"/>
              <a:pathLst>
                <a:path h="695452" w="695452">
                  <a:moveTo>
                    <a:pt x="0" y="347726"/>
                  </a:moveTo>
                  <a:cubicBezTo>
                    <a:pt x="0" y="155702"/>
                    <a:pt x="155702" y="0"/>
                    <a:pt x="347726" y="0"/>
                  </a:cubicBezTo>
                  <a:cubicBezTo>
                    <a:pt x="539750" y="0"/>
                    <a:pt x="695452" y="155702"/>
                    <a:pt x="695452" y="347726"/>
                  </a:cubicBezTo>
                  <a:cubicBezTo>
                    <a:pt x="695452" y="539750"/>
                    <a:pt x="539750" y="695452"/>
                    <a:pt x="347726" y="695452"/>
                  </a:cubicBezTo>
                  <a:cubicBezTo>
                    <a:pt x="155702" y="695452"/>
                    <a:pt x="0" y="539750"/>
                    <a:pt x="0" y="347726"/>
                  </a:cubicBezTo>
                  <a:close/>
                </a:path>
              </a:pathLst>
            </a:custGeom>
            <a:solidFill>
              <a:srgbClr val="E2E6EB"/>
            </a:solidFill>
            <a:ln w="9525" cap="sq">
              <a:solidFill>
                <a:srgbClr val="60378C"/>
              </a:solidFill>
              <a:prstDash val="solid"/>
              <a:miter/>
            </a:ln>
          </p:spPr>
        </p:sp>
        <p:sp>
          <p:nvSpPr>
            <p:cNvPr name="TextBox 52" id="52"/>
            <p:cNvSpPr txBox="true"/>
            <p:nvPr/>
          </p:nvSpPr>
          <p:spPr>
            <a:xfrm>
              <a:off x="0" y="0"/>
              <a:ext cx="695452" cy="695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60378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828800" y="4787410"/>
            <a:ext cx="3840480" cy="356090"/>
            <a:chOff x="0" y="0"/>
            <a:chExt cx="5120640" cy="47478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120639" cy="474786"/>
            </a:xfrm>
            <a:custGeom>
              <a:avLst/>
              <a:gdLst/>
              <a:ahLst/>
              <a:cxnLst/>
              <a:rect r="r" b="b" t="t" l="l"/>
              <a:pathLst>
                <a:path h="474786" w="5120639">
                  <a:moveTo>
                    <a:pt x="0" y="0"/>
                  </a:moveTo>
                  <a:lnTo>
                    <a:pt x="5120639" y="0"/>
                  </a:lnTo>
                  <a:lnTo>
                    <a:pt x="5120639" y="474786"/>
                  </a:lnTo>
                  <a:lnTo>
                    <a:pt x="0" y="47478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4198" r="0" b="-146099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5120640" cy="4747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 b="true">
                  <a:solidFill>
                    <a:srgbClr val="60378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REDUCED SOCIAL ENGINEERING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828800" y="5166360"/>
            <a:ext cx="3840480" cy="774312"/>
            <a:chOff x="0" y="0"/>
            <a:chExt cx="5120640" cy="1032415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120639" cy="1032415"/>
            </a:xfrm>
            <a:custGeom>
              <a:avLst/>
              <a:gdLst/>
              <a:ahLst/>
              <a:cxnLst/>
              <a:rect r="r" b="b" t="t" l="l"/>
              <a:pathLst>
                <a:path h="1032415" w="5120639">
                  <a:moveTo>
                    <a:pt x="0" y="0"/>
                  </a:moveTo>
                  <a:lnTo>
                    <a:pt x="5120639" y="0"/>
                  </a:lnTo>
                  <a:lnTo>
                    <a:pt x="5120639" y="1032415"/>
                  </a:lnTo>
                  <a:lnTo>
                    <a:pt x="0" y="10324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034" r="0" b="-33251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0"/>
              <a:ext cx="5120640" cy="1032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42"/>
                </a:lnSpc>
              </a:pPr>
              <a:r>
                <a:rPr lang="en-US" sz="1618">
                  <a:solidFill>
                    <a:srgbClr val="28303A"/>
                  </a:solidFill>
                  <a:latin typeface="Aptos"/>
                  <a:ea typeface="Aptos"/>
                  <a:cs typeface="Aptos"/>
                  <a:sym typeface="Aptos"/>
                </a:rPr>
                <a:t>Helps identify impersonation of executives, officials, employees and trusted individuals.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425005" y="6578918"/>
            <a:ext cx="512445" cy="512445"/>
            <a:chOff x="0" y="0"/>
            <a:chExt cx="683260" cy="68326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83260" cy="683260"/>
            </a:xfrm>
            <a:custGeom>
              <a:avLst/>
              <a:gdLst/>
              <a:ahLst/>
              <a:cxnLst/>
              <a:rect r="r" b="b" t="t" l="l"/>
              <a:pathLst>
                <a:path h="683260" w="683260">
                  <a:moveTo>
                    <a:pt x="0" y="82042"/>
                  </a:moveTo>
                  <a:cubicBezTo>
                    <a:pt x="0" y="36703"/>
                    <a:pt x="36703" y="0"/>
                    <a:pt x="82042" y="0"/>
                  </a:cubicBezTo>
                  <a:lnTo>
                    <a:pt x="601218" y="0"/>
                  </a:lnTo>
                  <a:cubicBezTo>
                    <a:pt x="646557" y="0"/>
                    <a:pt x="683260" y="36703"/>
                    <a:pt x="683260" y="82042"/>
                  </a:cubicBezTo>
                  <a:lnTo>
                    <a:pt x="683260" y="601218"/>
                  </a:lnTo>
                  <a:cubicBezTo>
                    <a:pt x="683260" y="646557"/>
                    <a:pt x="646557" y="683260"/>
                    <a:pt x="601218" y="683260"/>
                  </a:cubicBezTo>
                  <a:lnTo>
                    <a:pt x="82042" y="683260"/>
                  </a:lnTo>
                  <a:cubicBezTo>
                    <a:pt x="36703" y="683260"/>
                    <a:pt x="0" y="646557"/>
                    <a:pt x="0" y="601218"/>
                  </a:cubicBezTo>
                  <a:close/>
                </a:path>
              </a:pathLst>
            </a:custGeom>
            <a:solidFill>
              <a:srgbClr val="3060A5"/>
            </a:solidFill>
            <a:ln w="9525" cap="sq">
              <a:solidFill>
                <a:srgbClr val="3060A5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429768" y="6583680"/>
            <a:ext cx="502920" cy="502920"/>
            <a:chOff x="0" y="0"/>
            <a:chExt cx="670560" cy="67056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670560" cy="670560"/>
            </a:xfrm>
            <a:custGeom>
              <a:avLst/>
              <a:gdLst/>
              <a:ahLst/>
              <a:cxnLst/>
              <a:rect r="r" b="b" t="t" l="l"/>
              <a:pathLst>
                <a:path h="670560" w="670560">
                  <a:moveTo>
                    <a:pt x="0" y="0"/>
                  </a:moveTo>
                  <a:lnTo>
                    <a:pt x="670560" y="0"/>
                  </a:lnTo>
                  <a:lnTo>
                    <a:pt x="670560" y="670560"/>
                  </a:lnTo>
                  <a:lnTo>
                    <a:pt x="0" y="670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0"/>
              <a:ext cx="670560" cy="670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5F7F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04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955357" y="6350318"/>
            <a:ext cx="4901565" cy="1243965"/>
            <a:chOff x="0" y="0"/>
            <a:chExt cx="6535420" cy="165862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6535420" cy="1658620"/>
            </a:xfrm>
            <a:custGeom>
              <a:avLst/>
              <a:gdLst/>
              <a:ahLst/>
              <a:cxnLst/>
              <a:rect r="r" b="b" t="t" l="l"/>
              <a:pathLst>
                <a:path h="1658620" w="6535420">
                  <a:moveTo>
                    <a:pt x="0" y="199009"/>
                  </a:moveTo>
                  <a:cubicBezTo>
                    <a:pt x="0" y="89154"/>
                    <a:pt x="89154" y="0"/>
                    <a:pt x="199009" y="0"/>
                  </a:cubicBezTo>
                  <a:lnTo>
                    <a:pt x="6336411" y="0"/>
                  </a:lnTo>
                  <a:cubicBezTo>
                    <a:pt x="6446393" y="0"/>
                    <a:pt x="6535420" y="89154"/>
                    <a:pt x="6535420" y="199009"/>
                  </a:cubicBezTo>
                  <a:lnTo>
                    <a:pt x="6535420" y="1459611"/>
                  </a:lnTo>
                  <a:cubicBezTo>
                    <a:pt x="6535420" y="1569593"/>
                    <a:pt x="6446266" y="1658620"/>
                    <a:pt x="6336411" y="1658620"/>
                  </a:cubicBezTo>
                  <a:lnTo>
                    <a:pt x="199009" y="1658620"/>
                  </a:lnTo>
                  <a:cubicBezTo>
                    <a:pt x="89154" y="1658620"/>
                    <a:pt x="0" y="1569466"/>
                    <a:pt x="0" y="1459611"/>
                  </a:cubicBezTo>
                  <a:close/>
                </a:path>
              </a:pathLst>
            </a:custGeom>
            <a:solidFill>
              <a:srgbClr val="F4F5F6"/>
            </a:solidFill>
            <a:ln w="9525" cap="sq">
              <a:solidFill>
                <a:srgbClr val="3060A5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1119950" y="6505766"/>
            <a:ext cx="521589" cy="521589"/>
            <a:chOff x="0" y="0"/>
            <a:chExt cx="695452" cy="695452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695452" cy="695452"/>
            </a:xfrm>
            <a:custGeom>
              <a:avLst/>
              <a:gdLst/>
              <a:ahLst/>
              <a:cxnLst/>
              <a:rect r="r" b="b" t="t" l="l"/>
              <a:pathLst>
                <a:path h="695452" w="695452">
                  <a:moveTo>
                    <a:pt x="0" y="347726"/>
                  </a:moveTo>
                  <a:cubicBezTo>
                    <a:pt x="0" y="155702"/>
                    <a:pt x="155702" y="0"/>
                    <a:pt x="347726" y="0"/>
                  </a:cubicBezTo>
                  <a:cubicBezTo>
                    <a:pt x="539750" y="0"/>
                    <a:pt x="695452" y="155702"/>
                    <a:pt x="695452" y="347726"/>
                  </a:cubicBezTo>
                  <a:cubicBezTo>
                    <a:pt x="695452" y="539750"/>
                    <a:pt x="539750" y="695452"/>
                    <a:pt x="347726" y="695452"/>
                  </a:cubicBezTo>
                  <a:cubicBezTo>
                    <a:pt x="155702" y="695452"/>
                    <a:pt x="0" y="539750"/>
                    <a:pt x="0" y="347726"/>
                  </a:cubicBezTo>
                  <a:close/>
                </a:path>
              </a:pathLst>
            </a:custGeom>
            <a:solidFill>
              <a:srgbClr val="E2E6EB"/>
            </a:solidFill>
            <a:ln w="9525" cap="sq">
              <a:solidFill>
                <a:srgbClr val="3060A5"/>
              </a:solidFill>
              <a:prstDash val="solid"/>
              <a:miter/>
            </a:ln>
          </p:spPr>
        </p:sp>
        <p:sp>
          <p:nvSpPr>
            <p:cNvPr name="TextBox 68" id="68"/>
            <p:cNvSpPr txBox="true"/>
            <p:nvPr/>
          </p:nvSpPr>
          <p:spPr>
            <a:xfrm>
              <a:off x="0" y="0"/>
              <a:ext cx="695452" cy="695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3060A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874520" y="6356978"/>
            <a:ext cx="3840480" cy="356090"/>
            <a:chOff x="0" y="0"/>
            <a:chExt cx="5120640" cy="474786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5120639" cy="474786"/>
            </a:xfrm>
            <a:custGeom>
              <a:avLst/>
              <a:gdLst/>
              <a:ahLst/>
              <a:cxnLst/>
              <a:rect r="r" b="b" t="t" l="l"/>
              <a:pathLst>
                <a:path h="474786" w="5120639">
                  <a:moveTo>
                    <a:pt x="0" y="0"/>
                  </a:moveTo>
                  <a:lnTo>
                    <a:pt x="5120639" y="0"/>
                  </a:lnTo>
                  <a:lnTo>
                    <a:pt x="5120639" y="474786"/>
                  </a:lnTo>
                  <a:lnTo>
                    <a:pt x="0" y="47478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4198" r="0" b="-146099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0"/>
              <a:ext cx="5120640" cy="4747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 b="true">
                  <a:solidFill>
                    <a:srgbClr val="3060A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CYBER RESILIENCE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828800" y="6766560"/>
            <a:ext cx="3840480" cy="774312"/>
            <a:chOff x="0" y="0"/>
            <a:chExt cx="5120640" cy="1032415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5120639" cy="1032415"/>
            </a:xfrm>
            <a:custGeom>
              <a:avLst/>
              <a:gdLst/>
              <a:ahLst/>
              <a:cxnLst/>
              <a:rect r="r" b="b" t="t" l="l"/>
              <a:pathLst>
                <a:path h="1032415" w="5120639">
                  <a:moveTo>
                    <a:pt x="0" y="0"/>
                  </a:moveTo>
                  <a:lnTo>
                    <a:pt x="5120639" y="0"/>
                  </a:lnTo>
                  <a:lnTo>
                    <a:pt x="5120639" y="1032415"/>
                  </a:lnTo>
                  <a:lnTo>
                    <a:pt x="0" y="10324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034" r="0" b="-33251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0"/>
              <a:ext cx="5120640" cy="1032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42"/>
                </a:lnSpc>
              </a:pPr>
              <a:r>
                <a:rPr lang="en-US" sz="1618">
                  <a:solidFill>
                    <a:srgbClr val="28303A"/>
                  </a:solidFill>
                  <a:latin typeface="Aptos"/>
                  <a:ea typeface="Aptos"/>
                  <a:cs typeface="Aptos"/>
                  <a:sym typeface="Aptos"/>
                </a:rPr>
                <a:t>Creates a reusable security layer against emerging AI-powered voice impersonation attacks.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6747046" y="1778317"/>
            <a:ext cx="512445" cy="512445"/>
            <a:chOff x="0" y="0"/>
            <a:chExt cx="683260" cy="68326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683260" cy="683260"/>
            </a:xfrm>
            <a:custGeom>
              <a:avLst/>
              <a:gdLst/>
              <a:ahLst/>
              <a:cxnLst/>
              <a:rect r="r" b="b" t="t" l="l"/>
              <a:pathLst>
                <a:path h="683260" w="683260">
                  <a:moveTo>
                    <a:pt x="0" y="82042"/>
                  </a:moveTo>
                  <a:cubicBezTo>
                    <a:pt x="0" y="36703"/>
                    <a:pt x="36703" y="0"/>
                    <a:pt x="82042" y="0"/>
                  </a:cubicBezTo>
                  <a:lnTo>
                    <a:pt x="601218" y="0"/>
                  </a:lnTo>
                  <a:cubicBezTo>
                    <a:pt x="646557" y="0"/>
                    <a:pt x="683260" y="36703"/>
                    <a:pt x="683260" y="82042"/>
                  </a:cubicBezTo>
                  <a:lnTo>
                    <a:pt x="683260" y="601218"/>
                  </a:lnTo>
                  <a:cubicBezTo>
                    <a:pt x="683260" y="646557"/>
                    <a:pt x="646557" y="683260"/>
                    <a:pt x="601218" y="683260"/>
                  </a:cubicBezTo>
                  <a:lnTo>
                    <a:pt x="82042" y="683260"/>
                  </a:lnTo>
                  <a:cubicBezTo>
                    <a:pt x="36703" y="683260"/>
                    <a:pt x="0" y="646557"/>
                    <a:pt x="0" y="601218"/>
                  </a:cubicBezTo>
                  <a:close/>
                </a:path>
              </a:pathLst>
            </a:custGeom>
            <a:solidFill>
              <a:srgbClr val="D2891E"/>
            </a:solidFill>
            <a:ln w="9525" cap="sq">
              <a:solidFill>
                <a:srgbClr val="D2891E"/>
              </a:solidFill>
              <a:prstDash val="solid"/>
              <a:miter/>
            </a:ln>
          </p:spPr>
        </p:sp>
      </p:grpSp>
      <p:grpSp>
        <p:nvGrpSpPr>
          <p:cNvPr name="Group 77" id="77"/>
          <p:cNvGrpSpPr/>
          <p:nvPr/>
        </p:nvGrpSpPr>
        <p:grpSpPr>
          <a:xfrm rot="0">
            <a:off x="16751808" y="1783080"/>
            <a:ext cx="502920" cy="502920"/>
            <a:chOff x="0" y="0"/>
            <a:chExt cx="670560" cy="67056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670560" cy="670560"/>
            </a:xfrm>
            <a:custGeom>
              <a:avLst/>
              <a:gdLst/>
              <a:ahLst/>
              <a:cxnLst/>
              <a:rect r="r" b="b" t="t" l="l"/>
              <a:pathLst>
                <a:path h="670560" w="670560">
                  <a:moveTo>
                    <a:pt x="0" y="0"/>
                  </a:moveTo>
                  <a:lnTo>
                    <a:pt x="670560" y="0"/>
                  </a:lnTo>
                  <a:lnTo>
                    <a:pt x="670560" y="670560"/>
                  </a:lnTo>
                  <a:lnTo>
                    <a:pt x="0" y="670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0"/>
              <a:ext cx="670560" cy="670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5F7F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05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1745278" y="1549718"/>
            <a:ext cx="4901565" cy="1243965"/>
            <a:chOff x="0" y="0"/>
            <a:chExt cx="6535420" cy="165862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6535420" cy="1658620"/>
            </a:xfrm>
            <a:custGeom>
              <a:avLst/>
              <a:gdLst/>
              <a:ahLst/>
              <a:cxnLst/>
              <a:rect r="r" b="b" t="t" l="l"/>
              <a:pathLst>
                <a:path h="1658620" w="6535420">
                  <a:moveTo>
                    <a:pt x="0" y="199009"/>
                  </a:moveTo>
                  <a:cubicBezTo>
                    <a:pt x="0" y="89154"/>
                    <a:pt x="89154" y="0"/>
                    <a:pt x="199009" y="0"/>
                  </a:cubicBezTo>
                  <a:lnTo>
                    <a:pt x="6336411" y="0"/>
                  </a:lnTo>
                  <a:cubicBezTo>
                    <a:pt x="6446393" y="0"/>
                    <a:pt x="6535420" y="89154"/>
                    <a:pt x="6535420" y="199009"/>
                  </a:cubicBezTo>
                  <a:lnTo>
                    <a:pt x="6535420" y="1459611"/>
                  </a:lnTo>
                  <a:cubicBezTo>
                    <a:pt x="6535420" y="1569593"/>
                    <a:pt x="6446266" y="1658620"/>
                    <a:pt x="6336411" y="1658620"/>
                  </a:cubicBezTo>
                  <a:lnTo>
                    <a:pt x="199009" y="1658620"/>
                  </a:lnTo>
                  <a:cubicBezTo>
                    <a:pt x="89154" y="1658620"/>
                    <a:pt x="0" y="1569466"/>
                    <a:pt x="0" y="1459611"/>
                  </a:cubicBezTo>
                  <a:close/>
                </a:path>
              </a:pathLst>
            </a:custGeom>
            <a:solidFill>
              <a:srgbClr val="F4F5F6"/>
            </a:solidFill>
            <a:ln w="9525" cap="sq">
              <a:solidFill>
                <a:srgbClr val="D2891E"/>
              </a:solidFill>
              <a:prstDash val="solid"/>
              <a:miter/>
            </a:ln>
          </p:spPr>
        </p:sp>
      </p:grpSp>
      <p:grpSp>
        <p:nvGrpSpPr>
          <p:cNvPr name="Group 82" id="82"/>
          <p:cNvGrpSpPr/>
          <p:nvPr/>
        </p:nvGrpSpPr>
        <p:grpSpPr>
          <a:xfrm rot="0">
            <a:off x="15978950" y="1705166"/>
            <a:ext cx="521589" cy="521589"/>
            <a:chOff x="0" y="0"/>
            <a:chExt cx="695452" cy="695452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695452" cy="695452"/>
            </a:xfrm>
            <a:custGeom>
              <a:avLst/>
              <a:gdLst/>
              <a:ahLst/>
              <a:cxnLst/>
              <a:rect r="r" b="b" t="t" l="l"/>
              <a:pathLst>
                <a:path h="695452" w="695452">
                  <a:moveTo>
                    <a:pt x="0" y="347726"/>
                  </a:moveTo>
                  <a:cubicBezTo>
                    <a:pt x="0" y="155702"/>
                    <a:pt x="155702" y="0"/>
                    <a:pt x="347726" y="0"/>
                  </a:cubicBezTo>
                  <a:cubicBezTo>
                    <a:pt x="539750" y="0"/>
                    <a:pt x="695452" y="155702"/>
                    <a:pt x="695452" y="347726"/>
                  </a:cubicBezTo>
                  <a:cubicBezTo>
                    <a:pt x="695452" y="539750"/>
                    <a:pt x="539750" y="695452"/>
                    <a:pt x="347726" y="695452"/>
                  </a:cubicBezTo>
                  <a:cubicBezTo>
                    <a:pt x="155702" y="695452"/>
                    <a:pt x="0" y="539750"/>
                    <a:pt x="0" y="347726"/>
                  </a:cubicBezTo>
                  <a:close/>
                </a:path>
              </a:pathLst>
            </a:custGeom>
            <a:solidFill>
              <a:srgbClr val="E2E6EB"/>
            </a:solidFill>
            <a:ln w="9525" cap="sq">
              <a:solidFill>
                <a:srgbClr val="D2891E"/>
              </a:solidFill>
              <a:prstDash val="solid"/>
              <a:miter/>
            </a:ln>
          </p:spPr>
        </p:sp>
        <p:sp>
          <p:nvSpPr>
            <p:cNvPr name="TextBox 84" id="84"/>
            <p:cNvSpPr txBox="true"/>
            <p:nvPr/>
          </p:nvSpPr>
          <p:spPr>
            <a:xfrm>
              <a:off x="0" y="0"/>
              <a:ext cx="695452" cy="695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D2891E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2042648" y="1600273"/>
            <a:ext cx="3840480" cy="356090"/>
            <a:chOff x="0" y="0"/>
            <a:chExt cx="5120640" cy="474786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5120639" cy="474786"/>
            </a:xfrm>
            <a:custGeom>
              <a:avLst/>
              <a:gdLst/>
              <a:ahLst/>
              <a:cxnLst/>
              <a:rect r="r" b="b" t="t" l="l"/>
              <a:pathLst>
                <a:path h="474786" w="5120639">
                  <a:moveTo>
                    <a:pt x="0" y="0"/>
                  </a:moveTo>
                  <a:lnTo>
                    <a:pt x="5120639" y="0"/>
                  </a:lnTo>
                  <a:lnTo>
                    <a:pt x="5120639" y="474786"/>
                  </a:lnTo>
                  <a:lnTo>
                    <a:pt x="0" y="47478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4198" r="0" b="-146099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0"/>
              <a:ext cx="5120640" cy="4747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 b="true">
                  <a:solidFill>
                    <a:srgbClr val="D2891E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FINANCIAL SECURITY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2042648" y="1965960"/>
            <a:ext cx="3840480" cy="774312"/>
            <a:chOff x="0" y="0"/>
            <a:chExt cx="5120640" cy="1032415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5120639" cy="1032415"/>
            </a:xfrm>
            <a:custGeom>
              <a:avLst/>
              <a:gdLst/>
              <a:ahLst/>
              <a:cxnLst/>
              <a:rect r="r" b="b" t="t" l="l"/>
              <a:pathLst>
                <a:path h="1032415" w="5120639">
                  <a:moveTo>
                    <a:pt x="0" y="0"/>
                  </a:moveTo>
                  <a:lnTo>
                    <a:pt x="5120639" y="0"/>
                  </a:lnTo>
                  <a:lnTo>
                    <a:pt x="5120639" y="1032415"/>
                  </a:lnTo>
                  <a:lnTo>
                    <a:pt x="0" y="10324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034" r="0" b="-33251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0"/>
              <a:ext cx="5120640" cy="1032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42"/>
                </a:lnSpc>
              </a:pPr>
              <a:r>
                <a:rPr lang="en-US" sz="1618">
                  <a:solidFill>
                    <a:srgbClr val="28303A"/>
                  </a:solidFill>
                  <a:latin typeface="Aptos"/>
                  <a:ea typeface="Aptos"/>
                  <a:cs typeface="Aptos"/>
                  <a:sym typeface="Aptos"/>
                </a:rPr>
                <a:t>Provides additional protection for high-value transactions and sensitive financial instructions.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6747046" y="3378517"/>
            <a:ext cx="512445" cy="512445"/>
            <a:chOff x="0" y="0"/>
            <a:chExt cx="683260" cy="68326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683260" cy="683260"/>
            </a:xfrm>
            <a:custGeom>
              <a:avLst/>
              <a:gdLst/>
              <a:ahLst/>
              <a:cxnLst/>
              <a:rect r="r" b="b" t="t" l="l"/>
              <a:pathLst>
                <a:path h="683260" w="683260">
                  <a:moveTo>
                    <a:pt x="0" y="82042"/>
                  </a:moveTo>
                  <a:cubicBezTo>
                    <a:pt x="0" y="36703"/>
                    <a:pt x="36703" y="0"/>
                    <a:pt x="82042" y="0"/>
                  </a:cubicBezTo>
                  <a:lnTo>
                    <a:pt x="601218" y="0"/>
                  </a:lnTo>
                  <a:cubicBezTo>
                    <a:pt x="646557" y="0"/>
                    <a:pt x="683260" y="36703"/>
                    <a:pt x="683260" y="82042"/>
                  </a:cubicBezTo>
                  <a:lnTo>
                    <a:pt x="683260" y="601218"/>
                  </a:lnTo>
                  <a:cubicBezTo>
                    <a:pt x="683260" y="646557"/>
                    <a:pt x="646557" y="683260"/>
                    <a:pt x="601218" y="683260"/>
                  </a:cubicBezTo>
                  <a:lnTo>
                    <a:pt x="82042" y="683260"/>
                  </a:lnTo>
                  <a:cubicBezTo>
                    <a:pt x="36703" y="683260"/>
                    <a:pt x="0" y="646557"/>
                    <a:pt x="0" y="601218"/>
                  </a:cubicBezTo>
                  <a:close/>
                </a:path>
              </a:pathLst>
            </a:custGeom>
            <a:solidFill>
              <a:srgbClr val="2F7854"/>
            </a:solidFill>
            <a:ln w="9525" cap="sq">
              <a:solidFill>
                <a:srgbClr val="2F7854"/>
              </a:solidFill>
              <a:prstDash val="solid"/>
              <a:miter/>
            </a:ln>
          </p:spPr>
        </p:sp>
      </p:grpSp>
      <p:grpSp>
        <p:nvGrpSpPr>
          <p:cNvPr name="Group 93" id="93"/>
          <p:cNvGrpSpPr/>
          <p:nvPr/>
        </p:nvGrpSpPr>
        <p:grpSpPr>
          <a:xfrm rot="0">
            <a:off x="16751808" y="3383280"/>
            <a:ext cx="502920" cy="502920"/>
            <a:chOff x="0" y="0"/>
            <a:chExt cx="670560" cy="67056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670560" cy="670560"/>
            </a:xfrm>
            <a:custGeom>
              <a:avLst/>
              <a:gdLst/>
              <a:ahLst/>
              <a:cxnLst/>
              <a:rect r="r" b="b" t="t" l="l"/>
              <a:pathLst>
                <a:path h="670560" w="670560">
                  <a:moveTo>
                    <a:pt x="0" y="0"/>
                  </a:moveTo>
                  <a:lnTo>
                    <a:pt x="670560" y="0"/>
                  </a:lnTo>
                  <a:lnTo>
                    <a:pt x="670560" y="670560"/>
                  </a:lnTo>
                  <a:lnTo>
                    <a:pt x="0" y="670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0"/>
              <a:ext cx="670560" cy="670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5F7F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06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11745278" y="3149917"/>
            <a:ext cx="4901565" cy="1243965"/>
            <a:chOff x="0" y="0"/>
            <a:chExt cx="6535420" cy="165862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6535420" cy="1658620"/>
            </a:xfrm>
            <a:custGeom>
              <a:avLst/>
              <a:gdLst/>
              <a:ahLst/>
              <a:cxnLst/>
              <a:rect r="r" b="b" t="t" l="l"/>
              <a:pathLst>
                <a:path h="1658620" w="6535420">
                  <a:moveTo>
                    <a:pt x="0" y="199009"/>
                  </a:moveTo>
                  <a:cubicBezTo>
                    <a:pt x="0" y="89154"/>
                    <a:pt x="89154" y="0"/>
                    <a:pt x="199009" y="0"/>
                  </a:cubicBezTo>
                  <a:lnTo>
                    <a:pt x="6336411" y="0"/>
                  </a:lnTo>
                  <a:cubicBezTo>
                    <a:pt x="6446393" y="0"/>
                    <a:pt x="6535420" y="89154"/>
                    <a:pt x="6535420" y="199009"/>
                  </a:cubicBezTo>
                  <a:lnTo>
                    <a:pt x="6535420" y="1459611"/>
                  </a:lnTo>
                  <a:cubicBezTo>
                    <a:pt x="6535420" y="1569593"/>
                    <a:pt x="6446266" y="1658620"/>
                    <a:pt x="6336411" y="1658620"/>
                  </a:cubicBezTo>
                  <a:lnTo>
                    <a:pt x="199009" y="1658620"/>
                  </a:lnTo>
                  <a:cubicBezTo>
                    <a:pt x="89154" y="1658620"/>
                    <a:pt x="0" y="1569466"/>
                    <a:pt x="0" y="1459611"/>
                  </a:cubicBezTo>
                  <a:close/>
                </a:path>
              </a:pathLst>
            </a:custGeom>
            <a:solidFill>
              <a:srgbClr val="F4F5F6"/>
            </a:solidFill>
            <a:ln w="9525" cap="sq">
              <a:solidFill>
                <a:srgbClr val="2F7854"/>
              </a:solidFill>
              <a:prstDash val="solid"/>
              <a:miter/>
            </a:ln>
          </p:spPr>
        </p:sp>
      </p:grpSp>
      <p:grpSp>
        <p:nvGrpSpPr>
          <p:cNvPr name="Group 98" id="98"/>
          <p:cNvGrpSpPr/>
          <p:nvPr/>
        </p:nvGrpSpPr>
        <p:grpSpPr>
          <a:xfrm rot="0">
            <a:off x="15978950" y="3305366"/>
            <a:ext cx="521589" cy="521589"/>
            <a:chOff x="0" y="0"/>
            <a:chExt cx="695452" cy="695452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695452" cy="695452"/>
            </a:xfrm>
            <a:custGeom>
              <a:avLst/>
              <a:gdLst/>
              <a:ahLst/>
              <a:cxnLst/>
              <a:rect r="r" b="b" t="t" l="l"/>
              <a:pathLst>
                <a:path h="695452" w="695452">
                  <a:moveTo>
                    <a:pt x="0" y="347726"/>
                  </a:moveTo>
                  <a:cubicBezTo>
                    <a:pt x="0" y="155702"/>
                    <a:pt x="155702" y="0"/>
                    <a:pt x="347726" y="0"/>
                  </a:cubicBezTo>
                  <a:cubicBezTo>
                    <a:pt x="539750" y="0"/>
                    <a:pt x="695452" y="155702"/>
                    <a:pt x="695452" y="347726"/>
                  </a:cubicBezTo>
                  <a:cubicBezTo>
                    <a:pt x="695452" y="539750"/>
                    <a:pt x="539750" y="695452"/>
                    <a:pt x="347726" y="695452"/>
                  </a:cubicBezTo>
                  <a:cubicBezTo>
                    <a:pt x="155702" y="695452"/>
                    <a:pt x="0" y="539750"/>
                    <a:pt x="0" y="347726"/>
                  </a:cubicBezTo>
                  <a:close/>
                </a:path>
              </a:pathLst>
            </a:custGeom>
            <a:solidFill>
              <a:srgbClr val="E2E6EB"/>
            </a:solidFill>
            <a:ln w="9525" cap="sq">
              <a:solidFill>
                <a:srgbClr val="2F7854"/>
              </a:solidFill>
              <a:prstDash val="solid"/>
              <a:miter/>
            </a:ln>
          </p:spPr>
        </p:sp>
        <p:sp>
          <p:nvSpPr>
            <p:cNvPr name="TextBox 100" id="100"/>
            <p:cNvSpPr txBox="true"/>
            <p:nvPr/>
          </p:nvSpPr>
          <p:spPr>
            <a:xfrm>
              <a:off x="0" y="0"/>
              <a:ext cx="695452" cy="695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2F785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12042648" y="3210070"/>
            <a:ext cx="3840480" cy="356090"/>
            <a:chOff x="0" y="0"/>
            <a:chExt cx="5120640" cy="474786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5120639" cy="474786"/>
            </a:xfrm>
            <a:custGeom>
              <a:avLst/>
              <a:gdLst/>
              <a:ahLst/>
              <a:cxnLst/>
              <a:rect r="r" b="b" t="t" l="l"/>
              <a:pathLst>
                <a:path h="474786" w="5120639">
                  <a:moveTo>
                    <a:pt x="0" y="0"/>
                  </a:moveTo>
                  <a:lnTo>
                    <a:pt x="5120639" y="0"/>
                  </a:lnTo>
                  <a:lnTo>
                    <a:pt x="5120639" y="474786"/>
                  </a:lnTo>
                  <a:lnTo>
                    <a:pt x="0" y="47478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4198" r="0" b="-146099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0"/>
              <a:ext cx="5120640" cy="4747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 b="true">
                  <a:solidFill>
                    <a:srgbClr val="2F785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PRIVACY PRESERVATION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2042648" y="3566160"/>
            <a:ext cx="3840480" cy="774312"/>
            <a:chOff x="0" y="0"/>
            <a:chExt cx="5120640" cy="1032415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5120639" cy="1032415"/>
            </a:xfrm>
            <a:custGeom>
              <a:avLst/>
              <a:gdLst/>
              <a:ahLst/>
              <a:cxnLst/>
              <a:rect r="r" b="b" t="t" l="l"/>
              <a:pathLst>
                <a:path h="1032415" w="5120639">
                  <a:moveTo>
                    <a:pt x="0" y="0"/>
                  </a:moveTo>
                  <a:lnTo>
                    <a:pt x="5120639" y="0"/>
                  </a:lnTo>
                  <a:lnTo>
                    <a:pt x="5120639" y="1032415"/>
                  </a:lnTo>
                  <a:lnTo>
                    <a:pt x="0" y="10324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034" r="0" b="-33251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0"/>
              <a:ext cx="5120640" cy="1032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42"/>
                </a:lnSpc>
              </a:pPr>
              <a:r>
                <a:rPr lang="en-US" sz="1618">
                  <a:solidFill>
                    <a:srgbClr val="28303A"/>
                  </a:solidFill>
                  <a:latin typeface="Aptos"/>
                  <a:ea typeface="Aptos"/>
                  <a:cs typeface="Aptos"/>
                  <a:sym typeface="Aptos"/>
                </a:rPr>
                <a:t>Supports edge processing and feature-level logging to minimize retention of sensitive voice recordings.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16747046" y="4978718"/>
            <a:ext cx="512445" cy="512445"/>
            <a:chOff x="0" y="0"/>
            <a:chExt cx="683260" cy="68326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683260" cy="683260"/>
            </a:xfrm>
            <a:custGeom>
              <a:avLst/>
              <a:gdLst/>
              <a:ahLst/>
              <a:cxnLst/>
              <a:rect r="r" b="b" t="t" l="l"/>
              <a:pathLst>
                <a:path h="683260" w="683260">
                  <a:moveTo>
                    <a:pt x="0" y="82042"/>
                  </a:moveTo>
                  <a:cubicBezTo>
                    <a:pt x="0" y="36703"/>
                    <a:pt x="36703" y="0"/>
                    <a:pt x="82042" y="0"/>
                  </a:cubicBezTo>
                  <a:lnTo>
                    <a:pt x="601218" y="0"/>
                  </a:lnTo>
                  <a:cubicBezTo>
                    <a:pt x="646557" y="0"/>
                    <a:pt x="683260" y="36703"/>
                    <a:pt x="683260" y="82042"/>
                  </a:cubicBezTo>
                  <a:lnTo>
                    <a:pt x="683260" y="601218"/>
                  </a:lnTo>
                  <a:cubicBezTo>
                    <a:pt x="683260" y="646557"/>
                    <a:pt x="646557" y="683260"/>
                    <a:pt x="601218" y="683260"/>
                  </a:cubicBezTo>
                  <a:lnTo>
                    <a:pt x="82042" y="683260"/>
                  </a:lnTo>
                  <a:cubicBezTo>
                    <a:pt x="36703" y="683260"/>
                    <a:pt x="0" y="646557"/>
                    <a:pt x="0" y="601218"/>
                  </a:cubicBezTo>
                  <a:close/>
                </a:path>
              </a:pathLst>
            </a:custGeom>
            <a:solidFill>
              <a:srgbClr val="E07319"/>
            </a:solidFill>
            <a:ln w="9525" cap="sq">
              <a:solidFill>
                <a:srgbClr val="E07319"/>
              </a:solidFill>
              <a:prstDash val="solid"/>
              <a:miter/>
            </a:ln>
          </p:spPr>
        </p:sp>
      </p:grpSp>
      <p:grpSp>
        <p:nvGrpSpPr>
          <p:cNvPr name="Group 109" id="109"/>
          <p:cNvGrpSpPr/>
          <p:nvPr/>
        </p:nvGrpSpPr>
        <p:grpSpPr>
          <a:xfrm rot="0">
            <a:off x="16751808" y="4983480"/>
            <a:ext cx="502920" cy="502920"/>
            <a:chOff x="0" y="0"/>
            <a:chExt cx="670560" cy="670560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670560" cy="670560"/>
            </a:xfrm>
            <a:custGeom>
              <a:avLst/>
              <a:gdLst/>
              <a:ahLst/>
              <a:cxnLst/>
              <a:rect r="r" b="b" t="t" l="l"/>
              <a:pathLst>
                <a:path h="670560" w="670560">
                  <a:moveTo>
                    <a:pt x="0" y="0"/>
                  </a:moveTo>
                  <a:lnTo>
                    <a:pt x="670560" y="0"/>
                  </a:lnTo>
                  <a:lnTo>
                    <a:pt x="670560" y="670560"/>
                  </a:lnTo>
                  <a:lnTo>
                    <a:pt x="0" y="670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0"/>
              <a:ext cx="670560" cy="670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5F7F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07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11745278" y="4750118"/>
            <a:ext cx="4901565" cy="1243965"/>
            <a:chOff x="0" y="0"/>
            <a:chExt cx="6535420" cy="1658620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6535420" cy="1658620"/>
            </a:xfrm>
            <a:custGeom>
              <a:avLst/>
              <a:gdLst/>
              <a:ahLst/>
              <a:cxnLst/>
              <a:rect r="r" b="b" t="t" l="l"/>
              <a:pathLst>
                <a:path h="1658620" w="6535420">
                  <a:moveTo>
                    <a:pt x="0" y="199009"/>
                  </a:moveTo>
                  <a:cubicBezTo>
                    <a:pt x="0" y="89154"/>
                    <a:pt x="89154" y="0"/>
                    <a:pt x="199009" y="0"/>
                  </a:cubicBezTo>
                  <a:lnTo>
                    <a:pt x="6336411" y="0"/>
                  </a:lnTo>
                  <a:cubicBezTo>
                    <a:pt x="6446393" y="0"/>
                    <a:pt x="6535420" y="89154"/>
                    <a:pt x="6535420" y="199009"/>
                  </a:cubicBezTo>
                  <a:lnTo>
                    <a:pt x="6535420" y="1459611"/>
                  </a:lnTo>
                  <a:cubicBezTo>
                    <a:pt x="6535420" y="1569593"/>
                    <a:pt x="6446266" y="1658620"/>
                    <a:pt x="6336411" y="1658620"/>
                  </a:cubicBezTo>
                  <a:lnTo>
                    <a:pt x="199009" y="1658620"/>
                  </a:lnTo>
                  <a:cubicBezTo>
                    <a:pt x="89154" y="1658620"/>
                    <a:pt x="0" y="1569466"/>
                    <a:pt x="0" y="1459611"/>
                  </a:cubicBezTo>
                  <a:close/>
                </a:path>
              </a:pathLst>
            </a:custGeom>
            <a:solidFill>
              <a:srgbClr val="F4F5F6"/>
            </a:solidFill>
            <a:ln w="9525" cap="sq">
              <a:solidFill>
                <a:srgbClr val="E07319"/>
              </a:solidFill>
              <a:prstDash val="solid"/>
              <a:miter/>
            </a:ln>
          </p:spPr>
        </p:sp>
      </p:grpSp>
      <p:grpSp>
        <p:nvGrpSpPr>
          <p:cNvPr name="Group 114" id="114"/>
          <p:cNvGrpSpPr/>
          <p:nvPr/>
        </p:nvGrpSpPr>
        <p:grpSpPr>
          <a:xfrm rot="0">
            <a:off x="15978950" y="4905566"/>
            <a:ext cx="521589" cy="521589"/>
            <a:chOff x="0" y="0"/>
            <a:chExt cx="695452" cy="695452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695452" cy="695452"/>
            </a:xfrm>
            <a:custGeom>
              <a:avLst/>
              <a:gdLst/>
              <a:ahLst/>
              <a:cxnLst/>
              <a:rect r="r" b="b" t="t" l="l"/>
              <a:pathLst>
                <a:path h="695452" w="695452">
                  <a:moveTo>
                    <a:pt x="0" y="347726"/>
                  </a:moveTo>
                  <a:cubicBezTo>
                    <a:pt x="0" y="155702"/>
                    <a:pt x="155702" y="0"/>
                    <a:pt x="347726" y="0"/>
                  </a:cubicBezTo>
                  <a:cubicBezTo>
                    <a:pt x="539750" y="0"/>
                    <a:pt x="695452" y="155702"/>
                    <a:pt x="695452" y="347726"/>
                  </a:cubicBezTo>
                  <a:cubicBezTo>
                    <a:pt x="695452" y="539750"/>
                    <a:pt x="539750" y="695452"/>
                    <a:pt x="347726" y="695452"/>
                  </a:cubicBezTo>
                  <a:cubicBezTo>
                    <a:pt x="155702" y="695452"/>
                    <a:pt x="0" y="539750"/>
                    <a:pt x="0" y="347726"/>
                  </a:cubicBezTo>
                  <a:close/>
                </a:path>
              </a:pathLst>
            </a:custGeom>
            <a:solidFill>
              <a:srgbClr val="E2E6EB"/>
            </a:solidFill>
            <a:ln w="9525" cap="sq">
              <a:solidFill>
                <a:srgbClr val="E07319"/>
              </a:solidFill>
              <a:prstDash val="solid"/>
              <a:miter/>
            </a:ln>
          </p:spPr>
        </p:sp>
        <p:sp>
          <p:nvSpPr>
            <p:cNvPr name="TextBox 116" id="116"/>
            <p:cNvSpPr txBox="true"/>
            <p:nvPr/>
          </p:nvSpPr>
          <p:spPr>
            <a:xfrm>
              <a:off x="0" y="0"/>
              <a:ext cx="695452" cy="695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E0731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</a:t>
              </a:r>
            </a:p>
          </p:txBody>
        </p:sp>
      </p:grpSp>
      <p:grpSp>
        <p:nvGrpSpPr>
          <p:cNvPr name="Group 117" id="117"/>
          <p:cNvGrpSpPr/>
          <p:nvPr/>
        </p:nvGrpSpPr>
        <p:grpSpPr>
          <a:xfrm rot="0">
            <a:off x="12042648" y="4800673"/>
            <a:ext cx="3840480" cy="356090"/>
            <a:chOff x="0" y="0"/>
            <a:chExt cx="5120640" cy="474786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5120639" cy="474786"/>
            </a:xfrm>
            <a:custGeom>
              <a:avLst/>
              <a:gdLst/>
              <a:ahLst/>
              <a:cxnLst/>
              <a:rect r="r" b="b" t="t" l="l"/>
              <a:pathLst>
                <a:path h="474786" w="5120639">
                  <a:moveTo>
                    <a:pt x="0" y="0"/>
                  </a:moveTo>
                  <a:lnTo>
                    <a:pt x="5120639" y="0"/>
                  </a:lnTo>
                  <a:lnTo>
                    <a:pt x="5120639" y="474786"/>
                  </a:lnTo>
                  <a:lnTo>
                    <a:pt x="0" y="47478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4198" r="0" b="-146099"/>
              </a:stretch>
            </a:blipFill>
          </p:spPr>
        </p:sp>
        <p:sp>
          <p:nvSpPr>
            <p:cNvPr name="TextBox 119" id="119"/>
            <p:cNvSpPr txBox="true"/>
            <p:nvPr/>
          </p:nvSpPr>
          <p:spPr>
            <a:xfrm>
              <a:off x="0" y="0"/>
              <a:ext cx="5120640" cy="4747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 b="true">
                  <a:solidFill>
                    <a:srgbClr val="E0731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IMPROVED TRUST</a:t>
              </a:r>
            </a:p>
          </p:txBody>
        </p:sp>
      </p:grpSp>
      <p:grpSp>
        <p:nvGrpSpPr>
          <p:cNvPr name="Group 120" id="120"/>
          <p:cNvGrpSpPr/>
          <p:nvPr/>
        </p:nvGrpSpPr>
        <p:grpSpPr>
          <a:xfrm rot="0">
            <a:off x="12042648" y="5166360"/>
            <a:ext cx="3840480" cy="774312"/>
            <a:chOff x="0" y="0"/>
            <a:chExt cx="5120640" cy="1032415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5120639" cy="1032415"/>
            </a:xfrm>
            <a:custGeom>
              <a:avLst/>
              <a:gdLst/>
              <a:ahLst/>
              <a:cxnLst/>
              <a:rect r="r" b="b" t="t" l="l"/>
              <a:pathLst>
                <a:path h="1032415" w="5120639">
                  <a:moveTo>
                    <a:pt x="0" y="0"/>
                  </a:moveTo>
                  <a:lnTo>
                    <a:pt x="5120639" y="0"/>
                  </a:lnTo>
                  <a:lnTo>
                    <a:pt x="5120639" y="1032415"/>
                  </a:lnTo>
                  <a:lnTo>
                    <a:pt x="0" y="10324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034" r="0" b="-33251"/>
              </a:stretch>
            </a:blip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0"/>
              <a:ext cx="5120640" cy="1032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42"/>
                </a:lnSpc>
              </a:pPr>
              <a:r>
                <a:rPr lang="en-US" sz="1618">
                  <a:solidFill>
                    <a:srgbClr val="28303A"/>
                  </a:solidFill>
                  <a:latin typeface="Aptos"/>
                  <a:ea typeface="Aptos"/>
                  <a:cs typeface="Aptos"/>
                  <a:sym typeface="Aptos"/>
                </a:rPr>
                <a:t>Strengthens confidence in voice-based communication for organizations and users.</a:t>
              </a:r>
            </a:p>
          </p:txBody>
        </p:sp>
      </p:grpSp>
      <p:grpSp>
        <p:nvGrpSpPr>
          <p:cNvPr name="Group 123" id="123"/>
          <p:cNvGrpSpPr/>
          <p:nvPr/>
        </p:nvGrpSpPr>
        <p:grpSpPr>
          <a:xfrm rot="0">
            <a:off x="16747046" y="6578918"/>
            <a:ext cx="512445" cy="512445"/>
            <a:chOff x="0" y="0"/>
            <a:chExt cx="683260" cy="683260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683260" cy="683260"/>
            </a:xfrm>
            <a:custGeom>
              <a:avLst/>
              <a:gdLst/>
              <a:ahLst/>
              <a:cxnLst/>
              <a:rect r="r" b="b" t="t" l="l"/>
              <a:pathLst>
                <a:path h="683260" w="683260">
                  <a:moveTo>
                    <a:pt x="0" y="82042"/>
                  </a:moveTo>
                  <a:cubicBezTo>
                    <a:pt x="0" y="36703"/>
                    <a:pt x="36703" y="0"/>
                    <a:pt x="82042" y="0"/>
                  </a:cubicBezTo>
                  <a:lnTo>
                    <a:pt x="601218" y="0"/>
                  </a:lnTo>
                  <a:cubicBezTo>
                    <a:pt x="646557" y="0"/>
                    <a:pt x="683260" y="36703"/>
                    <a:pt x="683260" y="82042"/>
                  </a:cubicBezTo>
                  <a:lnTo>
                    <a:pt x="683260" y="601218"/>
                  </a:lnTo>
                  <a:cubicBezTo>
                    <a:pt x="683260" y="646557"/>
                    <a:pt x="646557" y="683260"/>
                    <a:pt x="601218" y="683260"/>
                  </a:cubicBezTo>
                  <a:lnTo>
                    <a:pt x="82042" y="683260"/>
                  </a:lnTo>
                  <a:cubicBezTo>
                    <a:pt x="36703" y="683260"/>
                    <a:pt x="0" y="646557"/>
                    <a:pt x="0" y="601218"/>
                  </a:cubicBezTo>
                  <a:close/>
                </a:path>
              </a:pathLst>
            </a:custGeom>
            <a:solidFill>
              <a:srgbClr val="3060A5"/>
            </a:solidFill>
            <a:ln w="9525" cap="sq">
              <a:solidFill>
                <a:srgbClr val="3060A5"/>
              </a:solidFill>
              <a:prstDash val="solid"/>
              <a:miter/>
            </a:ln>
          </p:spPr>
        </p:sp>
      </p:grpSp>
      <p:grpSp>
        <p:nvGrpSpPr>
          <p:cNvPr name="Group 125" id="125"/>
          <p:cNvGrpSpPr/>
          <p:nvPr/>
        </p:nvGrpSpPr>
        <p:grpSpPr>
          <a:xfrm rot="0">
            <a:off x="16751808" y="6583680"/>
            <a:ext cx="502920" cy="502920"/>
            <a:chOff x="0" y="0"/>
            <a:chExt cx="670560" cy="670560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670560" cy="670560"/>
            </a:xfrm>
            <a:custGeom>
              <a:avLst/>
              <a:gdLst/>
              <a:ahLst/>
              <a:cxnLst/>
              <a:rect r="r" b="b" t="t" l="l"/>
              <a:pathLst>
                <a:path h="670560" w="670560">
                  <a:moveTo>
                    <a:pt x="0" y="0"/>
                  </a:moveTo>
                  <a:lnTo>
                    <a:pt x="670560" y="0"/>
                  </a:lnTo>
                  <a:lnTo>
                    <a:pt x="670560" y="670560"/>
                  </a:lnTo>
                  <a:lnTo>
                    <a:pt x="0" y="670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0"/>
              <a:ext cx="670560" cy="670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5F7F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08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11745278" y="6350318"/>
            <a:ext cx="4901565" cy="1243965"/>
            <a:chOff x="0" y="0"/>
            <a:chExt cx="6535420" cy="1658620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6535420" cy="1658620"/>
            </a:xfrm>
            <a:custGeom>
              <a:avLst/>
              <a:gdLst/>
              <a:ahLst/>
              <a:cxnLst/>
              <a:rect r="r" b="b" t="t" l="l"/>
              <a:pathLst>
                <a:path h="1658620" w="6535420">
                  <a:moveTo>
                    <a:pt x="0" y="199009"/>
                  </a:moveTo>
                  <a:cubicBezTo>
                    <a:pt x="0" y="89154"/>
                    <a:pt x="89154" y="0"/>
                    <a:pt x="199009" y="0"/>
                  </a:cubicBezTo>
                  <a:lnTo>
                    <a:pt x="6336411" y="0"/>
                  </a:lnTo>
                  <a:cubicBezTo>
                    <a:pt x="6446393" y="0"/>
                    <a:pt x="6535420" y="89154"/>
                    <a:pt x="6535420" y="199009"/>
                  </a:cubicBezTo>
                  <a:lnTo>
                    <a:pt x="6535420" y="1459611"/>
                  </a:lnTo>
                  <a:cubicBezTo>
                    <a:pt x="6535420" y="1569593"/>
                    <a:pt x="6446266" y="1658620"/>
                    <a:pt x="6336411" y="1658620"/>
                  </a:cubicBezTo>
                  <a:lnTo>
                    <a:pt x="199009" y="1658620"/>
                  </a:lnTo>
                  <a:cubicBezTo>
                    <a:pt x="89154" y="1658620"/>
                    <a:pt x="0" y="1569466"/>
                    <a:pt x="0" y="1459611"/>
                  </a:cubicBezTo>
                  <a:close/>
                </a:path>
              </a:pathLst>
            </a:custGeom>
            <a:solidFill>
              <a:srgbClr val="F4F5F6"/>
            </a:solidFill>
            <a:ln w="9525" cap="sq">
              <a:solidFill>
                <a:srgbClr val="3060A5"/>
              </a:solidFill>
              <a:prstDash val="solid"/>
              <a:miter/>
            </a:ln>
          </p:spPr>
        </p:sp>
      </p:grpSp>
      <p:grpSp>
        <p:nvGrpSpPr>
          <p:cNvPr name="Group 130" id="130"/>
          <p:cNvGrpSpPr/>
          <p:nvPr/>
        </p:nvGrpSpPr>
        <p:grpSpPr>
          <a:xfrm rot="0">
            <a:off x="15978950" y="6505766"/>
            <a:ext cx="521589" cy="521589"/>
            <a:chOff x="0" y="0"/>
            <a:chExt cx="695452" cy="695452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695452" cy="695452"/>
            </a:xfrm>
            <a:custGeom>
              <a:avLst/>
              <a:gdLst/>
              <a:ahLst/>
              <a:cxnLst/>
              <a:rect r="r" b="b" t="t" l="l"/>
              <a:pathLst>
                <a:path h="695452" w="695452">
                  <a:moveTo>
                    <a:pt x="0" y="347726"/>
                  </a:moveTo>
                  <a:cubicBezTo>
                    <a:pt x="0" y="155702"/>
                    <a:pt x="155702" y="0"/>
                    <a:pt x="347726" y="0"/>
                  </a:cubicBezTo>
                  <a:cubicBezTo>
                    <a:pt x="539750" y="0"/>
                    <a:pt x="695452" y="155702"/>
                    <a:pt x="695452" y="347726"/>
                  </a:cubicBezTo>
                  <a:cubicBezTo>
                    <a:pt x="695452" y="539750"/>
                    <a:pt x="539750" y="695452"/>
                    <a:pt x="347726" y="695452"/>
                  </a:cubicBezTo>
                  <a:cubicBezTo>
                    <a:pt x="155702" y="695452"/>
                    <a:pt x="0" y="539750"/>
                    <a:pt x="0" y="347726"/>
                  </a:cubicBezTo>
                  <a:close/>
                </a:path>
              </a:pathLst>
            </a:custGeom>
            <a:solidFill>
              <a:srgbClr val="E2E6EB"/>
            </a:solidFill>
            <a:ln w="9525" cap="sq">
              <a:solidFill>
                <a:srgbClr val="3060A5"/>
              </a:solidFill>
              <a:prstDash val="solid"/>
              <a:miter/>
            </a:ln>
          </p:spPr>
        </p:sp>
        <p:sp>
          <p:nvSpPr>
            <p:cNvPr name="TextBox 132" id="132"/>
            <p:cNvSpPr txBox="true"/>
            <p:nvPr/>
          </p:nvSpPr>
          <p:spPr>
            <a:xfrm>
              <a:off x="0" y="0"/>
              <a:ext cx="695452" cy="6954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3060A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</a:t>
              </a:r>
            </a:p>
          </p:txBody>
        </p:sp>
      </p:grpSp>
      <p:grpSp>
        <p:nvGrpSpPr>
          <p:cNvPr name="Group 133" id="133"/>
          <p:cNvGrpSpPr/>
          <p:nvPr/>
        </p:nvGrpSpPr>
        <p:grpSpPr>
          <a:xfrm rot="0">
            <a:off x="12042648" y="6400873"/>
            <a:ext cx="3840480" cy="356090"/>
            <a:chOff x="0" y="0"/>
            <a:chExt cx="5120640" cy="474786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5120639" cy="474786"/>
            </a:xfrm>
            <a:custGeom>
              <a:avLst/>
              <a:gdLst/>
              <a:ahLst/>
              <a:cxnLst/>
              <a:rect r="r" b="b" t="t" l="l"/>
              <a:pathLst>
                <a:path h="474786" w="5120639">
                  <a:moveTo>
                    <a:pt x="0" y="0"/>
                  </a:moveTo>
                  <a:lnTo>
                    <a:pt x="5120639" y="0"/>
                  </a:lnTo>
                  <a:lnTo>
                    <a:pt x="5120639" y="474786"/>
                  </a:lnTo>
                  <a:lnTo>
                    <a:pt x="0" y="47478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4198" r="0" b="-146099"/>
              </a:stretch>
            </a:blipFill>
          </p:spPr>
        </p:sp>
        <p:sp>
          <p:nvSpPr>
            <p:cNvPr name="TextBox 135" id="135"/>
            <p:cNvSpPr txBox="true"/>
            <p:nvPr/>
          </p:nvSpPr>
          <p:spPr>
            <a:xfrm>
              <a:off x="0" y="0"/>
              <a:ext cx="5120640" cy="4747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 b="true">
                  <a:solidFill>
                    <a:srgbClr val="3060A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SCALABLE DEPLOYMENT</a:t>
              </a:r>
            </a:p>
          </p:txBody>
        </p:sp>
      </p:grpSp>
      <p:grpSp>
        <p:nvGrpSpPr>
          <p:cNvPr name="Group 136" id="136"/>
          <p:cNvGrpSpPr/>
          <p:nvPr/>
        </p:nvGrpSpPr>
        <p:grpSpPr>
          <a:xfrm rot="0">
            <a:off x="12042648" y="6766560"/>
            <a:ext cx="3840480" cy="774312"/>
            <a:chOff x="0" y="0"/>
            <a:chExt cx="5120640" cy="1032415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5120639" cy="1032415"/>
            </a:xfrm>
            <a:custGeom>
              <a:avLst/>
              <a:gdLst/>
              <a:ahLst/>
              <a:cxnLst/>
              <a:rect r="r" b="b" t="t" l="l"/>
              <a:pathLst>
                <a:path h="1032415" w="5120639">
                  <a:moveTo>
                    <a:pt x="0" y="0"/>
                  </a:moveTo>
                  <a:lnTo>
                    <a:pt x="5120639" y="0"/>
                  </a:lnTo>
                  <a:lnTo>
                    <a:pt x="5120639" y="1032415"/>
                  </a:lnTo>
                  <a:lnTo>
                    <a:pt x="0" y="10324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034" r="0" b="-33251"/>
              </a:stretch>
            </a:blipFill>
          </p:spPr>
        </p:sp>
        <p:sp>
          <p:nvSpPr>
            <p:cNvPr name="TextBox 138" id="138"/>
            <p:cNvSpPr txBox="true"/>
            <p:nvPr/>
          </p:nvSpPr>
          <p:spPr>
            <a:xfrm>
              <a:off x="0" y="0"/>
              <a:ext cx="5120640" cy="1032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42"/>
                </a:lnSpc>
              </a:pPr>
              <a:r>
                <a:rPr lang="en-US" sz="1618">
                  <a:solidFill>
                    <a:srgbClr val="28303A"/>
                  </a:solidFill>
                  <a:latin typeface="Aptos"/>
                  <a:ea typeface="Aptos"/>
                  <a:cs typeface="Aptos"/>
                  <a:sym typeface="Aptos"/>
                </a:rPr>
                <a:t>Can be integrated into banking, telecom, enterprise and government communication environments.</a:t>
              </a:r>
            </a:p>
          </p:txBody>
        </p:sp>
      </p:grpSp>
      <p:grpSp>
        <p:nvGrpSpPr>
          <p:cNvPr name="Group 139" id="139"/>
          <p:cNvGrpSpPr/>
          <p:nvPr/>
        </p:nvGrpSpPr>
        <p:grpSpPr>
          <a:xfrm rot="0">
            <a:off x="6676018" y="2283515"/>
            <a:ext cx="2227231" cy="2227231"/>
            <a:chOff x="0" y="0"/>
            <a:chExt cx="2146300" cy="2146300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2146300" cy="2146300"/>
            </a:xfrm>
            <a:custGeom>
              <a:avLst/>
              <a:gdLst/>
              <a:ahLst/>
              <a:cxnLst/>
              <a:rect r="r" b="b" t="t" l="l"/>
              <a:pathLst>
                <a:path h="2146300" w="2146300">
                  <a:moveTo>
                    <a:pt x="0" y="257556"/>
                  </a:moveTo>
                  <a:cubicBezTo>
                    <a:pt x="0" y="115316"/>
                    <a:pt x="115316" y="0"/>
                    <a:pt x="257556" y="0"/>
                  </a:cubicBezTo>
                  <a:lnTo>
                    <a:pt x="1888744" y="0"/>
                  </a:lnTo>
                  <a:cubicBezTo>
                    <a:pt x="2030984" y="0"/>
                    <a:pt x="2146300" y="115316"/>
                    <a:pt x="2146300" y="257556"/>
                  </a:cubicBezTo>
                  <a:lnTo>
                    <a:pt x="2146300" y="1888744"/>
                  </a:lnTo>
                  <a:cubicBezTo>
                    <a:pt x="2146300" y="2030984"/>
                    <a:pt x="2030984" y="2146300"/>
                    <a:pt x="1888744" y="2146300"/>
                  </a:cubicBezTo>
                  <a:lnTo>
                    <a:pt x="257556" y="2146300"/>
                  </a:lnTo>
                  <a:cubicBezTo>
                    <a:pt x="115316" y="2146300"/>
                    <a:pt x="0" y="2030984"/>
                    <a:pt x="0" y="1888744"/>
                  </a:cubicBezTo>
                  <a:close/>
                </a:path>
              </a:pathLst>
            </a:custGeom>
            <a:solidFill>
              <a:srgbClr val="C52A2D"/>
            </a:solidFill>
            <a:ln w="9525" cap="sq">
              <a:solidFill>
                <a:srgbClr val="C52A2D"/>
              </a:solidFill>
              <a:prstDash val="solid"/>
              <a:miter/>
            </a:ln>
          </p:spPr>
        </p:sp>
      </p:grpSp>
      <p:grpSp>
        <p:nvGrpSpPr>
          <p:cNvPr name="Group 141" id="141"/>
          <p:cNvGrpSpPr/>
          <p:nvPr/>
        </p:nvGrpSpPr>
        <p:grpSpPr>
          <a:xfrm rot="0">
            <a:off x="8738250" y="2283515"/>
            <a:ext cx="2227231" cy="2227231"/>
            <a:chOff x="0" y="0"/>
            <a:chExt cx="2146300" cy="2146300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2146300" cy="2146300"/>
            </a:xfrm>
            <a:custGeom>
              <a:avLst/>
              <a:gdLst/>
              <a:ahLst/>
              <a:cxnLst/>
              <a:rect r="r" b="b" t="t" l="l"/>
              <a:pathLst>
                <a:path h="2146300" w="2146300">
                  <a:moveTo>
                    <a:pt x="0" y="257556"/>
                  </a:moveTo>
                  <a:cubicBezTo>
                    <a:pt x="0" y="115316"/>
                    <a:pt x="115316" y="0"/>
                    <a:pt x="257556" y="0"/>
                  </a:cubicBezTo>
                  <a:lnTo>
                    <a:pt x="1888744" y="0"/>
                  </a:lnTo>
                  <a:cubicBezTo>
                    <a:pt x="2030984" y="0"/>
                    <a:pt x="2146300" y="115316"/>
                    <a:pt x="2146300" y="257556"/>
                  </a:cubicBezTo>
                  <a:lnTo>
                    <a:pt x="2146300" y="1888744"/>
                  </a:lnTo>
                  <a:cubicBezTo>
                    <a:pt x="2146300" y="2030984"/>
                    <a:pt x="2030984" y="2146300"/>
                    <a:pt x="1888744" y="2146300"/>
                  </a:cubicBezTo>
                  <a:lnTo>
                    <a:pt x="257556" y="2146300"/>
                  </a:lnTo>
                  <a:cubicBezTo>
                    <a:pt x="115316" y="2146300"/>
                    <a:pt x="0" y="2030984"/>
                    <a:pt x="0" y="1888744"/>
                  </a:cubicBezTo>
                  <a:close/>
                </a:path>
              </a:pathLst>
            </a:custGeom>
            <a:solidFill>
              <a:srgbClr val="D2891E"/>
            </a:solidFill>
            <a:ln w="9525" cap="sq">
              <a:solidFill>
                <a:srgbClr val="D2891E"/>
              </a:solidFill>
              <a:prstDash val="solid"/>
              <a:miter/>
            </a:ln>
          </p:spPr>
        </p:sp>
      </p:grpSp>
      <p:grpSp>
        <p:nvGrpSpPr>
          <p:cNvPr name="Group 143" id="143"/>
          <p:cNvGrpSpPr/>
          <p:nvPr/>
        </p:nvGrpSpPr>
        <p:grpSpPr>
          <a:xfrm rot="0">
            <a:off x="6676018" y="4307791"/>
            <a:ext cx="2227231" cy="2227231"/>
            <a:chOff x="0" y="0"/>
            <a:chExt cx="2146300" cy="2146300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2146300" cy="2146300"/>
            </a:xfrm>
            <a:custGeom>
              <a:avLst/>
              <a:gdLst/>
              <a:ahLst/>
              <a:cxnLst/>
              <a:rect r="r" b="b" t="t" l="l"/>
              <a:pathLst>
                <a:path h="2146300" w="2146300">
                  <a:moveTo>
                    <a:pt x="0" y="257556"/>
                  </a:moveTo>
                  <a:cubicBezTo>
                    <a:pt x="0" y="115316"/>
                    <a:pt x="115316" y="0"/>
                    <a:pt x="257556" y="0"/>
                  </a:cubicBezTo>
                  <a:lnTo>
                    <a:pt x="1888744" y="0"/>
                  </a:lnTo>
                  <a:cubicBezTo>
                    <a:pt x="2030984" y="0"/>
                    <a:pt x="2146300" y="115316"/>
                    <a:pt x="2146300" y="257556"/>
                  </a:cubicBezTo>
                  <a:lnTo>
                    <a:pt x="2146300" y="1888744"/>
                  </a:lnTo>
                  <a:cubicBezTo>
                    <a:pt x="2146300" y="2030984"/>
                    <a:pt x="2030984" y="2146300"/>
                    <a:pt x="1888744" y="2146300"/>
                  </a:cubicBezTo>
                  <a:lnTo>
                    <a:pt x="257556" y="2146300"/>
                  </a:lnTo>
                  <a:cubicBezTo>
                    <a:pt x="115316" y="2146300"/>
                    <a:pt x="0" y="2030984"/>
                    <a:pt x="0" y="1888744"/>
                  </a:cubicBezTo>
                  <a:close/>
                </a:path>
              </a:pathLst>
            </a:custGeom>
            <a:solidFill>
              <a:srgbClr val="60378C"/>
            </a:solidFill>
            <a:ln w="9525" cap="sq">
              <a:solidFill>
                <a:srgbClr val="60378C"/>
              </a:solidFill>
              <a:prstDash val="solid"/>
              <a:miter/>
            </a:ln>
          </p:spPr>
        </p:sp>
      </p:grpSp>
      <p:grpSp>
        <p:nvGrpSpPr>
          <p:cNvPr name="Group 145" id="145"/>
          <p:cNvGrpSpPr/>
          <p:nvPr/>
        </p:nvGrpSpPr>
        <p:grpSpPr>
          <a:xfrm rot="0">
            <a:off x="8738250" y="4307791"/>
            <a:ext cx="2227231" cy="2227231"/>
            <a:chOff x="0" y="0"/>
            <a:chExt cx="2146300" cy="2146300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0" y="0"/>
              <a:ext cx="2146300" cy="2146300"/>
            </a:xfrm>
            <a:custGeom>
              <a:avLst/>
              <a:gdLst/>
              <a:ahLst/>
              <a:cxnLst/>
              <a:rect r="r" b="b" t="t" l="l"/>
              <a:pathLst>
                <a:path h="2146300" w="2146300">
                  <a:moveTo>
                    <a:pt x="0" y="257556"/>
                  </a:moveTo>
                  <a:cubicBezTo>
                    <a:pt x="0" y="115316"/>
                    <a:pt x="115316" y="0"/>
                    <a:pt x="257556" y="0"/>
                  </a:cubicBezTo>
                  <a:lnTo>
                    <a:pt x="1888744" y="0"/>
                  </a:lnTo>
                  <a:cubicBezTo>
                    <a:pt x="2030984" y="0"/>
                    <a:pt x="2146300" y="115316"/>
                    <a:pt x="2146300" y="257556"/>
                  </a:cubicBezTo>
                  <a:lnTo>
                    <a:pt x="2146300" y="1888744"/>
                  </a:lnTo>
                  <a:cubicBezTo>
                    <a:pt x="2146300" y="2030984"/>
                    <a:pt x="2030984" y="2146300"/>
                    <a:pt x="1888744" y="2146300"/>
                  </a:cubicBezTo>
                  <a:lnTo>
                    <a:pt x="257556" y="2146300"/>
                  </a:lnTo>
                  <a:cubicBezTo>
                    <a:pt x="115316" y="2146300"/>
                    <a:pt x="0" y="2030984"/>
                    <a:pt x="0" y="1888744"/>
                  </a:cubicBezTo>
                  <a:close/>
                </a:path>
              </a:pathLst>
            </a:custGeom>
            <a:solidFill>
              <a:srgbClr val="257D81"/>
            </a:solidFill>
            <a:ln w="9525" cap="sq">
              <a:solidFill>
                <a:srgbClr val="257D81"/>
              </a:solidFill>
              <a:prstDash val="solid"/>
              <a:miter/>
            </a:ln>
          </p:spPr>
        </p:sp>
      </p:grpSp>
      <p:grpSp>
        <p:nvGrpSpPr>
          <p:cNvPr name="Group 147" id="147"/>
          <p:cNvGrpSpPr/>
          <p:nvPr/>
        </p:nvGrpSpPr>
        <p:grpSpPr>
          <a:xfrm rot="0">
            <a:off x="6928381" y="2553388"/>
            <a:ext cx="3745438" cy="3745438"/>
            <a:chOff x="0" y="0"/>
            <a:chExt cx="3609340" cy="3609340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3609340" cy="3609340"/>
            </a:xfrm>
            <a:custGeom>
              <a:avLst/>
              <a:gdLst/>
              <a:ahLst/>
              <a:cxnLst/>
              <a:rect r="r" b="b" t="t" l="l"/>
              <a:pathLst>
                <a:path h="3609340" w="3609340">
                  <a:moveTo>
                    <a:pt x="0" y="1804670"/>
                  </a:moveTo>
                  <a:cubicBezTo>
                    <a:pt x="0" y="807974"/>
                    <a:pt x="807974" y="0"/>
                    <a:pt x="1804670" y="0"/>
                  </a:cubicBezTo>
                  <a:cubicBezTo>
                    <a:pt x="2801366" y="0"/>
                    <a:pt x="3609340" y="807974"/>
                    <a:pt x="3609340" y="1804670"/>
                  </a:cubicBezTo>
                  <a:cubicBezTo>
                    <a:pt x="3609340" y="2801366"/>
                    <a:pt x="2801366" y="3609340"/>
                    <a:pt x="1804670" y="3609340"/>
                  </a:cubicBezTo>
                  <a:cubicBezTo>
                    <a:pt x="807974" y="3609340"/>
                    <a:pt x="0" y="2801366"/>
                    <a:pt x="0" y="1804670"/>
                  </a:cubicBezTo>
                  <a:close/>
                </a:path>
              </a:pathLst>
            </a:custGeom>
            <a:solidFill>
              <a:srgbClr val="F5F7FA">
                <a:alpha val="87843"/>
              </a:srgbClr>
            </a:solidFill>
            <a:ln w="66675" cap="sq">
              <a:solidFill>
                <a:srgbClr val="3CC027">
                  <a:alpha val="87843"/>
                </a:srgbClr>
              </a:solidFill>
              <a:prstDash val="solid"/>
              <a:miter/>
            </a:ln>
          </p:spPr>
        </p:sp>
      </p:grpSp>
      <p:grpSp>
        <p:nvGrpSpPr>
          <p:cNvPr name="Group 149" id="149"/>
          <p:cNvGrpSpPr/>
          <p:nvPr/>
        </p:nvGrpSpPr>
        <p:grpSpPr>
          <a:xfrm rot="0">
            <a:off x="5114748" y="3662694"/>
            <a:ext cx="7372703" cy="1143521"/>
            <a:chOff x="0" y="0"/>
            <a:chExt cx="2987040" cy="463296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2987040" cy="463296"/>
            </a:xfrm>
            <a:custGeom>
              <a:avLst/>
              <a:gdLst/>
              <a:ahLst/>
              <a:cxnLst/>
              <a:rect r="r" b="b" t="t" l="l"/>
              <a:pathLst>
                <a:path h="463296" w="2987040">
                  <a:moveTo>
                    <a:pt x="0" y="0"/>
                  </a:moveTo>
                  <a:lnTo>
                    <a:pt x="2987040" y="0"/>
                  </a:lnTo>
                  <a:lnTo>
                    <a:pt x="2987040" y="463296"/>
                  </a:lnTo>
                  <a:lnTo>
                    <a:pt x="0" y="4632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627" r="0" b="-75627"/>
              </a:stretch>
            </a:blipFill>
          </p:spPr>
        </p:sp>
        <p:sp>
          <p:nvSpPr>
            <p:cNvPr name="TextBox 151" id="151"/>
            <p:cNvSpPr txBox="true"/>
            <p:nvPr/>
          </p:nvSpPr>
          <p:spPr>
            <a:xfrm>
              <a:off x="0" y="0"/>
              <a:ext cx="2987040" cy="4632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19"/>
                </a:lnSpc>
              </a:pPr>
              <a:r>
                <a:rPr lang="en-US" sz="1599" b="true">
                  <a:solidFill>
                    <a:srgbClr val="08132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AI VOICE SECURITY</a:t>
              </a:r>
            </a:p>
          </p:txBody>
        </p:sp>
      </p:grpSp>
      <p:grpSp>
        <p:nvGrpSpPr>
          <p:cNvPr name="Group 152" id="152"/>
          <p:cNvGrpSpPr/>
          <p:nvPr/>
        </p:nvGrpSpPr>
        <p:grpSpPr>
          <a:xfrm rot="0">
            <a:off x="7109429" y="4632038"/>
            <a:ext cx="3400402" cy="410677"/>
            <a:chOff x="0" y="0"/>
            <a:chExt cx="2987040" cy="360754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2987040" cy="360754"/>
            </a:xfrm>
            <a:custGeom>
              <a:avLst/>
              <a:gdLst/>
              <a:ahLst/>
              <a:cxnLst/>
              <a:rect r="r" b="b" t="t" l="l"/>
              <a:pathLst>
                <a:path h="360754" w="2987040">
                  <a:moveTo>
                    <a:pt x="0" y="0"/>
                  </a:moveTo>
                  <a:lnTo>
                    <a:pt x="2987040" y="0"/>
                  </a:lnTo>
                  <a:lnTo>
                    <a:pt x="2987040" y="360754"/>
                  </a:lnTo>
                  <a:lnTo>
                    <a:pt x="0" y="36075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9091" r="0" b="-103580"/>
              </a:stretch>
            </a:blipFill>
          </p:spPr>
        </p:sp>
        <p:sp>
          <p:nvSpPr>
            <p:cNvPr name="TextBox 154" id="154"/>
            <p:cNvSpPr txBox="true"/>
            <p:nvPr/>
          </p:nvSpPr>
          <p:spPr>
            <a:xfrm>
              <a:off x="0" y="0"/>
              <a:ext cx="2987040" cy="3607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95"/>
                </a:lnSpc>
              </a:pPr>
              <a:r>
                <a:rPr lang="en-US" sz="1579">
                  <a:solidFill>
                    <a:srgbClr val="373C46"/>
                  </a:solidFill>
                  <a:latin typeface="Aptos"/>
                  <a:ea typeface="Aptos"/>
                  <a:cs typeface="Aptos"/>
                  <a:sym typeface="Aptos"/>
                </a:rPr>
                <a:t>Detect • Verify • Assess • Protect</a:t>
              </a:r>
            </a:p>
          </p:txBody>
        </p:sp>
      </p:grpSp>
      <p:grpSp>
        <p:nvGrpSpPr>
          <p:cNvPr name="Group 155" id="155"/>
          <p:cNvGrpSpPr/>
          <p:nvPr/>
        </p:nvGrpSpPr>
        <p:grpSpPr>
          <a:xfrm rot="0">
            <a:off x="6935642" y="1999115"/>
            <a:ext cx="1644725" cy="354248"/>
            <a:chOff x="0" y="0"/>
            <a:chExt cx="1584960" cy="341376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1584960" cy="341376"/>
            </a:xfrm>
            <a:custGeom>
              <a:avLst/>
              <a:gdLst/>
              <a:ahLst/>
              <a:cxnLst/>
              <a:rect r="r" b="b" t="t" l="l"/>
              <a:pathLst>
                <a:path h="341376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341376"/>
                  </a:lnTo>
                  <a:lnTo>
                    <a:pt x="0" y="3413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466" r="0" b="-40466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0"/>
              <a:ext cx="1584960" cy="3413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199"/>
                </a:lnSpc>
              </a:pPr>
              <a:r>
                <a:rPr lang="en-US" sz="999" b="true">
                  <a:solidFill>
                    <a:srgbClr val="F5F7F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DETECT</a:t>
              </a: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9124391" y="1999115"/>
            <a:ext cx="1644725" cy="354248"/>
            <a:chOff x="0" y="0"/>
            <a:chExt cx="1584960" cy="341376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1584960" cy="341376"/>
            </a:xfrm>
            <a:custGeom>
              <a:avLst/>
              <a:gdLst/>
              <a:ahLst/>
              <a:cxnLst/>
              <a:rect r="r" b="b" t="t" l="l"/>
              <a:pathLst>
                <a:path h="341376" w="1584960">
                  <a:moveTo>
                    <a:pt x="0" y="0"/>
                  </a:moveTo>
                  <a:lnTo>
                    <a:pt x="1584960" y="0"/>
                  </a:lnTo>
                  <a:lnTo>
                    <a:pt x="1584960" y="341376"/>
                  </a:lnTo>
                  <a:lnTo>
                    <a:pt x="0" y="3413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466" r="0" b="-40466"/>
              </a:stretch>
            </a:blipFill>
          </p:spPr>
        </p:sp>
        <p:sp>
          <p:nvSpPr>
            <p:cNvPr name="TextBox 160" id="160"/>
            <p:cNvSpPr txBox="true"/>
            <p:nvPr/>
          </p:nvSpPr>
          <p:spPr>
            <a:xfrm>
              <a:off x="0" y="0"/>
              <a:ext cx="1584960" cy="3413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199"/>
                </a:lnSpc>
              </a:pPr>
              <a:r>
                <a:rPr lang="en-US" sz="999" b="true">
                  <a:solidFill>
                    <a:srgbClr val="F5F7F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PROTECT</a:t>
              </a:r>
            </a:p>
          </p:txBody>
        </p:sp>
      </p:grpSp>
      <p:grpSp>
        <p:nvGrpSpPr>
          <p:cNvPr name="Group 161" id="161"/>
          <p:cNvGrpSpPr/>
          <p:nvPr/>
        </p:nvGrpSpPr>
        <p:grpSpPr>
          <a:xfrm rot="0">
            <a:off x="6834428" y="6503130"/>
            <a:ext cx="1771242" cy="354248"/>
            <a:chOff x="0" y="0"/>
            <a:chExt cx="1706880" cy="341376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1706880" cy="341376"/>
            </a:xfrm>
            <a:custGeom>
              <a:avLst/>
              <a:gdLst/>
              <a:ahLst/>
              <a:cxnLst/>
              <a:rect r="r" b="b" t="t" l="l"/>
              <a:pathLst>
                <a:path h="341376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341376"/>
                  </a:lnTo>
                  <a:lnTo>
                    <a:pt x="0" y="3413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163" id="163"/>
            <p:cNvSpPr txBox="true"/>
            <p:nvPr/>
          </p:nvSpPr>
          <p:spPr>
            <a:xfrm>
              <a:off x="0" y="0"/>
              <a:ext cx="1706880" cy="3413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199"/>
                </a:lnSpc>
              </a:pPr>
              <a:r>
                <a:rPr lang="en-US" sz="999" b="true">
                  <a:solidFill>
                    <a:srgbClr val="F5F7F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ANALYZE</a:t>
              </a:r>
            </a:p>
          </p:txBody>
        </p:sp>
      </p:grpSp>
      <p:grpSp>
        <p:nvGrpSpPr>
          <p:cNvPr name="Group 164" id="164"/>
          <p:cNvGrpSpPr/>
          <p:nvPr/>
        </p:nvGrpSpPr>
        <p:grpSpPr>
          <a:xfrm rot="0">
            <a:off x="8959918" y="6503130"/>
            <a:ext cx="1771242" cy="354248"/>
            <a:chOff x="0" y="0"/>
            <a:chExt cx="1706880" cy="341376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1706880" cy="341376"/>
            </a:xfrm>
            <a:custGeom>
              <a:avLst/>
              <a:gdLst/>
              <a:ahLst/>
              <a:cxnLst/>
              <a:rect r="r" b="b" t="t" l="l"/>
              <a:pathLst>
                <a:path h="341376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341376"/>
                  </a:lnTo>
                  <a:lnTo>
                    <a:pt x="0" y="3413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166" id="166"/>
            <p:cNvSpPr txBox="true"/>
            <p:nvPr/>
          </p:nvSpPr>
          <p:spPr>
            <a:xfrm>
              <a:off x="0" y="0"/>
              <a:ext cx="1706880" cy="3413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199"/>
                </a:lnSpc>
              </a:pPr>
              <a:r>
                <a:rPr lang="en-US" sz="999" b="true">
                  <a:solidFill>
                    <a:srgbClr val="F5F7F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RESPOND</a:t>
              </a:r>
            </a:p>
          </p:txBody>
        </p:sp>
      </p:grpSp>
      <p:grpSp>
        <p:nvGrpSpPr>
          <p:cNvPr name="Group 167" id="167"/>
          <p:cNvGrpSpPr/>
          <p:nvPr/>
        </p:nvGrpSpPr>
        <p:grpSpPr>
          <a:xfrm rot="0">
            <a:off x="876784" y="8099108"/>
            <a:ext cx="16372212" cy="1045210"/>
            <a:chOff x="0" y="0"/>
            <a:chExt cx="20251420" cy="1292860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20251420" cy="1292860"/>
            </a:xfrm>
            <a:custGeom>
              <a:avLst/>
              <a:gdLst/>
              <a:ahLst/>
              <a:cxnLst/>
              <a:rect r="r" b="b" t="t" l="l"/>
              <a:pathLst>
                <a:path h="1292860" w="20251420">
                  <a:moveTo>
                    <a:pt x="0" y="155194"/>
                  </a:moveTo>
                  <a:cubicBezTo>
                    <a:pt x="0" y="69469"/>
                    <a:pt x="69469" y="0"/>
                    <a:pt x="155194" y="0"/>
                  </a:cubicBezTo>
                  <a:lnTo>
                    <a:pt x="20096226" y="0"/>
                  </a:lnTo>
                  <a:cubicBezTo>
                    <a:pt x="20181951" y="0"/>
                    <a:pt x="20251420" y="69469"/>
                    <a:pt x="20251420" y="155194"/>
                  </a:cubicBezTo>
                  <a:lnTo>
                    <a:pt x="20251420" y="1137666"/>
                  </a:lnTo>
                  <a:cubicBezTo>
                    <a:pt x="20251420" y="1223391"/>
                    <a:pt x="20181951" y="1292860"/>
                    <a:pt x="20096226" y="1292860"/>
                  </a:cubicBezTo>
                  <a:lnTo>
                    <a:pt x="155194" y="1292860"/>
                  </a:lnTo>
                  <a:cubicBezTo>
                    <a:pt x="69469" y="1292860"/>
                    <a:pt x="0" y="1223391"/>
                    <a:pt x="0" y="1137666"/>
                  </a:cubicBezTo>
                  <a:close/>
                </a:path>
              </a:pathLst>
            </a:custGeom>
            <a:solidFill>
              <a:srgbClr val="0A1931"/>
            </a:solidFill>
            <a:ln w="9525" cap="sq">
              <a:solidFill>
                <a:srgbClr val="7D8796"/>
              </a:solidFill>
              <a:prstDash val="solid"/>
              <a:miter/>
            </a:ln>
          </p:spPr>
        </p:sp>
      </p:grpSp>
      <p:grpSp>
        <p:nvGrpSpPr>
          <p:cNvPr name="Group 169" id="169"/>
          <p:cNvGrpSpPr/>
          <p:nvPr/>
        </p:nvGrpSpPr>
        <p:grpSpPr>
          <a:xfrm rot="0">
            <a:off x="1226898" y="8321086"/>
            <a:ext cx="1379923" cy="443547"/>
            <a:chOff x="0" y="0"/>
            <a:chExt cx="1706880" cy="548640"/>
          </a:xfrm>
        </p:grpSpPr>
        <p:sp>
          <p:nvSpPr>
            <p:cNvPr name="Freeform 170" id="170"/>
            <p:cNvSpPr/>
            <p:nvPr/>
          </p:nvSpPr>
          <p:spPr>
            <a:xfrm flipH="false" flipV="false" rot="0">
              <a:off x="0" y="0"/>
              <a:ext cx="1706880" cy="548640"/>
            </a:xfrm>
            <a:custGeom>
              <a:avLst/>
              <a:gdLst/>
              <a:ahLst/>
              <a:cxnLst/>
              <a:rect r="r" b="b" t="t" l="l"/>
              <a:pathLst>
                <a:path h="54864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620" r="0" b="-10620"/>
              </a:stretch>
            </a:blipFill>
          </p:spPr>
        </p:sp>
        <p:sp>
          <p:nvSpPr>
            <p:cNvPr name="TextBox 171" id="171"/>
            <p:cNvSpPr txBox="true"/>
            <p:nvPr/>
          </p:nvSpPr>
          <p:spPr>
            <a:xfrm>
              <a:off x="0" y="0"/>
              <a:ext cx="170688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80"/>
                </a:lnSpc>
              </a:pPr>
              <a:r>
                <a:rPr lang="en-US" sz="1400" b="true">
                  <a:solidFill>
                    <a:srgbClr val="CDD4D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OUTCOME</a:t>
              </a:r>
            </a:p>
          </p:txBody>
        </p:sp>
      </p:grpSp>
      <p:grpSp>
        <p:nvGrpSpPr>
          <p:cNvPr name="Group 172" id="172"/>
          <p:cNvGrpSpPr/>
          <p:nvPr/>
        </p:nvGrpSpPr>
        <p:grpSpPr>
          <a:xfrm rot="0">
            <a:off x="3143800" y="8335666"/>
            <a:ext cx="453814" cy="453814"/>
            <a:chOff x="0" y="0"/>
            <a:chExt cx="561340" cy="561340"/>
          </a:xfrm>
        </p:grpSpPr>
        <p:sp>
          <p:nvSpPr>
            <p:cNvPr name="Freeform 173" id="173"/>
            <p:cNvSpPr/>
            <p:nvPr/>
          </p:nvSpPr>
          <p:spPr>
            <a:xfrm flipH="false" flipV="false" rot="0">
              <a:off x="0" y="0"/>
              <a:ext cx="561340" cy="561340"/>
            </a:xfrm>
            <a:custGeom>
              <a:avLst/>
              <a:gdLst/>
              <a:ahLst/>
              <a:cxnLst/>
              <a:rect r="r" b="b" t="t" l="l"/>
              <a:pathLst>
                <a:path h="561340" w="561340">
                  <a:moveTo>
                    <a:pt x="0" y="280670"/>
                  </a:moveTo>
                  <a:cubicBezTo>
                    <a:pt x="0" y="125603"/>
                    <a:pt x="125603" y="0"/>
                    <a:pt x="280670" y="0"/>
                  </a:cubicBezTo>
                  <a:cubicBezTo>
                    <a:pt x="435737" y="0"/>
                    <a:pt x="561340" y="125603"/>
                    <a:pt x="561340" y="280670"/>
                  </a:cubicBezTo>
                  <a:cubicBezTo>
                    <a:pt x="561340" y="435737"/>
                    <a:pt x="435737" y="561340"/>
                    <a:pt x="280670" y="561340"/>
                  </a:cubicBezTo>
                  <a:cubicBezTo>
                    <a:pt x="125603" y="561340"/>
                    <a:pt x="0" y="435737"/>
                    <a:pt x="0" y="280670"/>
                  </a:cubicBezTo>
                  <a:close/>
                </a:path>
              </a:pathLst>
            </a:custGeom>
            <a:solidFill>
              <a:srgbClr val="1B2D48"/>
            </a:solidFill>
            <a:ln w="9525" cap="sq">
              <a:solidFill>
                <a:srgbClr val="647891"/>
              </a:solidFill>
              <a:prstDash val="solid"/>
              <a:miter/>
            </a:ln>
          </p:spPr>
        </p:sp>
        <p:sp>
          <p:nvSpPr>
            <p:cNvPr name="TextBox 174" id="174"/>
            <p:cNvSpPr txBox="true"/>
            <p:nvPr/>
          </p:nvSpPr>
          <p:spPr>
            <a:xfrm>
              <a:off x="0" y="0"/>
              <a:ext cx="561340" cy="5613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99"/>
                </a:lnSpc>
              </a:pPr>
              <a:r>
                <a:rPr lang="en-US" sz="999" b="true">
                  <a:solidFill>
                    <a:srgbClr val="F5F7F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</a:t>
              </a:r>
            </a:p>
          </p:txBody>
        </p:sp>
      </p:grpSp>
      <p:grpSp>
        <p:nvGrpSpPr>
          <p:cNvPr name="Group 175" id="175"/>
          <p:cNvGrpSpPr/>
          <p:nvPr/>
        </p:nvGrpSpPr>
        <p:grpSpPr>
          <a:xfrm rot="0">
            <a:off x="3720616" y="8321086"/>
            <a:ext cx="2710563" cy="492830"/>
            <a:chOff x="0" y="0"/>
            <a:chExt cx="3352800" cy="609600"/>
          </a:xfrm>
        </p:grpSpPr>
        <p:sp>
          <p:nvSpPr>
            <p:cNvPr name="Freeform 176" id="176"/>
            <p:cNvSpPr/>
            <p:nvPr/>
          </p:nvSpPr>
          <p:spPr>
            <a:xfrm flipH="false" flipV="false" rot="0">
              <a:off x="0" y="0"/>
              <a:ext cx="3352800" cy="609600"/>
            </a:xfrm>
            <a:custGeom>
              <a:avLst/>
              <a:gdLst/>
              <a:ahLst/>
              <a:cxnLst/>
              <a:rect r="r" b="b" t="t" l="l"/>
              <a:pathLst>
                <a:path h="609600" w="3352800">
                  <a:moveTo>
                    <a:pt x="0" y="0"/>
                  </a:moveTo>
                  <a:lnTo>
                    <a:pt x="3352800" y="0"/>
                  </a:lnTo>
                  <a:lnTo>
                    <a:pt x="33528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167" r="0" b="-57167"/>
              </a:stretch>
            </a:blipFill>
          </p:spPr>
        </p:sp>
        <p:sp>
          <p:nvSpPr>
            <p:cNvPr name="TextBox 177" id="177"/>
            <p:cNvSpPr txBox="true"/>
            <p:nvPr/>
          </p:nvSpPr>
          <p:spPr>
            <a:xfrm>
              <a:off x="0" y="0"/>
              <a:ext cx="335280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20"/>
                </a:lnSpc>
              </a:pPr>
              <a:r>
                <a:rPr lang="en-US" sz="1100">
                  <a:solidFill>
                    <a:srgbClr val="CDD4DC"/>
                  </a:solidFill>
                  <a:latin typeface="Aptos"/>
                  <a:ea typeface="Aptos"/>
                  <a:cs typeface="Aptos"/>
                  <a:sym typeface="Aptos"/>
                </a:rPr>
                <a:t>Safer Communication</a:t>
              </a:r>
            </a:p>
          </p:txBody>
        </p:sp>
      </p:grpSp>
      <p:grpSp>
        <p:nvGrpSpPr>
          <p:cNvPr name="Group 178" id="178"/>
          <p:cNvGrpSpPr/>
          <p:nvPr/>
        </p:nvGrpSpPr>
        <p:grpSpPr>
          <a:xfrm rot="0">
            <a:off x="6613321" y="8315953"/>
            <a:ext cx="22095" cy="601663"/>
            <a:chOff x="0" y="0"/>
            <a:chExt cx="27330" cy="744220"/>
          </a:xfrm>
        </p:grpSpPr>
        <p:sp>
          <p:nvSpPr>
            <p:cNvPr name="Freeform 179" id="179"/>
            <p:cNvSpPr/>
            <p:nvPr/>
          </p:nvSpPr>
          <p:spPr>
            <a:xfrm flipH="false" flipV="false" rot="0">
              <a:off x="0" y="0"/>
              <a:ext cx="27305" cy="744220"/>
            </a:xfrm>
            <a:custGeom>
              <a:avLst/>
              <a:gdLst/>
              <a:ahLst/>
              <a:cxnLst/>
              <a:rect r="r" b="b" t="t" l="l"/>
              <a:pathLst>
                <a:path h="744220" w="27305">
                  <a:moveTo>
                    <a:pt x="0" y="0"/>
                  </a:moveTo>
                  <a:lnTo>
                    <a:pt x="27305" y="0"/>
                  </a:lnTo>
                  <a:lnTo>
                    <a:pt x="27305" y="744220"/>
                  </a:lnTo>
                  <a:lnTo>
                    <a:pt x="0" y="744220"/>
                  </a:lnTo>
                  <a:close/>
                </a:path>
              </a:pathLst>
            </a:custGeom>
            <a:solidFill>
              <a:srgbClr val="5A697D"/>
            </a:solidFill>
            <a:ln w="9525" cap="sq">
              <a:solidFill>
                <a:srgbClr val="5A697D"/>
              </a:solidFill>
              <a:prstDash val="solid"/>
              <a:miter/>
            </a:ln>
          </p:spPr>
        </p:sp>
      </p:grpSp>
      <p:grpSp>
        <p:nvGrpSpPr>
          <p:cNvPr name="Group 180" id="180"/>
          <p:cNvGrpSpPr/>
          <p:nvPr/>
        </p:nvGrpSpPr>
        <p:grpSpPr>
          <a:xfrm rot="0">
            <a:off x="6790740" y="8335666"/>
            <a:ext cx="453814" cy="453814"/>
            <a:chOff x="0" y="0"/>
            <a:chExt cx="561340" cy="561340"/>
          </a:xfrm>
        </p:grpSpPr>
        <p:sp>
          <p:nvSpPr>
            <p:cNvPr name="Freeform 181" id="181"/>
            <p:cNvSpPr/>
            <p:nvPr/>
          </p:nvSpPr>
          <p:spPr>
            <a:xfrm flipH="false" flipV="false" rot="0">
              <a:off x="0" y="0"/>
              <a:ext cx="561340" cy="561340"/>
            </a:xfrm>
            <a:custGeom>
              <a:avLst/>
              <a:gdLst/>
              <a:ahLst/>
              <a:cxnLst/>
              <a:rect r="r" b="b" t="t" l="l"/>
              <a:pathLst>
                <a:path h="561340" w="561340">
                  <a:moveTo>
                    <a:pt x="0" y="280670"/>
                  </a:moveTo>
                  <a:cubicBezTo>
                    <a:pt x="0" y="125603"/>
                    <a:pt x="125603" y="0"/>
                    <a:pt x="280670" y="0"/>
                  </a:cubicBezTo>
                  <a:cubicBezTo>
                    <a:pt x="435737" y="0"/>
                    <a:pt x="561340" y="125603"/>
                    <a:pt x="561340" y="280670"/>
                  </a:cubicBezTo>
                  <a:cubicBezTo>
                    <a:pt x="561340" y="435737"/>
                    <a:pt x="435737" y="561340"/>
                    <a:pt x="280670" y="561340"/>
                  </a:cubicBezTo>
                  <a:cubicBezTo>
                    <a:pt x="125603" y="561340"/>
                    <a:pt x="0" y="435737"/>
                    <a:pt x="0" y="280670"/>
                  </a:cubicBezTo>
                  <a:close/>
                </a:path>
              </a:pathLst>
            </a:custGeom>
            <a:solidFill>
              <a:srgbClr val="1B2D48"/>
            </a:solidFill>
            <a:ln w="9525" cap="sq">
              <a:solidFill>
                <a:srgbClr val="647891"/>
              </a:solidFill>
              <a:prstDash val="solid"/>
              <a:miter/>
            </a:ln>
          </p:spPr>
        </p:sp>
        <p:sp>
          <p:nvSpPr>
            <p:cNvPr name="TextBox 182" id="182"/>
            <p:cNvSpPr txBox="true"/>
            <p:nvPr/>
          </p:nvSpPr>
          <p:spPr>
            <a:xfrm>
              <a:off x="0" y="0"/>
              <a:ext cx="561340" cy="5613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99"/>
                </a:lnSpc>
              </a:pPr>
              <a:r>
                <a:rPr lang="en-US" sz="999" b="true">
                  <a:solidFill>
                    <a:srgbClr val="F5F7F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</a:t>
              </a:r>
            </a:p>
          </p:txBody>
        </p:sp>
      </p:grpSp>
      <p:grpSp>
        <p:nvGrpSpPr>
          <p:cNvPr name="Group 183" id="183"/>
          <p:cNvGrpSpPr/>
          <p:nvPr/>
        </p:nvGrpSpPr>
        <p:grpSpPr>
          <a:xfrm rot="0">
            <a:off x="7367556" y="8321086"/>
            <a:ext cx="2710563" cy="492830"/>
            <a:chOff x="0" y="0"/>
            <a:chExt cx="3352800" cy="609600"/>
          </a:xfrm>
        </p:grpSpPr>
        <p:sp>
          <p:nvSpPr>
            <p:cNvPr name="Freeform 184" id="184"/>
            <p:cNvSpPr/>
            <p:nvPr/>
          </p:nvSpPr>
          <p:spPr>
            <a:xfrm flipH="false" flipV="false" rot="0">
              <a:off x="0" y="0"/>
              <a:ext cx="3352800" cy="609600"/>
            </a:xfrm>
            <a:custGeom>
              <a:avLst/>
              <a:gdLst/>
              <a:ahLst/>
              <a:cxnLst/>
              <a:rect r="r" b="b" t="t" l="l"/>
              <a:pathLst>
                <a:path h="609600" w="3352800">
                  <a:moveTo>
                    <a:pt x="0" y="0"/>
                  </a:moveTo>
                  <a:lnTo>
                    <a:pt x="3352800" y="0"/>
                  </a:lnTo>
                  <a:lnTo>
                    <a:pt x="33528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167" r="0" b="-57167"/>
              </a:stretch>
            </a:blipFill>
          </p:spPr>
        </p:sp>
        <p:sp>
          <p:nvSpPr>
            <p:cNvPr name="TextBox 185" id="185"/>
            <p:cNvSpPr txBox="true"/>
            <p:nvPr/>
          </p:nvSpPr>
          <p:spPr>
            <a:xfrm>
              <a:off x="0" y="0"/>
              <a:ext cx="335280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20"/>
                </a:lnSpc>
              </a:pPr>
              <a:r>
                <a:rPr lang="en-US" sz="1100">
                  <a:solidFill>
                    <a:srgbClr val="CDD4DC"/>
                  </a:solidFill>
                  <a:latin typeface="Aptos"/>
                  <a:ea typeface="Aptos"/>
                  <a:cs typeface="Aptos"/>
                  <a:sym typeface="Aptos"/>
                </a:rPr>
                <a:t>Reduced Losses</a:t>
              </a:r>
            </a:p>
          </p:txBody>
        </p:sp>
      </p:grpSp>
      <p:grpSp>
        <p:nvGrpSpPr>
          <p:cNvPr name="Group 186" id="186"/>
          <p:cNvGrpSpPr/>
          <p:nvPr/>
        </p:nvGrpSpPr>
        <p:grpSpPr>
          <a:xfrm rot="0">
            <a:off x="10260261" y="8315953"/>
            <a:ext cx="22095" cy="601663"/>
            <a:chOff x="0" y="0"/>
            <a:chExt cx="27330" cy="744220"/>
          </a:xfrm>
        </p:grpSpPr>
        <p:sp>
          <p:nvSpPr>
            <p:cNvPr name="Freeform 187" id="187"/>
            <p:cNvSpPr/>
            <p:nvPr/>
          </p:nvSpPr>
          <p:spPr>
            <a:xfrm flipH="false" flipV="false" rot="0">
              <a:off x="0" y="0"/>
              <a:ext cx="27305" cy="744220"/>
            </a:xfrm>
            <a:custGeom>
              <a:avLst/>
              <a:gdLst/>
              <a:ahLst/>
              <a:cxnLst/>
              <a:rect r="r" b="b" t="t" l="l"/>
              <a:pathLst>
                <a:path h="744220" w="27305">
                  <a:moveTo>
                    <a:pt x="0" y="0"/>
                  </a:moveTo>
                  <a:lnTo>
                    <a:pt x="27305" y="0"/>
                  </a:lnTo>
                  <a:lnTo>
                    <a:pt x="27305" y="744220"/>
                  </a:lnTo>
                  <a:lnTo>
                    <a:pt x="0" y="744220"/>
                  </a:lnTo>
                  <a:close/>
                </a:path>
              </a:pathLst>
            </a:custGeom>
            <a:solidFill>
              <a:srgbClr val="5A697D"/>
            </a:solidFill>
            <a:ln w="9525" cap="sq">
              <a:solidFill>
                <a:srgbClr val="5A697D"/>
              </a:solidFill>
              <a:prstDash val="solid"/>
              <a:miter/>
            </a:ln>
          </p:spPr>
        </p:sp>
      </p:grpSp>
      <p:grpSp>
        <p:nvGrpSpPr>
          <p:cNvPr name="Group 188" id="188"/>
          <p:cNvGrpSpPr/>
          <p:nvPr/>
        </p:nvGrpSpPr>
        <p:grpSpPr>
          <a:xfrm rot="0">
            <a:off x="10437679" y="8335666"/>
            <a:ext cx="453814" cy="453814"/>
            <a:chOff x="0" y="0"/>
            <a:chExt cx="561340" cy="561340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561340" cy="561340"/>
            </a:xfrm>
            <a:custGeom>
              <a:avLst/>
              <a:gdLst/>
              <a:ahLst/>
              <a:cxnLst/>
              <a:rect r="r" b="b" t="t" l="l"/>
              <a:pathLst>
                <a:path h="561340" w="561340">
                  <a:moveTo>
                    <a:pt x="0" y="280670"/>
                  </a:moveTo>
                  <a:cubicBezTo>
                    <a:pt x="0" y="125603"/>
                    <a:pt x="125603" y="0"/>
                    <a:pt x="280670" y="0"/>
                  </a:cubicBezTo>
                  <a:cubicBezTo>
                    <a:pt x="435737" y="0"/>
                    <a:pt x="561340" y="125603"/>
                    <a:pt x="561340" y="280670"/>
                  </a:cubicBezTo>
                  <a:cubicBezTo>
                    <a:pt x="561340" y="435737"/>
                    <a:pt x="435737" y="561340"/>
                    <a:pt x="280670" y="561340"/>
                  </a:cubicBezTo>
                  <a:cubicBezTo>
                    <a:pt x="125603" y="561340"/>
                    <a:pt x="0" y="435737"/>
                    <a:pt x="0" y="280670"/>
                  </a:cubicBezTo>
                  <a:close/>
                </a:path>
              </a:pathLst>
            </a:custGeom>
            <a:solidFill>
              <a:srgbClr val="1B2D48"/>
            </a:solidFill>
            <a:ln w="9525" cap="sq">
              <a:solidFill>
                <a:srgbClr val="647891"/>
              </a:solidFill>
              <a:prstDash val="solid"/>
              <a:miter/>
            </a:ln>
          </p:spPr>
        </p:sp>
        <p:sp>
          <p:nvSpPr>
            <p:cNvPr name="TextBox 190" id="190"/>
            <p:cNvSpPr txBox="true"/>
            <p:nvPr/>
          </p:nvSpPr>
          <p:spPr>
            <a:xfrm>
              <a:off x="0" y="0"/>
              <a:ext cx="561340" cy="5613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99"/>
                </a:lnSpc>
              </a:pPr>
              <a:r>
                <a:rPr lang="en-US" sz="999" b="true">
                  <a:solidFill>
                    <a:srgbClr val="F5F7F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</a:t>
              </a:r>
            </a:p>
          </p:txBody>
        </p:sp>
      </p:grpSp>
      <p:grpSp>
        <p:nvGrpSpPr>
          <p:cNvPr name="Group 191" id="191"/>
          <p:cNvGrpSpPr/>
          <p:nvPr/>
        </p:nvGrpSpPr>
        <p:grpSpPr>
          <a:xfrm rot="0">
            <a:off x="11014495" y="8321086"/>
            <a:ext cx="2710563" cy="492830"/>
            <a:chOff x="0" y="0"/>
            <a:chExt cx="3352800" cy="609600"/>
          </a:xfrm>
        </p:grpSpPr>
        <p:sp>
          <p:nvSpPr>
            <p:cNvPr name="Freeform 192" id="192"/>
            <p:cNvSpPr/>
            <p:nvPr/>
          </p:nvSpPr>
          <p:spPr>
            <a:xfrm flipH="false" flipV="false" rot="0">
              <a:off x="0" y="0"/>
              <a:ext cx="3352800" cy="609600"/>
            </a:xfrm>
            <a:custGeom>
              <a:avLst/>
              <a:gdLst/>
              <a:ahLst/>
              <a:cxnLst/>
              <a:rect r="r" b="b" t="t" l="l"/>
              <a:pathLst>
                <a:path h="609600" w="3352800">
                  <a:moveTo>
                    <a:pt x="0" y="0"/>
                  </a:moveTo>
                  <a:lnTo>
                    <a:pt x="3352800" y="0"/>
                  </a:lnTo>
                  <a:lnTo>
                    <a:pt x="33528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167" r="0" b="-57167"/>
              </a:stretch>
            </a:blipFill>
          </p:spPr>
        </p:sp>
        <p:sp>
          <p:nvSpPr>
            <p:cNvPr name="TextBox 193" id="193"/>
            <p:cNvSpPr txBox="true"/>
            <p:nvPr/>
          </p:nvSpPr>
          <p:spPr>
            <a:xfrm>
              <a:off x="0" y="0"/>
              <a:ext cx="335280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20"/>
                </a:lnSpc>
              </a:pPr>
              <a:r>
                <a:rPr lang="en-US" sz="1100">
                  <a:solidFill>
                    <a:srgbClr val="CDD4DC"/>
                  </a:solidFill>
                  <a:latin typeface="Aptos"/>
                  <a:ea typeface="Aptos"/>
                  <a:cs typeface="Aptos"/>
                  <a:sym typeface="Aptos"/>
                </a:rPr>
                <a:t>Operational Efficiency</a:t>
              </a:r>
            </a:p>
          </p:txBody>
        </p:sp>
      </p:grpSp>
      <p:grpSp>
        <p:nvGrpSpPr>
          <p:cNvPr name="Group 194" id="194"/>
          <p:cNvGrpSpPr/>
          <p:nvPr/>
        </p:nvGrpSpPr>
        <p:grpSpPr>
          <a:xfrm rot="0">
            <a:off x="13907200" y="8315953"/>
            <a:ext cx="22095" cy="601663"/>
            <a:chOff x="0" y="0"/>
            <a:chExt cx="27330" cy="744220"/>
          </a:xfrm>
        </p:grpSpPr>
        <p:sp>
          <p:nvSpPr>
            <p:cNvPr name="Freeform 195" id="195"/>
            <p:cNvSpPr/>
            <p:nvPr/>
          </p:nvSpPr>
          <p:spPr>
            <a:xfrm flipH="false" flipV="false" rot="0">
              <a:off x="0" y="0"/>
              <a:ext cx="27305" cy="744220"/>
            </a:xfrm>
            <a:custGeom>
              <a:avLst/>
              <a:gdLst/>
              <a:ahLst/>
              <a:cxnLst/>
              <a:rect r="r" b="b" t="t" l="l"/>
              <a:pathLst>
                <a:path h="744220" w="27305">
                  <a:moveTo>
                    <a:pt x="0" y="0"/>
                  </a:moveTo>
                  <a:lnTo>
                    <a:pt x="27305" y="0"/>
                  </a:lnTo>
                  <a:lnTo>
                    <a:pt x="27305" y="744220"/>
                  </a:lnTo>
                  <a:lnTo>
                    <a:pt x="0" y="744220"/>
                  </a:lnTo>
                  <a:close/>
                </a:path>
              </a:pathLst>
            </a:custGeom>
            <a:solidFill>
              <a:srgbClr val="5A697D"/>
            </a:solidFill>
            <a:ln w="9525" cap="sq">
              <a:solidFill>
                <a:srgbClr val="5A697D"/>
              </a:solidFill>
              <a:prstDash val="solid"/>
              <a:miter/>
            </a:ln>
          </p:spPr>
        </p:sp>
      </p:grpSp>
      <p:grpSp>
        <p:nvGrpSpPr>
          <p:cNvPr name="Group 196" id="196"/>
          <p:cNvGrpSpPr/>
          <p:nvPr/>
        </p:nvGrpSpPr>
        <p:grpSpPr>
          <a:xfrm rot="0">
            <a:off x="14084619" y="8335666"/>
            <a:ext cx="453814" cy="453814"/>
            <a:chOff x="0" y="0"/>
            <a:chExt cx="561340" cy="561340"/>
          </a:xfrm>
        </p:grpSpPr>
        <p:sp>
          <p:nvSpPr>
            <p:cNvPr name="Freeform 197" id="197"/>
            <p:cNvSpPr/>
            <p:nvPr/>
          </p:nvSpPr>
          <p:spPr>
            <a:xfrm flipH="false" flipV="false" rot="0">
              <a:off x="0" y="0"/>
              <a:ext cx="561340" cy="561340"/>
            </a:xfrm>
            <a:custGeom>
              <a:avLst/>
              <a:gdLst/>
              <a:ahLst/>
              <a:cxnLst/>
              <a:rect r="r" b="b" t="t" l="l"/>
              <a:pathLst>
                <a:path h="561340" w="561340">
                  <a:moveTo>
                    <a:pt x="0" y="280670"/>
                  </a:moveTo>
                  <a:cubicBezTo>
                    <a:pt x="0" y="125603"/>
                    <a:pt x="125603" y="0"/>
                    <a:pt x="280670" y="0"/>
                  </a:cubicBezTo>
                  <a:cubicBezTo>
                    <a:pt x="435737" y="0"/>
                    <a:pt x="561340" y="125603"/>
                    <a:pt x="561340" y="280670"/>
                  </a:cubicBezTo>
                  <a:cubicBezTo>
                    <a:pt x="561340" y="435737"/>
                    <a:pt x="435737" y="561340"/>
                    <a:pt x="280670" y="561340"/>
                  </a:cubicBezTo>
                  <a:cubicBezTo>
                    <a:pt x="125603" y="561340"/>
                    <a:pt x="0" y="435737"/>
                    <a:pt x="0" y="280670"/>
                  </a:cubicBezTo>
                  <a:close/>
                </a:path>
              </a:pathLst>
            </a:custGeom>
            <a:solidFill>
              <a:srgbClr val="1B2D48"/>
            </a:solidFill>
            <a:ln w="9525" cap="sq">
              <a:solidFill>
                <a:srgbClr val="647891"/>
              </a:solidFill>
              <a:prstDash val="solid"/>
              <a:miter/>
            </a:ln>
          </p:spPr>
        </p:sp>
        <p:sp>
          <p:nvSpPr>
            <p:cNvPr name="TextBox 198" id="198"/>
            <p:cNvSpPr txBox="true"/>
            <p:nvPr/>
          </p:nvSpPr>
          <p:spPr>
            <a:xfrm>
              <a:off x="0" y="0"/>
              <a:ext cx="561340" cy="5613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99"/>
                </a:lnSpc>
              </a:pPr>
              <a:r>
                <a:rPr lang="en-US" sz="999" b="true">
                  <a:solidFill>
                    <a:srgbClr val="F5F7F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</a:t>
              </a:r>
            </a:p>
          </p:txBody>
        </p:sp>
      </p:grpSp>
      <p:grpSp>
        <p:nvGrpSpPr>
          <p:cNvPr name="Group 199" id="199"/>
          <p:cNvGrpSpPr/>
          <p:nvPr/>
        </p:nvGrpSpPr>
        <p:grpSpPr>
          <a:xfrm rot="0">
            <a:off x="14661435" y="8321086"/>
            <a:ext cx="2710563" cy="492830"/>
            <a:chOff x="0" y="0"/>
            <a:chExt cx="3352800" cy="609600"/>
          </a:xfrm>
        </p:grpSpPr>
        <p:sp>
          <p:nvSpPr>
            <p:cNvPr name="Freeform 200" id="200"/>
            <p:cNvSpPr/>
            <p:nvPr/>
          </p:nvSpPr>
          <p:spPr>
            <a:xfrm flipH="false" flipV="false" rot="0">
              <a:off x="0" y="0"/>
              <a:ext cx="3352800" cy="609600"/>
            </a:xfrm>
            <a:custGeom>
              <a:avLst/>
              <a:gdLst/>
              <a:ahLst/>
              <a:cxnLst/>
              <a:rect r="r" b="b" t="t" l="l"/>
              <a:pathLst>
                <a:path h="609600" w="3352800">
                  <a:moveTo>
                    <a:pt x="0" y="0"/>
                  </a:moveTo>
                  <a:lnTo>
                    <a:pt x="3352800" y="0"/>
                  </a:lnTo>
                  <a:lnTo>
                    <a:pt x="33528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167" r="0" b="-57167"/>
              </a:stretch>
            </a:blipFill>
          </p:spPr>
        </p:sp>
        <p:sp>
          <p:nvSpPr>
            <p:cNvPr name="TextBox 201" id="201"/>
            <p:cNvSpPr txBox="true"/>
            <p:nvPr/>
          </p:nvSpPr>
          <p:spPr>
            <a:xfrm>
              <a:off x="0" y="0"/>
              <a:ext cx="335280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20"/>
                </a:lnSpc>
              </a:pPr>
              <a:r>
                <a:rPr lang="en-US" sz="1100">
                  <a:solidFill>
                    <a:srgbClr val="CDD4DC"/>
                  </a:solidFill>
                  <a:latin typeface="Aptos"/>
                  <a:ea typeface="Aptos"/>
                  <a:cs typeface="Aptos"/>
                  <a:sym typeface="Aptos"/>
                </a:rPr>
                <a:t>Stronger Security Ecosystem</a:t>
              </a:r>
            </a:p>
          </p:txBody>
        </p:sp>
      </p:grpSp>
      <p:grpSp>
        <p:nvGrpSpPr>
          <p:cNvPr name="Group 202" id="202"/>
          <p:cNvGrpSpPr/>
          <p:nvPr/>
        </p:nvGrpSpPr>
        <p:grpSpPr>
          <a:xfrm rot="0">
            <a:off x="14670129" y="2248"/>
            <a:ext cx="3374803" cy="1593532"/>
            <a:chOff x="0" y="0"/>
            <a:chExt cx="4499737" cy="2124710"/>
          </a:xfrm>
        </p:grpSpPr>
        <p:sp>
          <p:nvSpPr>
            <p:cNvPr name="Freeform 203" id="203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59" r="0" b="-60"/>
              </a:stretch>
            </a:blipFill>
          </p:spPr>
        </p:sp>
      </p:grpSp>
      <p:sp>
        <p:nvSpPr>
          <p:cNvPr name="Freeform 204" id="204" descr="Your startup LOGO"/>
          <p:cNvSpPr/>
          <p:nvPr/>
        </p:nvSpPr>
        <p:spPr>
          <a:xfrm flipH="false" flipV="false" rot="0">
            <a:off x="408527" y="126492"/>
            <a:ext cx="1944434" cy="1277683"/>
          </a:xfrm>
          <a:custGeom>
            <a:avLst/>
            <a:gdLst/>
            <a:ahLst/>
            <a:cxnLst/>
            <a:rect r="r" b="b" t="t" l="l"/>
            <a:pathLst>
              <a:path h="1277683" w="1944434">
                <a:moveTo>
                  <a:pt x="0" y="0"/>
                </a:moveTo>
                <a:lnTo>
                  <a:pt x="1944434" y="0"/>
                </a:lnTo>
                <a:lnTo>
                  <a:pt x="1944434" y="1277683"/>
                </a:lnTo>
                <a:lnTo>
                  <a:pt x="0" y="127768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109" r="0" b="-109"/>
            </a:stretch>
          </a:blipFill>
        </p:spPr>
      </p:sp>
      <p:grpSp>
        <p:nvGrpSpPr>
          <p:cNvPr name="Group 205" id="205"/>
          <p:cNvGrpSpPr/>
          <p:nvPr/>
        </p:nvGrpSpPr>
        <p:grpSpPr>
          <a:xfrm rot="0">
            <a:off x="422815" y="97917"/>
            <a:ext cx="1915887" cy="1291961"/>
            <a:chOff x="0" y="0"/>
            <a:chExt cx="2554516" cy="1722615"/>
          </a:xfrm>
        </p:grpSpPr>
        <p:sp>
          <p:nvSpPr>
            <p:cNvPr name="Freeform 206" id="206"/>
            <p:cNvSpPr/>
            <p:nvPr/>
          </p:nvSpPr>
          <p:spPr>
            <a:xfrm flipH="false" flipV="false" rot="0">
              <a:off x="0" y="0"/>
              <a:ext cx="2554478" cy="1722628"/>
            </a:xfrm>
            <a:custGeom>
              <a:avLst/>
              <a:gdLst/>
              <a:ahLst/>
              <a:cxnLst/>
              <a:rect r="r" b="b" t="t" l="l"/>
              <a:pathLst>
                <a:path h="1722628" w="2554478">
                  <a:moveTo>
                    <a:pt x="0" y="0"/>
                  </a:moveTo>
                  <a:lnTo>
                    <a:pt x="2554478" y="0"/>
                  </a:lnTo>
                  <a:lnTo>
                    <a:pt x="2554478" y="1722628"/>
                  </a:lnTo>
                  <a:lnTo>
                    <a:pt x="0" y="172262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36580" t="0" r="-36582" b="0"/>
              </a:stretch>
            </a:blipFill>
          </p:spPr>
        </p:sp>
      </p:grpSp>
      <p:grpSp>
        <p:nvGrpSpPr>
          <p:cNvPr name="Group 207" id="207"/>
          <p:cNvGrpSpPr/>
          <p:nvPr/>
        </p:nvGrpSpPr>
        <p:grpSpPr>
          <a:xfrm rot="0">
            <a:off x="422815" y="55055"/>
            <a:ext cx="1915887" cy="1334824"/>
            <a:chOff x="0" y="0"/>
            <a:chExt cx="2554516" cy="1779765"/>
          </a:xfrm>
        </p:grpSpPr>
        <p:sp>
          <p:nvSpPr>
            <p:cNvPr name="Freeform 208" id="208"/>
            <p:cNvSpPr/>
            <p:nvPr/>
          </p:nvSpPr>
          <p:spPr>
            <a:xfrm flipH="false" flipV="false" rot="0">
              <a:off x="0" y="0"/>
              <a:ext cx="2554516" cy="1779765"/>
            </a:xfrm>
            <a:custGeom>
              <a:avLst/>
              <a:gdLst/>
              <a:ahLst/>
              <a:cxnLst/>
              <a:rect r="r" b="b" t="t" l="l"/>
              <a:pathLst>
                <a:path h="1779765" w="2554516">
                  <a:moveTo>
                    <a:pt x="0" y="0"/>
                  </a:moveTo>
                  <a:lnTo>
                    <a:pt x="2554516" y="0"/>
                  </a:lnTo>
                  <a:lnTo>
                    <a:pt x="2554516" y="1779765"/>
                  </a:lnTo>
                  <a:lnTo>
                    <a:pt x="0" y="17797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9390" t="0" r="-39390" b="0"/>
              </a:stretch>
            </a:blipFill>
          </p:spPr>
        </p:sp>
        <p:sp>
          <p:nvSpPr>
            <p:cNvPr name="TextBox 209" id="209"/>
            <p:cNvSpPr txBox="true"/>
            <p:nvPr/>
          </p:nvSpPr>
          <p:spPr>
            <a:xfrm>
              <a:off x="0" y="-57150"/>
              <a:ext cx="2554516" cy="18369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AURA</a:t>
              </a:r>
            </a:p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fox</a:t>
              </a:r>
            </a:p>
          </p:txBody>
        </p:sp>
      </p:grpSp>
      <p:grpSp>
        <p:nvGrpSpPr>
          <p:cNvPr name="Group 210" id="210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211" id="211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212" id="212"/>
          <p:cNvGrpSpPr/>
          <p:nvPr/>
        </p:nvGrpSpPr>
        <p:grpSpPr>
          <a:xfrm rot="0">
            <a:off x="13201945" y="9586941"/>
            <a:ext cx="4267200" cy="576262"/>
            <a:chOff x="0" y="0"/>
            <a:chExt cx="5689600" cy="768350"/>
          </a:xfrm>
        </p:grpSpPr>
        <p:sp>
          <p:nvSpPr>
            <p:cNvPr name="Freeform 213" id="213"/>
            <p:cNvSpPr/>
            <p:nvPr/>
          </p:nvSpPr>
          <p:spPr>
            <a:xfrm flipH="false" flipV="false" rot="0">
              <a:off x="0" y="0"/>
              <a:ext cx="5689600" cy="768350"/>
            </a:xfrm>
            <a:custGeom>
              <a:avLst/>
              <a:gdLst/>
              <a:ahLst/>
              <a:cxnLst/>
              <a:rect r="r" b="b" t="t" l="l"/>
              <a:pathLst>
                <a:path h="7683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68350"/>
                  </a:lnTo>
                  <a:lnTo>
                    <a:pt x="0" y="7683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285" r="0" b="-94285"/>
              </a:stretch>
            </a:blipFill>
          </p:spPr>
        </p:sp>
        <p:sp>
          <p:nvSpPr>
            <p:cNvPr name="TextBox 214" id="214"/>
            <p:cNvSpPr txBox="true"/>
            <p:nvPr/>
          </p:nvSpPr>
          <p:spPr>
            <a:xfrm>
              <a:off x="0" y="-19050"/>
              <a:ext cx="5689600" cy="787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77929" y="2183482"/>
            <a:ext cx="16333613" cy="6309693"/>
          </a:xfrm>
          <a:custGeom>
            <a:avLst/>
            <a:gdLst/>
            <a:ahLst/>
            <a:cxnLst/>
            <a:rect r="r" b="b" t="t" l="l"/>
            <a:pathLst>
              <a:path h="6309693" w="16333613">
                <a:moveTo>
                  <a:pt x="0" y="0"/>
                </a:moveTo>
                <a:lnTo>
                  <a:pt x="16333613" y="0"/>
                </a:lnTo>
                <a:lnTo>
                  <a:pt x="16333613" y="6309694"/>
                </a:lnTo>
                <a:lnTo>
                  <a:pt x="0" y="63096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37" r="0" b="-3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65513" y="-200179"/>
            <a:ext cx="18323195" cy="10322766"/>
            <a:chOff x="0" y="0"/>
            <a:chExt cx="24430926" cy="1376368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30989" cy="13763625"/>
            </a:xfrm>
            <a:custGeom>
              <a:avLst/>
              <a:gdLst/>
              <a:ahLst/>
              <a:cxnLst/>
              <a:rect r="r" b="b" t="t" l="l"/>
              <a:pathLst>
                <a:path h="13763625" w="24430989">
                  <a:moveTo>
                    <a:pt x="0" y="0"/>
                  </a:moveTo>
                  <a:lnTo>
                    <a:pt x="24430989" y="0"/>
                  </a:lnTo>
                  <a:lnTo>
                    <a:pt x="24430989" y="13763625"/>
                  </a:lnTo>
                  <a:lnTo>
                    <a:pt x="0" y="13763625"/>
                  </a:lnTo>
                  <a:close/>
                </a:path>
              </a:pathLst>
            </a:custGeom>
            <a:solidFill>
              <a:srgbClr val="081226"/>
            </a:solidFill>
            <a:ln w="14288" cap="sq">
              <a:solidFill>
                <a:srgbClr val="081226"/>
              </a:solidFill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7144" y="9525000"/>
            <a:ext cx="18288000" cy="754856"/>
            <a:chOff x="0" y="0"/>
            <a:chExt cx="24384000" cy="10064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3512325" y="-29708"/>
            <a:ext cx="16459200" cy="1714500"/>
            <a:chOff x="0" y="0"/>
            <a:chExt cx="21945600" cy="2286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6926" r="0" b="-136926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3512325" y="-29708"/>
            <a:ext cx="16459200" cy="1714500"/>
            <a:chOff x="0" y="0"/>
            <a:chExt cx="21945600" cy="2286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36926" r="0" b="-136926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3512325" y="-29708"/>
            <a:ext cx="16459200" cy="1714500"/>
            <a:chOff x="0" y="0"/>
            <a:chExt cx="21945600" cy="2286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21945600" cy="2286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F4F7F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RESEARCH  AND REFERENCES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191939" y="2313775"/>
            <a:ext cx="15714259" cy="5334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59734" indent="-164934" lvl="3">
              <a:lnSpc>
                <a:spcPts val="3028"/>
              </a:lnSpc>
              <a:buFont typeface="Arial"/>
              <a:buChar char="￭"/>
            </a:pPr>
            <a:r>
              <a:rPr lang="en-US" sz="2523">
                <a:solidFill>
                  <a:srgbClr val="F4F7FC"/>
                </a:solidFill>
                <a:latin typeface="Aptos"/>
                <a:ea typeface="Aptos"/>
                <a:cs typeface="Aptos"/>
                <a:sym typeface="Aptos"/>
              </a:rPr>
              <a:t>[1] Z. Wu et al., </a:t>
            </a:r>
            <a:r>
              <a:rPr lang="en-US" sz="2523" i="true">
                <a:solidFill>
                  <a:srgbClr val="F4F7FC"/>
                </a:solidFill>
                <a:latin typeface="Aptos Italics"/>
                <a:ea typeface="Aptos Italics"/>
                <a:cs typeface="Aptos Italics"/>
                <a:sym typeface="Aptos Italics"/>
              </a:rPr>
              <a:t>“ASVspoof 2019: A Large-Scale Public Database of Synthetic, Converted and Replayed Speech,”</a:t>
            </a:r>
            <a:r>
              <a:rPr lang="en-US" sz="2523">
                <a:solidFill>
                  <a:srgbClr val="F4F7FC"/>
                </a:solidFill>
                <a:latin typeface="Aptos"/>
                <a:ea typeface="Aptos"/>
                <a:cs typeface="Aptos"/>
                <a:sym typeface="Aptos"/>
              </a:rPr>
              <a:t> Computer Speech &amp; Language, 2021.</a:t>
            </a:r>
          </a:p>
          <a:p>
            <a:pPr algn="just" marL="659734" indent="-164934" lvl="3">
              <a:lnSpc>
                <a:spcPts val="3028"/>
              </a:lnSpc>
            </a:pPr>
          </a:p>
          <a:p>
            <a:pPr algn="just" marL="659734" indent="-164934" lvl="3">
              <a:lnSpc>
                <a:spcPts val="3028"/>
              </a:lnSpc>
              <a:buFont typeface="Arial"/>
              <a:buChar char="￭"/>
            </a:pPr>
            <a:r>
              <a:rPr lang="en-US" sz="2523">
                <a:solidFill>
                  <a:srgbClr val="F4F7FC"/>
                </a:solidFill>
                <a:latin typeface="Aptos"/>
                <a:ea typeface="Aptos"/>
                <a:cs typeface="Aptos"/>
                <a:sym typeface="Aptos"/>
              </a:rPr>
              <a:t>[2] X. Wang et al., </a:t>
            </a:r>
            <a:r>
              <a:rPr lang="en-US" sz="2523" i="true">
                <a:solidFill>
                  <a:srgbClr val="F4F7FC"/>
                </a:solidFill>
                <a:latin typeface="Aptos Italics"/>
                <a:ea typeface="Aptos Italics"/>
                <a:cs typeface="Aptos Italics"/>
                <a:sym typeface="Aptos Italics"/>
              </a:rPr>
              <a:t>“ASVspoof 2021: Towards Spoofed and Deepfake Speech Detection in the Wild,”</a:t>
            </a:r>
            <a:r>
              <a:rPr lang="en-US" sz="2523">
                <a:solidFill>
                  <a:srgbClr val="F4F7FC"/>
                </a:solidFill>
                <a:latin typeface="Aptos"/>
                <a:ea typeface="Aptos"/>
                <a:cs typeface="Aptos"/>
                <a:sym typeface="Aptos"/>
              </a:rPr>
              <a:t> IEEE/ACM Transactions on Audio, Speech, and Language Processing.</a:t>
            </a:r>
          </a:p>
          <a:p>
            <a:pPr algn="just" marL="659734" indent="-164934" lvl="3">
              <a:lnSpc>
                <a:spcPts val="3028"/>
              </a:lnSpc>
            </a:pPr>
          </a:p>
          <a:p>
            <a:pPr algn="just" marL="659734" indent="-164934" lvl="3">
              <a:lnSpc>
                <a:spcPts val="3028"/>
              </a:lnSpc>
              <a:buFont typeface="Arial"/>
              <a:buChar char="￭"/>
            </a:pPr>
            <a:r>
              <a:rPr lang="en-US" sz="2523">
                <a:solidFill>
                  <a:srgbClr val="F4F7FC"/>
                </a:solidFill>
                <a:latin typeface="Aptos"/>
                <a:ea typeface="Aptos"/>
                <a:cs typeface="Aptos"/>
                <a:sym typeface="Aptos"/>
              </a:rPr>
              <a:t>[3] A. Jung et al., </a:t>
            </a:r>
            <a:r>
              <a:rPr lang="en-US" sz="2523" i="true">
                <a:solidFill>
                  <a:srgbClr val="F4F7FC"/>
                </a:solidFill>
                <a:latin typeface="Aptos Italics"/>
                <a:ea typeface="Aptos Italics"/>
                <a:cs typeface="Aptos Italics"/>
                <a:sym typeface="Aptos Italics"/>
              </a:rPr>
              <a:t>“AASIST: Audio Anti-Spoofing Using Integrated Spectro-Temporal Graph Attention Networks,”</a:t>
            </a:r>
            <a:r>
              <a:rPr lang="en-US" sz="2523">
                <a:solidFill>
                  <a:srgbClr val="F4F7FC"/>
                </a:solidFill>
                <a:latin typeface="Aptos"/>
                <a:ea typeface="Aptos"/>
                <a:cs typeface="Aptos"/>
                <a:sym typeface="Aptos"/>
              </a:rPr>
              <a:t> ICASSP, 2022.</a:t>
            </a:r>
          </a:p>
          <a:p>
            <a:pPr algn="just" marL="659734" indent="-164934" lvl="3">
              <a:lnSpc>
                <a:spcPts val="3028"/>
              </a:lnSpc>
            </a:pPr>
          </a:p>
          <a:p>
            <a:pPr algn="just" marL="659734" indent="-164934" lvl="3">
              <a:lnSpc>
                <a:spcPts val="3028"/>
              </a:lnSpc>
              <a:buFont typeface="Arial"/>
              <a:buChar char="￭"/>
            </a:pPr>
            <a:r>
              <a:rPr lang="en-US" sz="2523">
                <a:solidFill>
                  <a:srgbClr val="F4F7FC"/>
                </a:solidFill>
                <a:latin typeface="Aptos"/>
                <a:ea typeface="Aptos"/>
                <a:cs typeface="Aptos"/>
                <a:sym typeface="Aptos"/>
              </a:rPr>
              <a:t>[4] H. Tak et al., </a:t>
            </a:r>
            <a:r>
              <a:rPr lang="en-US" sz="2523" i="true">
                <a:solidFill>
                  <a:srgbClr val="F4F7FC"/>
                </a:solidFill>
                <a:latin typeface="Aptos Italics"/>
                <a:ea typeface="Aptos Italics"/>
                <a:cs typeface="Aptos Italics"/>
                <a:sym typeface="Aptos Italics"/>
              </a:rPr>
              <a:t>“Automatic Speaker Verification Spoofing and Deepfake Detection,”</a:t>
            </a:r>
            <a:r>
              <a:rPr lang="en-US" sz="2523">
                <a:solidFill>
                  <a:srgbClr val="F4F7FC"/>
                </a:solidFill>
                <a:latin typeface="Aptos"/>
                <a:ea typeface="Aptos"/>
                <a:cs typeface="Aptos"/>
                <a:sym typeface="Aptos"/>
              </a:rPr>
              <a:t> ASVspoof research literature.</a:t>
            </a:r>
          </a:p>
          <a:p>
            <a:pPr algn="just" marL="659734" indent="-164934" lvl="3">
              <a:lnSpc>
                <a:spcPts val="3028"/>
              </a:lnSpc>
            </a:pPr>
          </a:p>
          <a:p>
            <a:pPr algn="just" marL="659734" indent="-164934" lvl="3">
              <a:lnSpc>
                <a:spcPts val="3028"/>
              </a:lnSpc>
              <a:buFont typeface="Arial"/>
              <a:buChar char="￭"/>
            </a:pPr>
            <a:r>
              <a:rPr lang="en-US" sz="2523">
                <a:solidFill>
                  <a:srgbClr val="F4F7FC"/>
                </a:solidFill>
                <a:latin typeface="Aptos"/>
                <a:ea typeface="Aptos"/>
                <a:cs typeface="Aptos"/>
                <a:sym typeface="Aptos"/>
              </a:rPr>
              <a:t>[5] P. Chinchmalatpure et al., </a:t>
            </a:r>
            <a:r>
              <a:rPr lang="en-US" sz="2523" i="true">
                <a:solidFill>
                  <a:srgbClr val="F4F7FC"/>
                </a:solidFill>
                <a:latin typeface="Aptos Italics"/>
                <a:ea typeface="Aptos Italics"/>
                <a:cs typeface="Aptos Italics"/>
                <a:sym typeface="Aptos Italics"/>
              </a:rPr>
              <a:t>“Defense Against Synthetic Speech: Real-Time Detection of RVC Voice Conversion Attacks,”</a:t>
            </a:r>
            <a:r>
              <a:rPr lang="en-US" sz="2523">
                <a:solidFill>
                  <a:srgbClr val="F4F7FC"/>
                </a:solidFill>
                <a:latin typeface="Aptos"/>
                <a:ea typeface="Aptos"/>
                <a:cs typeface="Aptos"/>
                <a:sym typeface="Aptos"/>
              </a:rPr>
              <a:t> arXiv, 2026. 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3113544" y="9527381"/>
            <a:ext cx="4267200" cy="547688"/>
            <a:chOff x="0" y="0"/>
            <a:chExt cx="5689600" cy="7302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1707" r="0" b="-101709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3113544" y="9513094"/>
            <a:ext cx="4267200" cy="561975"/>
            <a:chOff x="0" y="0"/>
            <a:chExt cx="5689600" cy="7493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689600" cy="749300"/>
            </a:xfrm>
            <a:custGeom>
              <a:avLst/>
              <a:gdLst/>
              <a:ahLst/>
              <a:cxnLst/>
              <a:rect r="r" b="b" t="t" l="l"/>
              <a:pathLst>
                <a:path h="74930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49300"/>
                  </a:lnTo>
                  <a:lnTo>
                    <a:pt x="0" y="7493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97850" r="0" b="-97852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3113544" y="9498806"/>
            <a:ext cx="4267200" cy="576262"/>
            <a:chOff x="0" y="0"/>
            <a:chExt cx="5689600" cy="76835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689600" cy="768350"/>
            </a:xfrm>
            <a:custGeom>
              <a:avLst/>
              <a:gdLst/>
              <a:ahLst/>
              <a:cxnLst/>
              <a:rect r="r" b="b" t="t" l="l"/>
              <a:pathLst>
                <a:path h="7683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68350"/>
                  </a:lnTo>
                  <a:lnTo>
                    <a:pt x="0" y="76835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94285" r="0" b="-9428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5689600" cy="787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</a:p>
          </p:txBody>
        </p:sp>
      </p:grpSp>
      <p:sp>
        <p:nvSpPr>
          <p:cNvPr name="Freeform 22" id="22" descr="Your startup LOGO"/>
          <p:cNvSpPr/>
          <p:nvPr/>
        </p:nvSpPr>
        <p:spPr>
          <a:xfrm flipH="false" flipV="false" rot="0">
            <a:off x="468468" y="337890"/>
            <a:ext cx="1944433" cy="1277683"/>
          </a:xfrm>
          <a:custGeom>
            <a:avLst/>
            <a:gdLst/>
            <a:ahLst/>
            <a:cxnLst/>
            <a:rect r="r" b="b" t="t" l="l"/>
            <a:pathLst>
              <a:path h="1277683" w="1944433">
                <a:moveTo>
                  <a:pt x="0" y="0"/>
                </a:moveTo>
                <a:lnTo>
                  <a:pt x="1944434" y="0"/>
                </a:lnTo>
                <a:lnTo>
                  <a:pt x="1944434" y="1277683"/>
                </a:lnTo>
                <a:lnTo>
                  <a:pt x="0" y="12776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109" r="0" b="-109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482756" y="309315"/>
            <a:ext cx="1915887" cy="1291961"/>
            <a:chOff x="0" y="0"/>
            <a:chExt cx="2554516" cy="172261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554478" cy="1722628"/>
            </a:xfrm>
            <a:custGeom>
              <a:avLst/>
              <a:gdLst/>
              <a:ahLst/>
              <a:cxnLst/>
              <a:rect r="r" b="b" t="t" l="l"/>
              <a:pathLst>
                <a:path h="1722628" w="2554478">
                  <a:moveTo>
                    <a:pt x="0" y="0"/>
                  </a:moveTo>
                  <a:lnTo>
                    <a:pt x="2554478" y="0"/>
                  </a:lnTo>
                  <a:lnTo>
                    <a:pt x="2554478" y="1722628"/>
                  </a:lnTo>
                  <a:lnTo>
                    <a:pt x="0" y="172262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36580" t="0" r="-36582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482756" y="266452"/>
            <a:ext cx="1915887" cy="1334824"/>
            <a:chOff x="0" y="0"/>
            <a:chExt cx="2554516" cy="177976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554516" cy="1779765"/>
            </a:xfrm>
            <a:custGeom>
              <a:avLst/>
              <a:gdLst/>
              <a:ahLst/>
              <a:cxnLst/>
              <a:rect r="r" b="b" t="t" l="l"/>
              <a:pathLst>
                <a:path h="1779765" w="2554516">
                  <a:moveTo>
                    <a:pt x="0" y="0"/>
                  </a:moveTo>
                  <a:lnTo>
                    <a:pt x="2554516" y="0"/>
                  </a:lnTo>
                  <a:lnTo>
                    <a:pt x="2554516" y="1779765"/>
                  </a:lnTo>
                  <a:lnTo>
                    <a:pt x="0" y="17797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39390" t="0" r="-39390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2554516" cy="18369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AURA</a:t>
              </a:r>
            </a:p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fox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4677273" y="-4896"/>
            <a:ext cx="3374803" cy="1593532"/>
            <a:chOff x="0" y="0"/>
            <a:chExt cx="4499737" cy="212471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59" r="0" b="-6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-10725" y="-25013"/>
            <a:ext cx="18323195" cy="131778"/>
            <a:chOff x="0" y="0"/>
            <a:chExt cx="24430926" cy="17570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4430989" cy="175641"/>
            </a:xfrm>
            <a:custGeom>
              <a:avLst/>
              <a:gdLst/>
              <a:ahLst/>
              <a:cxnLst/>
              <a:rect r="r" b="b" t="t" l="l"/>
              <a:pathLst>
                <a:path h="175641" w="24430989">
                  <a:moveTo>
                    <a:pt x="0" y="0"/>
                  </a:moveTo>
                  <a:lnTo>
                    <a:pt x="24430989" y="0"/>
                  </a:lnTo>
                  <a:lnTo>
                    <a:pt x="24430989" y="175641"/>
                  </a:lnTo>
                  <a:lnTo>
                    <a:pt x="0" y="175641"/>
                  </a:lnTo>
                  <a:close/>
                </a:path>
              </a:pathLst>
            </a:custGeom>
            <a:solidFill>
              <a:srgbClr val="28D2E6"/>
            </a:solidFill>
            <a:ln w="14288" cap="sq">
              <a:solidFill>
                <a:srgbClr val="28D2E6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3502581" y="1173366"/>
            <a:ext cx="5659231" cy="155591"/>
            <a:chOff x="0" y="0"/>
            <a:chExt cx="7545642" cy="20745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545578" cy="207518"/>
            </a:xfrm>
            <a:custGeom>
              <a:avLst/>
              <a:gdLst/>
              <a:ahLst/>
              <a:cxnLst/>
              <a:rect r="r" b="b" t="t" l="l"/>
              <a:pathLst>
                <a:path h="207518" w="7545578">
                  <a:moveTo>
                    <a:pt x="0" y="0"/>
                  </a:moveTo>
                  <a:lnTo>
                    <a:pt x="7545578" y="0"/>
                  </a:lnTo>
                  <a:lnTo>
                    <a:pt x="7545578" y="207518"/>
                  </a:lnTo>
                  <a:lnTo>
                    <a:pt x="0" y="207518"/>
                  </a:lnTo>
                  <a:close/>
                </a:path>
              </a:pathLst>
            </a:custGeom>
            <a:solidFill>
              <a:srgbClr val="28D2E6"/>
            </a:solidFill>
            <a:ln w="14288" cap="sq">
              <a:solidFill>
                <a:srgbClr val="28D2E6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DAHToMxrnlg</dc:identifier>
  <dcterms:modified xsi:type="dcterms:W3CDTF">2011-08-01T06:04:30Z</dcterms:modified>
  <cp:revision>1</cp:revision>
  <dc:title>SIH_AURAfox_Updated.pptx</dc:title>
</cp:coreProperties>
</file>