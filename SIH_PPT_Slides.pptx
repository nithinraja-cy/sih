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defaultTextStyle>
    <a:defPPr lvl="0">
      <a:defRPr lang="en-US"/>
    </a:defPPr>
    <a:lvl1pPr defTabSz="457200" lvl="0" rtl="0" algn="l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defTabSz="457200" lvl="1" marL="457200" rtl="0" algn="l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defTabSz="457200" lvl="2" marL="914400" rtl="0" algn="l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defTabSz="457200" lvl="3" marL="1371600" rtl="0" algn="l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defTabSz="457200" lvl="4" marL="1828800" rtl="0" algn="l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defTabSz="914400" eaLnBrk="1" hangingPunct="1" latinLnBrk="0" lvl="5" marL="2286000" rtl="0" algn="l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defTabSz="914400" eaLnBrk="1" hangingPunct="1" latinLnBrk="0" lvl="6" marL="2743200" rtl="0" algn="l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defTabSz="914400" eaLnBrk="1" hangingPunct="1" latinLnBrk="0" lvl="7" marL="3200400" rtl="0" algn="l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defTabSz="914400" eaLnBrk="1" hangingPunct="1" latinLnBrk="0" lvl="8" marL="3657600" rtl="0" algn="l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ounded Rectangle 39"/>
          <p:cNvSpPr/>
          <p:nvPr/>
        </p:nvSpPr>
        <p:spPr>
          <a:xfrm>
            <a:off x="502920" y="4251960"/>
            <a:ext cx="11155680" cy="1783080"/>
          </a:xfrm>
          <a:prstGeom prst="roundRect">
            <a:avLst>
              <a:gd name="adj" fmla="val 12000"/>
            </a:avLst>
          </a:prstGeom>
          <a:solidFill>
            <a:srgbClr val="11203A"/>
          </a:solidFill>
          <a:ln>
            <a:solidFill>
              <a:srgbClr val="3C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26"/>
          </a:solidFill>
          <a:ln>
            <a:solidFill>
              <a:srgbClr val="081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19200" y="6647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3100" b="1" dirty="0">
                <a:solidFill>
                  <a:srgbClr val="F4F7FC"/>
                </a:solidFill>
                <a:latin typeface="Aptos Display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528463"/>
            <a:ext cx="11606248" cy="5425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700" b="0" dirty="0">
                <a:solidFill>
                  <a:srgbClr val="F4F7FC"/>
                </a:solidFill>
                <a:latin typeface="Aptos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IN" sz="1700" b="0" dirty="0">
                <a:solidFill>
                  <a:srgbClr val="F4F7FC"/>
                </a:solidFill>
                <a:latin typeface="Aptos"/>
              </a:rPr>
              <a:t>SIH26104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700" b="0" dirty="0">
                <a:solidFill>
                  <a:srgbClr val="F4F7FC"/>
                </a:solidFill>
                <a:latin typeface="Aptos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1700" b="0" dirty="0">
                <a:solidFill>
                  <a:srgbClr val="F4F7FC"/>
                </a:solidFill>
                <a:latin typeface="Aptos"/>
              </a:rPr>
              <a:t>AI-Powered Real-Time Detection and Prevention of Voice Cloning Impersonation Attacks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700" b="0" dirty="0">
                <a:solidFill>
                  <a:srgbClr val="F4F7FC"/>
                </a:solidFill>
                <a:latin typeface="Aptos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sz="1700" b="0" dirty="0">
                <a:solidFill>
                  <a:srgbClr val="F4F7FC"/>
                </a:solidFill>
                <a:latin typeface="Aptos"/>
              </a:rPr>
              <a:t>Blockchain &amp; Cybersecurity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700" b="0" dirty="0">
                <a:solidFill>
                  <a:srgbClr val="F4F7FC"/>
                </a:solidFill>
                <a:latin typeface="Aptos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700" b="0" dirty="0">
                <a:solidFill>
                  <a:srgbClr val="F4F7FC"/>
                </a:solidFill>
                <a:latin typeface="Aptos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700" b="0" dirty="0">
                <a:solidFill>
                  <a:srgbClr val="F4F7FC"/>
                </a:solidFill>
                <a:latin typeface="Aptos" panose="020B0604020202020204" pitchFamily="34" charset="0"/>
                <a:cs typeface="Arial" panose="020B0604020202020204" pitchFamily="34" charset="0"/>
              </a:rPr>
              <a:t>Team Name : </a:t>
            </a:r>
            <a:r>
              <a:rPr lang="en-US" sz="1700" b="0" dirty="0" err="1">
                <a:solidFill>
                  <a:srgbClr val="F4F7FC"/>
                </a:solidFill>
                <a:latin typeface="Aptos" panose="020B0604020202020204" pitchFamily="34" charset="0"/>
                <a:cs typeface="Arial" panose="020B0604020202020204" pitchFamily="34" charset="0"/>
              </a:rPr>
              <a:t>AURAfox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8D2E6"/>
          </a:solidFill>
          <a:ln>
            <a:solidFill>
              <a:srgbClr val="28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5" name="Rounded Rectangle 15394"/>
          <p:cNvSpPr/>
          <p:nvPr/>
        </p:nvSpPr>
        <p:spPr>
          <a:xfrm>
            <a:off x="2377440" y="4315968"/>
            <a:ext cx="7406640" cy="1280160"/>
          </a:xfrm>
          <a:prstGeom prst="roundRect">
            <a:avLst>
              <a:gd name="adj" fmla="val 12000"/>
            </a:avLst>
          </a:prstGeom>
          <a:solidFill>
            <a:srgbClr val="11203A"/>
          </a:solidFill>
          <a:ln>
            <a:solidFill>
              <a:srgbClr val="F5B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0" name="Rounded Rectangle 15389"/>
          <p:cNvSpPr/>
          <p:nvPr/>
        </p:nvSpPr>
        <p:spPr>
          <a:xfrm>
            <a:off x="7543800" y="2788920"/>
            <a:ext cx="3063240" cy="1280160"/>
          </a:xfrm>
          <a:prstGeom prst="roundRect">
            <a:avLst>
              <a:gd name="adj" fmla="val 12000"/>
            </a:avLst>
          </a:prstGeom>
          <a:solidFill>
            <a:srgbClr val="11203A"/>
          </a:solidFill>
          <a:ln>
            <a:solidFill>
              <a:srgbClr val="F05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5" name="Rounded Rectangle 15384"/>
          <p:cNvSpPr/>
          <p:nvPr/>
        </p:nvSpPr>
        <p:spPr>
          <a:xfrm>
            <a:off x="4114800" y="2788920"/>
            <a:ext cx="3063240" cy="1280160"/>
          </a:xfrm>
          <a:prstGeom prst="roundRect">
            <a:avLst>
              <a:gd name="adj" fmla="val 12000"/>
            </a:avLst>
          </a:prstGeom>
          <a:solidFill>
            <a:srgbClr val="11203A"/>
          </a:solidFill>
          <a:ln>
            <a:solidFill>
              <a:srgbClr val="FF9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0" name="Rounded Rectangle 15379"/>
          <p:cNvSpPr/>
          <p:nvPr/>
        </p:nvSpPr>
        <p:spPr>
          <a:xfrm>
            <a:off x="685800" y="2788920"/>
            <a:ext cx="3063240" cy="1280160"/>
          </a:xfrm>
          <a:prstGeom prst="roundRect">
            <a:avLst>
              <a:gd name="adj" fmla="val 12000"/>
            </a:avLst>
          </a:prstGeom>
          <a:solidFill>
            <a:srgbClr val="11203A"/>
          </a:solidFill>
          <a:ln>
            <a:solidFill>
              <a:srgbClr val="2CC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5" name="Rounded Rectangle 15374"/>
          <p:cNvSpPr/>
          <p:nvPr/>
        </p:nvSpPr>
        <p:spPr>
          <a:xfrm>
            <a:off x="7543800" y="1261872"/>
            <a:ext cx="3063240" cy="1280160"/>
          </a:xfrm>
          <a:prstGeom prst="roundRect">
            <a:avLst>
              <a:gd name="adj" fmla="val 12000"/>
            </a:avLst>
          </a:prstGeom>
          <a:solidFill>
            <a:srgbClr val="11203A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0" name="Rounded Rectangle 15369"/>
          <p:cNvSpPr/>
          <p:nvPr/>
        </p:nvSpPr>
        <p:spPr>
          <a:xfrm>
            <a:off x="4114800" y="1261872"/>
            <a:ext cx="3063240" cy="1280160"/>
          </a:xfrm>
          <a:prstGeom prst="roundRect">
            <a:avLst>
              <a:gd name="adj" fmla="val 12000"/>
            </a:avLst>
          </a:prstGeom>
          <a:solidFill>
            <a:srgbClr val="11203A"/>
          </a:solidFill>
          <a:ln>
            <a:solidFill>
              <a:srgbClr val="3C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5" name="Rounded Rectangle 15364"/>
          <p:cNvSpPr/>
          <p:nvPr/>
        </p:nvSpPr>
        <p:spPr>
          <a:xfrm>
            <a:off x="685800" y="1261872"/>
            <a:ext cx="3063240" cy="1280160"/>
          </a:xfrm>
          <a:prstGeom prst="roundRect">
            <a:avLst>
              <a:gd name="adj" fmla="val 12000"/>
            </a:avLst>
          </a:prstGeom>
          <a:solidFill>
            <a:srgbClr val="11203A"/>
          </a:solidFill>
          <a:ln>
            <a:solidFill>
              <a:srgbClr val="28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3" name="Rectangle 1536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26"/>
          </a:solidFill>
          <a:ln>
            <a:solidFill>
              <a:srgbClr val="081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6096000" y="0"/>
            <a:ext cx="5730240" cy="1143000"/>
          </a:xfrm>
        </p:spPr>
        <p:txBody>
          <a:bodyPr/>
          <a:lstStyle/>
          <a:p>
            <a:pPr eaLnBrk="1" hangingPunct="1" algn="l"/>
            <a:r>
              <a:rPr lang="en-GB" sz="2400" b="1" dirty="0">
                <a:solidFill>
                  <a:srgbClr val="F4F7FC"/>
                </a:solidFill>
                <a:latin typeface="Aptos Display"/>
                <a:ea typeface="Open Sans"/>
                <a:cs typeface="Open Sans"/>
                <a:sym typeface="Open Sans"/>
              </a:rPr>
              <a:t>PROPOSED SOLUTION</a:t>
            </a:r>
            <a:endParaRPr lang="en-US" sz="24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663662" y="1193786"/>
            <a:ext cx="10588538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sz="800" b="0">
                <a:solidFill>
                  <a:srgbClr val="BECADC"/>
                </a:solidFill>
                <a:latin typeface="Aptos"/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AURA</a:t>
            </a:r>
          </a:p>
          <a:p>
            <a:pPr algn="ctr"/>
            <a:r>
              <a:rPr lang="en-US" dirty="0"/>
              <a:t>fox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4" name="Rectangle 1536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8D2E6"/>
          </a:solidFill>
          <a:ln>
            <a:solidFill>
              <a:srgbClr val="28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6" name="Rounded Rectangle 15365"/>
          <p:cNvSpPr/>
          <p:nvPr/>
        </p:nvSpPr>
        <p:spPr>
          <a:xfrm>
            <a:off x="685800" y="1261872"/>
            <a:ext cx="73152" cy="1280160"/>
          </a:xfrm>
          <a:prstGeom prst="roundRect">
            <a:avLst>
              <a:gd name="adj" fmla="val 12000"/>
            </a:avLst>
          </a:prstGeom>
          <a:solidFill>
            <a:srgbClr val="28D2E6"/>
          </a:solidFill>
          <a:ln>
            <a:solidFill>
              <a:srgbClr val="28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7" name="Oval 15366"/>
          <p:cNvSpPr/>
          <p:nvPr/>
        </p:nvSpPr>
        <p:spPr>
          <a:xfrm>
            <a:off x="832104" y="1399031"/>
            <a:ext cx="310896" cy="310896"/>
          </a:xfrm>
          <a:prstGeom prst="ellipse">
            <a:avLst/>
          </a:prstGeom>
          <a:solidFill>
            <a:srgbClr val="28D2E6"/>
          </a:solidFill>
          <a:ln>
            <a:solidFill>
              <a:srgbClr val="28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8" name="TextBox 15367"/>
          <p:cNvSpPr txBox="1"/>
          <p:nvPr/>
        </p:nvSpPr>
        <p:spPr>
          <a:xfrm>
            <a:off x="6096000" y="1207008"/>
            <a:ext cx="329184" cy="2606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/>
            </a:pPr>
            <a:r>
              <a:rPr sz="800" b="0">
                <a:solidFill>
                  <a:srgbClr val="BECADC"/>
                </a:solidFill>
                <a:latin typeface="Aptos"/>
              </a:rPr>
              <a:t>1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6498336" y="1165860"/>
            <a:ext cx="2371344" cy="891540"/>
          </a:xfrm>
          <a:prstGeom prst="rect">
            <a:avLst/>
          </a:prstGeom>
          <a:noFill/>
        </p:spPr>
        <p:txBody>
          <a:bodyPr wrap="square" lIns="48768" rIns="48768" tIns="27432" bIns="27432">
            <a:spAutoFit/>
          </a:bodyPr>
          <a:lstStyle/>
          <a:p>
            <a:pPr>
              <a:spcAft>
                <a:spcPts val="300"/>
              </a:spcAft>
              <a:defRPr sz="1100"/>
            </a:pPr>
            <a:r>
              <a:rPr sz="1200" b="1">
                <a:solidFill>
                  <a:srgbClr val="28D2E6"/>
                </a:solidFill>
                <a:latin typeface="Aptos Display"/>
              </a:rPr>
              <a:t>LIVE DETECTION</a:t>
            </a:r>
          </a:p>
          <a:p>
            <a:pPr>
              <a:defRPr sz="850"/>
            </a:pPr>
            <a:r>
              <a:rPr sz="950">
                <a:solidFill>
                  <a:srgbClr val="F4F7FC"/>
                </a:solidFill>
                <a:latin typeface="Aptos"/>
              </a:rPr>
              <a:t>Built an AI-powered system that detects AI-generated and cloned voices during live calls.</a:t>
            </a:r>
          </a:p>
        </p:txBody>
      </p:sp>
      <p:sp>
        <p:nvSpPr>
          <p:cNvPr id="15371" name="Rounded Rectangle 15370"/>
          <p:cNvSpPr/>
          <p:nvPr/>
        </p:nvSpPr>
        <p:spPr>
          <a:xfrm>
            <a:off x="4114800" y="1261872"/>
            <a:ext cx="73152" cy="1280160"/>
          </a:xfrm>
          <a:prstGeom prst="roundRect">
            <a:avLst>
              <a:gd name="adj" fmla="val 12000"/>
            </a:avLst>
          </a:prstGeom>
          <a:solidFill>
            <a:srgbClr val="3C7DFF"/>
          </a:solidFill>
          <a:ln>
            <a:solidFill>
              <a:srgbClr val="3C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2" name="Oval 15371"/>
          <p:cNvSpPr/>
          <p:nvPr/>
        </p:nvSpPr>
        <p:spPr>
          <a:xfrm>
            <a:off x="4261104" y="1399031"/>
            <a:ext cx="310896" cy="310896"/>
          </a:xfrm>
          <a:prstGeom prst="ellipse">
            <a:avLst/>
          </a:prstGeom>
          <a:solidFill>
            <a:srgbClr val="3C7DFF"/>
          </a:solidFill>
          <a:ln>
            <a:solidFill>
              <a:srgbClr val="3C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3" name="TextBox 15372"/>
          <p:cNvSpPr txBox="1"/>
          <p:nvPr/>
        </p:nvSpPr>
        <p:spPr>
          <a:xfrm>
            <a:off x="9052560" y="1207008"/>
            <a:ext cx="329184" cy="2606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/>
            </a:pPr>
            <a:r>
              <a:rPr sz="800" b="0">
                <a:solidFill>
                  <a:srgbClr val="BECADC"/>
                </a:solidFill>
                <a:latin typeface="Aptos"/>
              </a:rPr>
              <a:t>2</a:t>
            </a:r>
          </a:p>
        </p:txBody>
      </p:sp>
      <p:sp>
        <p:nvSpPr>
          <p:cNvPr id="15374" name="TextBox 15373"/>
          <p:cNvSpPr txBox="1"/>
          <p:nvPr/>
        </p:nvSpPr>
        <p:spPr>
          <a:xfrm>
            <a:off x="9454896" y="1165860"/>
            <a:ext cx="2371344" cy="891540"/>
          </a:xfrm>
          <a:prstGeom prst="rect">
            <a:avLst/>
          </a:prstGeom>
          <a:noFill/>
        </p:spPr>
        <p:txBody>
          <a:bodyPr wrap="square" lIns="48768" rIns="48768" tIns="27432" bIns="27432">
            <a:spAutoFit/>
          </a:bodyPr>
          <a:lstStyle/>
          <a:p>
            <a:pPr>
              <a:spcAft>
                <a:spcPts val="300"/>
              </a:spcAft>
              <a:defRPr sz="1100"/>
            </a:pPr>
            <a:r>
              <a:rPr sz="1200" b="1">
                <a:solidFill>
                  <a:srgbClr val="3C7DFF"/>
                </a:solidFill>
                <a:latin typeface="Aptos Display"/>
              </a:rPr>
              <a:t>VOICE INTELLIGENCE</a:t>
            </a:r>
          </a:p>
          <a:p>
            <a:pPr>
              <a:defRPr sz="850"/>
            </a:pPr>
            <a:r>
              <a:rPr sz="950">
                <a:solidFill>
                  <a:srgbClr val="F4F7FC"/>
                </a:solidFill>
                <a:latin typeface="Aptos"/>
              </a:rPr>
              <a:t>Analyzes voice features such as sound patterns, tone, speech style, and speaker characteristics in real time.</a:t>
            </a:r>
          </a:p>
        </p:txBody>
      </p:sp>
      <p:sp>
        <p:nvSpPr>
          <p:cNvPr id="15376" name="Rounded Rectangle 15375"/>
          <p:cNvSpPr/>
          <p:nvPr/>
        </p:nvSpPr>
        <p:spPr>
          <a:xfrm>
            <a:off x="7543800" y="1261872"/>
            <a:ext cx="73152" cy="1280160"/>
          </a:xfrm>
          <a:prstGeom prst="roundRect">
            <a:avLst>
              <a:gd name="adj" fmla="val 12000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7" name="Oval 15376"/>
          <p:cNvSpPr/>
          <p:nvPr/>
        </p:nvSpPr>
        <p:spPr>
          <a:xfrm>
            <a:off x="7690104" y="1399031"/>
            <a:ext cx="310896" cy="310896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8" name="TextBox 15377"/>
          <p:cNvSpPr txBox="1"/>
          <p:nvPr/>
        </p:nvSpPr>
        <p:spPr>
          <a:xfrm>
            <a:off x="6096000" y="2427731"/>
            <a:ext cx="329184" cy="2606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/>
            </a:pPr>
            <a:r>
              <a:rPr sz="800" b="0">
                <a:solidFill>
                  <a:srgbClr val="BECADC"/>
                </a:solidFill>
                <a:latin typeface="Aptos"/>
              </a:rPr>
              <a:t>3</a:t>
            </a:r>
          </a:p>
        </p:txBody>
      </p:sp>
      <p:sp>
        <p:nvSpPr>
          <p:cNvPr id="15379" name="TextBox 15378"/>
          <p:cNvSpPr txBox="1"/>
          <p:nvPr/>
        </p:nvSpPr>
        <p:spPr>
          <a:xfrm>
            <a:off x="6498336" y="2386583"/>
            <a:ext cx="2371344" cy="891540"/>
          </a:xfrm>
          <a:prstGeom prst="rect">
            <a:avLst/>
          </a:prstGeom>
          <a:noFill/>
        </p:spPr>
        <p:txBody>
          <a:bodyPr wrap="square" lIns="48768" rIns="48768" tIns="27432" bIns="27432">
            <a:spAutoFit/>
          </a:bodyPr>
          <a:lstStyle/>
          <a:p>
            <a:pPr>
              <a:spcAft>
                <a:spcPts val="300"/>
              </a:spcAft>
              <a:defRPr sz="1100"/>
            </a:pPr>
            <a:r>
              <a:rPr sz="1200" b="1">
                <a:solidFill>
                  <a:srgbClr val="8B5CF6"/>
                </a:solidFill>
                <a:latin typeface="Aptos Display"/>
              </a:rPr>
              <a:t>DEEPFAKE DETECTION</a:t>
            </a:r>
          </a:p>
          <a:p>
            <a:pPr>
              <a:defRPr sz="850"/>
            </a:pPr>
            <a:r>
              <a:rPr sz="950">
                <a:solidFill>
                  <a:srgbClr val="F4F7FC"/>
                </a:solidFill>
                <a:latin typeface="Aptos"/>
              </a:rPr>
              <a:t>Uses deepfake detection models to identify synthetic or manipulated speech.</a:t>
            </a:r>
          </a:p>
        </p:txBody>
      </p:sp>
      <p:sp>
        <p:nvSpPr>
          <p:cNvPr id="15381" name="Rounded Rectangle 15380"/>
          <p:cNvSpPr/>
          <p:nvPr/>
        </p:nvSpPr>
        <p:spPr>
          <a:xfrm>
            <a:off x="685800" y="2788920"/>
            <a:ext cx="73152" cy="1280160"/>
          </a:xfrm>
          <a:prstGeom prst="roundRect">
            <a:avLst>
              <a:gd name="adj" fmla="val 12000"/>
            </a:avLst>
          </a:prstGeom>
          <a:solidFill>
            <a:srgbClr val="2CC682"/>
          </a:solidFill>
          <a:ln>
            <a:solidFill>
              <a:srgbClr val="2CC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2" name="Oval 15381"/>
          <p:cNvSpPr/>
          <p:nvPr/>
        </p:nvSpPr>
        <p:spPr>
          <a:xfrm>
            <a:off x="832104" y="2926079"/>
            <a:ext cx="310896" cy="310896"/>
          </a:xfrm>
          <a:prstGeom prst="ellipse">
            <a:avLst/>
          </a:prstGeom>
          <a:solidFill>
            <a:srgbClr val="2CC682"/>
          </a:solidFill>
          <a:ln>
            <a:solidFill>
              <a:srgbClr val="2CC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3" name="TextBox 15382"/>
          <p:cNvSpPr txBox="1"/>
          <p:nvPr/>
        </p:nvSpPr>
        <p:spPr>
          <a:xfrm>
            <a:off x="9052560" y="2427731"/>
            <a:ext cx="329184" cy="2606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/>
            </a:pPr>
            <a:r>
              <a:rPr sz="800" b="0">
                <a:solidFill>
                  <a:srgbClr val="BECADC"/>
                </a:solidFill>
                <a:latin typeface="Aptos"/>
              </a:rPr>
              <a:t>4</a:t>
            </a:r>
          </a:p>
        </p:txBody>
      </p:sp>
      <p:sp>
        <p:nvSpPr>
          <p:cNvPr id="15384" name="TextBox 15383"/>
          <p:cNvSpPr txBox="1"/>
          <p:nvPr/>
        </p:nvSpPr>
        <p:spPr>
          <a:xfrm>
            <a:off x="9454896" y="2386583"/>
            <a:ext cx="2371344" cy="891540"/>
          </a:xfrm>
          <a:prstGeom prst="rect">
            <a:avLst/>
          </a:prstGeom>
          <a:noFill/>
        </p:spPr>
        <p:txBody>
          <a:bodyPr wrap="square" lIns="48768" rIns="48768" tIns="27432" bIns="27432">
            <a:spAutoFit/>
          </a:bodyPr>
          <a:lstStyle/>
          <a:p>
            <a:pPr>
              <a:spcAft>
                <a:spcPts val="300"/>
              </a:spcAft>
              <a:defRPr sz="1100"/>
            </a:pPr>
            <a:r>
              <a:rPr sz="1200" b="1">
                <a:solidFill>
                  <a:srgbClr val="2CC682"/>
                </a:solidFill>
                <a:latin typeface="Aptos Display"/>
              </a:rPr>
              <a:t>SPEAKER VERIFICATION</a:t>
            </a:r>
          </a:p>
          <a:p>
            <a:pPr>
              <a:defRPr sz="850"/>
            </a:pPr>
            <a:r>
              <a:rPr sz="950">
                <a:solidFill>
                  <a:srgbClr val="F4F7FC"/>
                </a:solidFill>
                <a:latin typeface="Aptos"/>
              </a:rPr>
              <a:t>Compares the caller's voice with trusted reference voice samples to detect impersonation.</a:t>
            </a:r>
          </a:p>
        </p:txBody>
      </p:sp>
      <p:sp>
        <p:nvSpPr>
          <p:cNvPr id="15386" name="Rounded Rectangle 15385"/>
          <p:cNvSpPr/>
          <p:nvPr/>
        </p:nvSpPr>
        <p:spPr>
          <a:xfrm>
            <a:off x="4114800" y="2788920"/>
            <a:ext cx="73152" cy="1280160"/>
          </a:xfrm>
          <a:prstGeom prst="roundRect">
            <a:avLst>
              <a:gd name="adj" fmla="val 12000"/>
            </a:avLst>
          </a:prstGeom>
          <a:solidFill>
            <a:srgbClr val="FF973D"/>
          </a:solidFill>
          <a:ln>
            <a:solidFill>
              <a:srgbClr val="FF9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7" name="Oval 15386"/>
          <p:cNvSpPr/>
          <p:nvPr/>
        </p:nvSpPr>
        <p:spPr>
          <a:xfrm>
            <a:off x="4261104" y="2926079"/>
            <a:ext cx="310896" cy="310896"/>
          </a:xfrm>
          <a:prstGeom prst="ellipse">
            <a:avLst/>
          </a:prstGeom>
          <a:solidFill>
            <a:srgbClr val="FF973D"/>
          </a:solidFill>
          <a:ln>
            <a:solidFill>
              <a:srgbClr val="FF9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8" name="TextBox 15387"/>
          <p:cNvSpPr txBox="1"/>
          <p:nvPr/>
        </p:nvSpPr>
        <p:spPr>
          <a:xfrm>
            <a:off x="6096000" y="3648454"/>
            <a:ext cx="329184" cy="2606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/>
            </a:pPr>
            <a:r>
              <a:rPr sz="800" b="0">
                <a:solidFill>
                  <a:srgbClr val="BECADC"/>
                </a:solidFill>
                <a:latin typeface="Aptos"/>
              </a:rPr>
              <a:t>5</a:t>
            </a:r>
          </a:p>
        </p:txBody>
      </p:sp>
      <p:sp>
        <p:nvSpPr>
          <p:cNvPr id="15389" name="TextBox 15388"/>
          <p:cNvSpPr txBox="1"/>
          <p:nvPr/>
        </p:nvSpPr>
        <p:spPr>
          <a:xfrm>
            <a:off x="6498336" y="3607306"/>
            <a:ext cx="2371344" cy="891540"/>
          </a:xfrm>
          <a:prstGeom prst="rect">
            <a:avLst/>
          </a:prstGeom>
          <a:noFill/>
        </p:spPr>
        <p:txBody>
          <a:bodyPr wrap="square" lIns="48768" rIns="48768" tIns="27432" bIns="27432">
            <a:spAutoFit/>
          </a:bodyPr>
          <a:lstStyle/>
          <a:p>
            <a:pPr>
              <a:spcAft>
                <a:spcPts val="300"/>
              </a:spcAft>
              <a:defRPr sz="1100"/>
            </a:pPr>
            <a:r>
              <a:rPr sz="1200" b="1">
                <a:solidFill>
                  <a:srgbClr val="FF973D"/>
                </a:solidFill>
                <a:latin typeface="Aptos Display"/>
              </a:rPr>
              <a:t>DYNAMIC RISK SCORE</a:t>
            </a:r>
          </a:p>
          <a:p>
            <a:pPr>
              <a:defRPr sz="850"/>
            </a:pPr>
            <a:r>
              <a:rPr sz="950">
                <a:solidFill>
                  <a:srgbClr val="F4F7FC"/>
                </a:solidFill>
                <a:latin typeface="Aptos"/>
              </a:rPr>
              <a:t>Generates a live 0–100 Impersonation Risk Score that updates throughout the call.</a:t>
            </a:r>
          </a:p>
        </p:txBody>
      </p:sp>
      <p:sp>
        <p:nvSpPr>
          <p:cNvPr id="15391" name="Rounded Rectangle 15390"/>
          <p:cNvSpPr/>
          <p:nvPr/>
        </p:nvSpPr>
        <p:spPr>
          <a:xfrm>
            <a:off x="7543800" y="2788920"/>
            <a:ext cx="73152" cy="1280160"/>
          </a:xfrm>
          <a:prstGeom prst="roundRect">
            <a:avLst>
              <a:gd name="adj" fmla="val 12000"/>
            </a:avLst>
          </a:prstGeom>
          <a:solidFill>
            <a:srgbClr val="F05454"/>
          </a:solidFill>
          <a:ln>
            <a:solidFill>
              <a:srgbClr val="F05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2" name="Oval 15391"/>
          <p:cNvSpPr/>
          <p:nvPr/>
        </p:nvSpPr>
        <p:spPr>
          <a:xfrm>
            <a:off x="7690104" y="2926079"/>
            <a:ext cx="310896" cy="310896"/>
          </a:xfrm>
          <a:prstGeom prst="ellipse">
            <a:avLst/>
          </a:prstGeom>
          <a:solidFill>
            <a:srgbClr val="F05454"/>
          </a:solidFill>
          <a:ln>
            <a:solidFill>
              <a:srgbClr val="F05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3" name="TextBox 15392"/>
          <p:cNvSpPr txBox="1"/>
          <p:nvPr/>
        </p:nvSpPr>
        <p:spPr>
          <a:xfrm>
            <a:off x="9052560" y="3648454"/>
            <a:ext cx="329184" cy="2606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/>
            </a:pPr>
            <a:r>
              <a:rPr sz="800" b="0">
                <a:solidFill>
                  <a:srgbClr val="BECADC"/>
                </a:solidFill>
                <a:latin typeface="Aptos"/>
              </a:rPr>
              <a:t>6</a:t>
            </a:r>
          </a:p>
        </p:txBody>
      </p:sp>
      <p:sp>
        <p:nvSpPr>
          <p:cNvPr id="15394" name="TextBox 15393"/>
          <p:cNvSpPr txBox="1"/>
          <p:nvPr/>
        </p:nvSpPr>
        <p:spPr>
          <a:xfrm>
            <a:off x="9454896" y="3607306"/>
            <a:ext cx="2371344" cy="891540"/>
          </a:xfrm>
          <a:prstGeom prst="rect">
            <a:avLst/>
          </a:prstGeom>
          <a:noFill/>
        </p:spPr>
        <p:txBody>
          <a:bodyPr wrap="square" lIns="48768" rIns="48768" tIns="27432" bIns="27432">
            <a:spAutoFit/>
          </a:bodyPr>
          <a:lstStyle/>
          <a:p>
            <a:pPr>
              <a:spcAft>
                <a:spcPts val="300"/>
              </a:spcAft>
              <a:defRPr sz="1100"/>
            </a:pPr>
            <a:r>
              <a:rPr sz="1200" b="1">
                <a:solidFill>
                  <a:srgbClr val="F05454"/>
                </a:solidFill>
                <a:latin typeface="Aptos Display"/>
              </a:rPr>
              <a:t>THREAT FUSION</a:t>
            </a:r>
          </a:p>
          <a:p>
            <a:pPr>
              <a:defRPr sz="850"/>
            </a:pPr>
            <a:r>
              <a:rPr sz="950">
                <a:solidFill>
                  <a:srgbClr val="F4F7FC"/>
                </a:solidFill>
                <a:latin typeface="Aptos"/>
              </a:rPr>
              <a:t>Combines voice authenticity, speaker consistency, and other risk signals to assess the threat level.</a:t>
            </a:r>
          </a:p>
        </p:txBody>
      </p:sp>
      <p:sp>
        <p:nvSpPr>
          <p:cNvPr id="15396" name="Rounded Rectangle 15395"/>
          <p:cNvSpPr/>
          <p:nvPr/>
        </p:nvSpPr>
        <p:spPr>
          <a:xfrm>
            <a:off x="2377440" y="4315968"/>
            <a:ext cx="73152" cy="1280160"/>
          </a:xfrm>
          <a:prstGeom prst="roundRect">
            <a:avLst>
              <a:gd name="adj" fmla="val 12000"/>
            </a:avLst>
          </a:prstGeom>
          <a:solidFill>
            <a:srgbClr val="F5BE42"/>
          </a:solidFill>
          <a:ln>
            <a:solidFill>
              <a:srgbClr val="F5B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7" name="Oval 15396"/>
          <p:cNvSpPr/>
          <p:nvPr/>
        </p:nvSpPr>
        <p:spPr>
          <a:xfrm>
            <a:off x="2523744" y="4453128"/>
            <a:ext cx="310896" cy="310896"/>
          </a:xfrm>
          <a:prstGeom prst="ellipse">
            <a:avLst/>
          </a:prstGeom>
          <a:solidFill>
            <a:srgbClr val="F5BE42"/>
          </a:solidFill>
          <a:ln>
            <a:solidFill>
              <a:srgbClr val="F5B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8" name="TextBox 15397"/>
          <p:cNvSpPr txBox="1"/>
          <p:nvPr/>
        </p:nvSpPr>
        <p:spPr>
          <a:xfrm>
            <a:off x="7127443" y="4869177"/>
            <a:ext cx="329184" cy="2606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/>
            </a:pPr>
            <a:r>
              <a:rPr sz="800" b="0">
                <a:solidFill>
                  <a:srgbClr val="BECADC"/>
                </a:solidFill>
                <a:latin typeface="Aptos"/>
              </a:rPr>
              <a:t>7</a:t>
            </a:r>
          </a:p>
        </p:txBody>
      </p:sp>
      <p:sp>
        <p:nvSpPr>
          <p:cNvPr id="15399" name="TextBox 15398"/>
          <p:cNvSpPr txBox="1"/>
          <p:nvPr/>
        </p:nvSpPr>
        <p:spPr>
          <a:xfrm>
            <a:off x="7529779" y="4828029"/>
            <a:ext cx="3667353" cy="891540"/>
          </a:xfrm>
          <a:prstGeom prst="rect">
            <a:avLst/>
          </a:prstGeom>
          <a:noFill/>
        </p:spPr>
        <p:txBody>
          <a:bodyPr wrap="square" lIns="48768" rIns="48768" tIns="27432" bIns="27432">
            <a:spAutoFit/>
          </a:bodyPr>
          <a:lstStyle/>
          <a:p>
            <a:pPr>
              <a:spcAft>
                <a:spcPts val="300"/>
              </a:spcAft>
              <a:defRPr sz="1100"/>
            </a:pPr>
            <a:r>
              <a:rPr sz="1200" b="1">
                <a:solidFill>
                  <a:srgbClr val="F5BE42"/>
                </a:solidFill>
                <a:latin typeface="Aptos Display"/>
              </a:rPr>
              <a:t>PRIVACY-FIRST INTEGRATION</a:t>
            </a:r>
          </a:p>
          <a:p>
            <a:pPr>
              <a:defRPr sz="850"/>
            </a:pPr>
            <a:r>
              <a:rPr sz="950">
                <a:solidFill>
                  <a:srgbClr val="F4F7FC"/>
                </a:solidFill>
                <a:latin typeface="Aptos"/>
              </a:rPr>
              <a:t>Provides privacy-focused APIs and SDKs for banking, enterprises, telecom, and government systems.</a:t>
            </a:r>
          </a:p>
        </p:txBody>
      </p:sp>
      <p:sp>
        <p:nvSpPr>
          <p:cNvPr id="15400" name="TextBox 15399"/>
          <p:cNvSpPr txBox="1"/>
          <p:nvPr/>
        </p:nvSpPr>
        <p:spPr>
          <a:xfrm>
            <a:off x="426720" y="411480"/>
            <a:ext cx="5120640" cy="514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3D61"/>
                </a:solidFill>
              </a:defRPr>
            </a:pPr>
            <a:r>
              <a:t>PROBLEM STATEMENT</a:t>
            </a:r>
          </a:p>
        </p:txBody>
      </p:sp>
      <p:sp>
        <p:nvSpPr>
          <p:cNvPr id="15401" name="Rectangle 15400"/>
          <p:cNvSpPr/>
          <p:nvPr/>
        </p:nvSpPr>
        <p:spPr>
          <a:xfrm>
            <a:off x="426720" y="925830"/>
            <a:ext cx="3174796" cy="54864"/>
          </a:xfrm>
          <a:prstGeom prst="rect">
            <a:avLst/>
          </a:prstGeom>
          <a:solidFill>
            <a:srgbClr val="2A7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2" name="Rounded Rectangle 15401"/>
          <p:cNvSpPr/>
          <p:nvPr/>
        </p:nvSpPr>
        <p:spPr>
          <a:xfrm>
            <a:off x="426720" y="1165860"/>
            <a:ext cx="5120640" cy="85725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4A7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3" name="Rounded Rectangle 15402"/>
          <p:cNvSpPr/>
          <p:nvPr/>
        </p:nvSpPr>
        <p:spPr>
          <a:xfrm>
            <a:off x="573024" y="1289303"/>
            <a:ext cx="426720" cy="329184"/>
          </a:xfrm>
          <a:prstGeom prst="roundRect">
            <a:avLst/>
          </a:prstGeom>
          <a:solidFill>
            <a:srgbClr val="23658D"/>
          </a:solidFill>
          <a:ln>
            <a:solidFill>
              <a:srgbClr val="2365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5404" name="TextBox 15403"/>
          <p:cNvSpPr txBox="1"/>
          <p:nvPr/>
        </p:nvSpPr>
        <p:spPr>
          <a:xfrm>
            <a:off x="1133856" y="1248156"/>
            <a:ext cx="4267200" cy="2400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3D61"/>
                </a:solidFill>
              </a:defRPr>
            </a:pPr>
            <a:r>
              <a:t>AI VOICE CLONING</a:t>
            </a:r>
          </a:p>
        </p:txBody>
      </p:sp>
      <p:sp>
        <p:nvSpPr>
          <p:cNvPr id="15405" name="TextBox 15404"/>
          <p:cNvSpPr txBox="1"/>
          <p:nvPr/>
        </p:nvSpPr>
        <p:spPr>
          <a:xfrm>
            <a:off x="1133856" y="1495044"/>
            <a:ext cx="426720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>
                <a:solidFill>
                  <a:srgbClr val="3C4650"/>
                </a:solidFill>
              </a:defRPr>
            </a:pPr>
            <a:r>
              <a:t>AI-generated voice cloning enables attackers to convincingly impersonate trusted individuals.</a:t>
            </a:r>
          </a:p>
        </p:txBody>
      </p:sp>
      <p:sp>
        <p:nvSpPr>
          <p:cNvPr id="15406" name="Rounded Rectangle 15405"/>
          <p:cNvSpPr/>
          <p:nvPr/>
        </p:nvSpPr>
        <p:spPr>
          <a:xfrm>
            <a:off x="426720" y="2173986"/>
            <a:ext cx="5120640" cy="85725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4A7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7" name="Rounded Rectangle 15406"/>
          <p:cNvSpPr/>
          <p:nvPr/>
        </p:nvSpPr>
        <p:spPr>
          <a:xfrm>
            <a:off x="573024" y="2297429"/>
            <a:ext cx="426720" cy="329184"/>
          </a:xfrm>
          <a:prstGeom prst="roundRect">
            <a:avLst/>
          </a:prstGeom>
          <a:solidFill>
            <a:srgbClr val="23658D"/>
          </a:solidFill>
          <a:ln>
            <a:solidFill>
              <a:srgbClr val="2365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5408" name="TextBox 15407"/>
          <p:cNvSpPr txBox="1"/>
          <p:nvPr/>
        </p:nvSpPr>
        <p:spPr>
          <a:xfrm>
            <a:off x="1133856" y="2256282"/>
            <a:ext cx="4267200" cy="2400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3D61"/>
                </a:solidFill>
              </a:defRPr>
            </a:pPr>
            <a:r>
              <a:t>HIGH-RISK ATTACKS</a:t>
            </a:r>
          </a:p>
        </p:txBody>
      </p:sp>
      <p:sp>
        <p:nvSpPr>
          <p:cNvPr id="15409" name="TextBox 15408"/>
          <p:cNvSpPr txBox="1"/>
          <p:nvPr/>
        </p:nvSpPr>
        <p:spPr>
          <a:xfrm>
            <a:off x="1133856" y="2503170"/>
            <a:ext cx="426720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>
                <a:solidFill>
                  <a:srgbClr val="3C4650"/>
                </a:solidFill>
              </a:defRPr>
            </a:pPr>
            <a:r>
              <a:t>Can lead to financial fraud, social engineering, and unauthorized actions.</a:t>
            </a:r>
          </a:p>
        </p:txBody>
      </p:sp>
      <p:sp>
        <p:nvSpPr>
          <p:cNvPr id="15410" name="Rounded Rectangle 15409"/>
          <p:cNvSpPr/>
          <p:nvPr/>
        </p:nvSpPr>
        <p:spPr>
          <a:xfrm>
            <a:off x="426720" y="3182112"/>
            <a:ext cx="5120640" cy="85725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4A7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1" name="Rounded Rectangle 15410"/>
          <p:cNvSpPr/>
          <p:nvPr/>
        </p:nvSpPr>
        <p:spPr>
          <a:xfrm>
            <a:off x="573024" y="3305555"/>
            <a:ext cx="426720" cy="329184"/>
          </a:xfrm>
          <a:prstGeom prst="roundRect">
            <a:avLst/>
          </a:prstGeom>
          <a:solidFill>
            <a:srgbClr val="23658D"/>
          </a:solidFill>
          <a:ln>
            <a:solidFill>
              <a:srgbClr val="2365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412" name="TextBox 15411"/>
          <p:cNvSpPr txBox="1"/>
          <p:nvPr/>
        </p:nvSpPr>
        <p:spPr>
          <a:xfrm>
            <a:off x="1133856" y="3264408"/>
            <a:ext cx="4267200" cy="2400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3D61"/>
                </a:solidFill>
              </a:defRPr>
            </a:pPr>
            <a:r>
              <a:t>REAL-TIME GAP</a:t>
            </a:r>
          </a:p>
        </p:txBody>
      </p:sp>
      <p:sp>
        <p:nvSpPr>
          <p:cNvPr id="15413" name="TextBox 15412"/>
          <p:cNvSpPr txBox="1"/>
          <p:nvPr/>
        </p:nvSpPr>
        <p:spPr>
          <a:xfrm>
            <a:off x="1133856" y="3511296"/>
            <a:ext cx="426720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>
                <a:solidFill>
                  <a:srgbClr val="3C4650"/>
                </a:solidFill>
              </a:defRPr>
            </a:pPr>
            <a:r>
              <a:t>Existing systems lack reliable real-time detection and prevention of voice-cloning attacks.</a:t>
            </a:r>
          </a:p>
        </p:txBody>
      </p:sp>
      <p:sp>
        <p:nvSpPr>
          <p:cNvPr id="15414" name="Rounded Rectangle 15413"/>
          <p:cNvSpPr/>
          <p:nvPr/>
        </p:nvSpPr>
        <p:spPr>
          <a:xfrm>
            <a:off x="426720" y="4190238"/>
            <a:ext cx="5120640" cy="85725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4A7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5" name="Rounded Rectangle 15414"/>
          <p:cNvSpPr/>
          <p:nvPr/>
        </p:nvSpPr>
        <p:spPr>
          <a:xfrm>
            <a:off x="573024" y="4313681"/>
            <a:ext cx="426720" cy="329184"/>
          </a:xfrm>
          <a:prstGeom prst="roundRect">
            <a:avLst/>
          </a:prstGeom>
          <a:solidFill>
            <a:srgbClr val="23658D"/>
          </a:solidFill>
          <a:ln>
            <a:solidFill>
              <a:srgbClr val="2365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416" name="TextBox 15415"/>
          <p:cNvSpPr txBox="1"/>
          <p:nvPr/>
        </p:nvSpPr>
        <p:spPr>
          <a:xfrm>
            <a:off x="1133856" y="4272534"/>
            <a:ext cx="4267200" cy="2400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3D61"/>
                </a:solidFill>
              </a:defRPr>
            </a:pPr>
            <a:r>
              <a:t>AI-POWERED NEED</a:t>
            </a:r>
          </a:p>
        </p:txBody>
      </p:sp>
      <p:sp>
        <p:nvSpPr>
          <p:cNvPr id="15417" name="TextBox 15416"/>
          <p:cNvSpPr txBox="1"/>
          <p:nvPr/>
        </p:nvSpPr>
        <p:spPr>
          <a:xfrm>
            <a:off x="1133856" y="4519422"/>
            <a:ext cx="426720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>
                <a:solidFill>
                  <a:srgbClr val="3C4650"/>
                </a:solidFill>
              </a:defRPr>
            </a:pPr>
            <a:r>
              <a:t>Need to detect synthetic voices, verify identity, and assess risk dynamically.</a:t>
            </a:r>
          </a:p>
        </p:txBody>
      </p:sp>
      <p:sp>
        <p:nvSpPr>
          <p:cNvPr id="15418" name="Rounded Rectangle 15417"/>
          <p:cNvSpPr/>
          <p:nvPr/>
        </p:nvSpPr>
        <p:spPr>
          <a:xfrm>
            <a:off x="426720" y="5198364"/>
            <a:ext cx="5120640" cy="85725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4A7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9" name="Rounded Rectangle 15418"/>
          <p:cNvSpPr/>
          <p:nvPr/>
        </p:nvSpPr>
        <p:spPr>
          <a:xfrm>
            <a:off x="573024" y="5321807"/>
            <a:ext cx="426720" cy="329184"/>
          </a:xfrm>
          <a:prstGeom prst="roundRect">
            <a:avLst/>
          </a:prstGeom>
          <a:solidFill>
            <a:srgbClr val="23658D"/>
          </a:solidFill>
          <a:ln>
            <a:solidFill>
              <a:srgbClr val="2365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5420" name="TextBox 15419"/>
          <p:cNvSpPr txBox="1"/>
          <p:nvPr/>
        </p:nvSpPr>
        <p:spPr>
          <a:xfrm>
            <a:off x="1133856" y="5280660"/>
            <a:ext cx="4267200" cy="2400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3D61"/>
                </a:solidFill>
              </a:defRPr>
            </a:pPr>
            <a:r>
              <a:t>SAFE DEPLOYMENT</a:t>
            </a:r>
          </a:p>
        </p:txBody>
      </p:sp>
      <p:sp>
        <p:nvSpPr>
          <p:cNvPr id="15421" name="TextBox 15420"/>
          <p:cNvSpPr txBox="1"/>
          <p:nvPr/>
        </p:nvSpPr>
        <p:spPr>
          <a:xfrm>
            <a:off x="1133856" y="5527548"/>
            <a:ext cx="426720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>
                <a:solidFill>
                  <a:srgbClr val="3C4650"/>
                </a:solidFill>
              </a:defRPr>
            </a:pPr>
            <a:r>
              <a:t>The solution must provide real-time alerts and preventive actions with privacy and scalability.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Rounded Rectangle 17412"/>
          <p:cNvSpPr/>
          <p:nvPr/>
        </p:nvSpPr>
        <p:spPr>
          <a:xfrm>
            <a:off x="1337181" y="919163"/>
            <a:ext cx="8735303" cy="4945187"/>
          </a:xfrm>
          <a:prstGeom prst="roundRect">
            <a:avLst>
              <a:gd name="adj" fmla="val 12000"/>
            </a:avLst>
          </a:prstGeom>
          <a:solidFill>
            <a:srgbClr val="11203A"/>
          </a:solidFill>
          <a:ln>
            <a:solidFill>
              <a:srgbClr val="28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ectangle 174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26"/>
          </a:solidFill>
          <a:ln>
            <a:solidFill>
              <a:srgbClr val="081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algn="l"/>
            <a:r>
              <a:rPr lang="en-US" sz="2400" b="1" dirty="0">
                <a:solidFill>
                  <a:srgbClr val="F4F7FC"/>
                </a:solidFill>
                <a:latin typeface="Aptos Display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AURA</a:t>
            </a:r>
          </a:p>
          <a:p>
            <a:pPr algn="ctr"/>
            <a:r>
              <a:rPr lang="en-US" dirty="0"/>
              <a:t>fox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8037" y="33038"/>
            <a:ext cx="2249850" cy="10623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6B48067-09DF-8F2C-3240-AD897CDA75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0334" y="992316"/>
            <a:ext cx="8588999" cy="4798883"/>
          </a:xfrm>
          <a:prstGeom prst="rect">
            <a:avLst/>
          </a:prstGeom>
        </p:spPr>
      </p:pic>
      <p:sp>
        <p:nvSpPr>
          <p:cNvPr id="17412" name="Rectangle 1741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8D2E6"/>
          </a:solidFill>
          <a:ln>
            <a:solidFill>
              <a:srgbClr val="28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68580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8D2E6"/>
                </a:solidFill>
              </a:rPr>
              <a:t>Real-time pipeline • Parallel analysis • Explainable risk decision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4" name="Rounded Rectangle 17413"/>
          <p:cNvSpPr/>
          <p:nvPr/>
        </p:nvSpPr>
        <p:spPr>
          <a:xfrm>
            <a:off x="6467849" y="795504"/>
            <a:ext cx="4750189" cy="5266992"/>
          </a:xfrm>
          <a:prstGeom prst="roundRect">
            <a:avLst>
              <a:gd name="adj" fmla="val 12000"/>
            </a:avLst>
          </a:prstGeom>
          <a:solidFill>
            <a:srgbClr val="11203A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Rounded Rectangle 17412"/>
          <p:cNvSpPr/>
          <p:nvPr/>
        </p:nvSpPr>
        <p:spPr>
          <a:xfrm>
            <a:off x="973962" y="931224"/>
            <a:ext cx="4816624" cy="4836104"/>
          </a:xfrm>
          <a:prstGeom prst="roundRect">
            <a:avLst>
              <a:gd name="adj" fmla="val 12000"/>
            </a:avLst>
          </a:prstGeom>
          <a:solidFill>
            <a:srgbClr val="11203A"/>
          </a:solidFill>
          <a:ln>
            <a:solidFill>
              <a:srgbClr val="2CC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ectangle 174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26"/>
          </a:solidFill>
          <a:ln>
            <a:solidFill>
              <a:srgbClr val="081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083690" y="1040952"/>
            <a:ext cx="4597168" cy="4616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en-US" sz="2200" b="1" dirty="0">
                <a:solidFill>
                  <a:srgbClr val="2CC682"/>
                </a:solidFill>
                <a:latin typeface="Aptos Display" panose="02020603050405020304" pitchFamily="18" charset="0"/>
                <a:cs typeface="Times New Roman" panose="02020603050405020304" pitchFamily="18" charset="0"/>
              </a:rPr>
              <a:t>       FEASIBILITY</a:t>
            </a:r>
            <a:endParaRPr lang="en-IN" sz="2800" dirty="0">
              <a:solidFill>
                <a:srgbClr val="FF0000"/>
              </a:solidFill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dirty="0" sz="1300" b="0">
                <a:solidFill>
                  <a:srgbClr val="F4F7FC"/>
                </a:solidFill>
                <a:latin typeface="Aptos"/>
              </a:rPr>
              <a:t>Uses existing microphones, VoIP and communication infrastructure; no specialized hardware is mandatory.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dirty="0" sz="1300" b="0">
                <a:solidFill>
                  <a:srgbClr val="F4F7FC"/>
                </a:solidFill>
                <a:latin typeface="Aptos"/>
              </a:rPr>
              <a:t>Audio can be processed in short streaming chunks, enabling near-real-time detection.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dirty="0" sz="1300" b="0">
                <a:solidFill>
                  <a:srgbClr val="F4F7FC"/>
                </a:solidFill>
                <a:latin typeface="Aptos"/>
              </a:rPr>
              <a:t>Modular architecture allows individual AI components to be upgraded without redesigning the entire system.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dirty="0" sz="1300" b="0">
                <a:solidFill>
                  <a:srgbClr val="F4F7FC"/>
                </a:solidFill>
                <a:latin typeface="Aptos"/>
              </a:rPr>
              <a:t>Open research datasets and established audio anti-spoofing benchmarks enable model training and objective evaluation.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AURA</a:t>
            </a:r>
          </a:p>
          <a:p>
            <a:pPr algn="ctr"/>
            <a:r>
              <a:rPr lang="en-US" dirty="0"/>
              <a:t>fox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E3108E0-D910-7F0F-5447-3BE81966E5C0}"/>
              </a:ext>
            </a:extLst>
          </p:cNvPr>
          <p:cNvSpPr txBox="1"/>
          <p:nvPr/>
        </p:nvSpPr>
        <p:spPr>
          <a:xfrm>
            <a:off x="6577577" y="905232"/>
            <a:ext cx="4530733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8B5CF6"/>
                </a:solidFill>
                <a:latin typeface="Aptos Display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200" b="1" dirty="0">
                <a:solidFill>
                  <a:srgbClr val="8B5CF6"/>
                </a:solidFill>
                <a:latin typeface="Aptos Display" panose="02020603050405020304" pitchFamily="18" charset="0"/>
                <a:cs typeface="Times New Roman" panose="02020603050405020304" pitchFamily="18" charset="0"/>
              </a:rPr>
              <a:t>VIABILITY</a:t>
            </a:r>
          </a:p>
          <a:p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z="1300" b="0">
                <a:solidFill>
                  <a:srgbClr val="F4F7FC"/>
                </a:solidFill>
                <a:latin typeface="Aptos"/>
              </a:rPr>
              <a:t>Reduces risk of voice-cloning fraud, social engineering and unauthorized approvals</a:t>
            </a:r>
            <a:r>
              <a:rPr lang="en-IN" dirty="0" sz="1300" b="0">
                <a:solidFill>
                  <a:srgbClr val="F4F7FC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z="1300" b="0">
                <a:solidFill>
                  <a:srgbClr val="F4F7FC"/>
                </a:solidFill>
                <a:latin typeface="Aptos"/>
              </a:rPr>
              <a:t>Risk thresholds can be customized for different environments such as banking, government and corporate operations.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z="1300" b="0">
                <a:solidFill>
                  <a:srgbClr val="F4F7FC"/>
                </a:solidFill>
                <a:latin typeface="Aptos"/>
              </a:rPr>
              <a:t>Can support Indian languages, regional accents and diverse communication environments through suitable training and evaluation.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z="1300" b="0">
                <a:solidFill>
                  <a:srgbClr val="F4F7FC"/>
                </a:solidFill>
                <a:latin typeface="Aptos"/>
              </a:rPr>
              <a:t>Long-term platform potential across banking, telecom, enterprises, government and customer-support systems.</a:t>
            </a:r>
            <a:r>
              <a:rPr lang="en-IN" sz="1300" dirty="0" b="0">
                <a:solidFill>
                  <a:srgbClr val="F4F7FC"/>
                </a:solidFill>
                <a:latin typeface="Aptos"/>
              </a:rPr>
              <a:t>.</a:t>
            </a:r>
            <a:endParaRPr lang="en-IN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12" name="Rectangle 1741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8D2E6"/>
          </a:solidFill>
          <a:ln>
            <a:solidFill>
              <a:srgbClr val="28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Rectangle 17414"/>
          <p:cNvSpPr/>
          <p:nvPr/>
        </p:nvSpPr>
        <p:spPr>
          <a:xfrm>
            <a:off x="658368" y="320040"/>
            <a:ext cx="4846320" cy="64008"/>
          </a:xfrm>
          <a:prstGeom prst="rect">
            <a:avLst/>
          </a:prstGeom>
          <a:solidFill>
            <a:srgbClr val="2CC682"/>
          </a:solidFill>
          <a:ln>
            <a:solidFill>
              <a:srgbClr val="2CC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Rectangle 17415"/>
          <p:cNvSpPr/>
          <p:nvPr/>
        </p:nvSpPr>
        <p:spPr>
          <a:xfrm>
            <a:off x="6583680" y="320040"/>
            <a:ext cx="4754880" cy="64008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7" name="Rounded Rectangle 17426"/>
          <p:cNvSpPr/>
          <p:nvPr/>
        </p:nvSpPr>
        <p:spPr>
          <a:xfrm>
            <a:off x="6752466" y="4300777"/>
            <a:ext cx="5105126" cy="1069633"/>
          </a:xfrm>
          <a:prstGeom prst="roundRect">
            <a:avLst>
              <a:gd name="adj" fmla="val 12000"/>
            </a:avLst>
          </a:prstGeom>
          <a:solidFill>
            <a:srgbClr val="11203A"/>
          </a:solidFill>
          <a:ln>
            <a:solidFill>
              <a:srgbClr val="28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Rounded Rectangle 17424"/>
          <p:cNvSpPr/>
          <p:nvPr/>
        </p:nvSpPr>
        <p:spPr>
          <a:xfrm>
            <a:off x="6752466" y="3210206"/>
            <a:ext cx="4808234" cy="1069633"/>
          </a:xfrm>
          <a:prstGeom prst="roundRect">
            <a:avLst>
              <a:gd name="adj" fmla="val 12000"/>
            </a:avLst>
          </a:prstGeom>
          <a:solidFill>
            <a:srgbClr val="11203A"/>
          </a:solidFill>
          <a:ln>
            <a:solidFill>
              <a:srgbClr val="FF9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Rounded Rectangle 17422"/>
          <p:cNvSpPr/>
          <p:nvPr/>
        </p:nvSpPr>
        <p:spPr>
          <a:xfrm>
            <a:off x="6752465" y="2128606"/>
            <a:ext cx="5105126" cy="1069633"/>
          </a:xfrm>
          <a:prstGeom prst="roundRect">
            <a:avLst>
              <a:gd name="adj" fmla="val 12000"/>
            </a:avLst>
          </a:prstGeom>
          <a:solidFill>
            <a:srgbClr val="11203A"/>
          </a:solidFill>
          <a:ln>
            <a:solidFill>
              <a:srgbClr val="2CC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Rounded Rectangle 17420"/>
          <p:cNvSpPr/>
          <p:nvPr/>
        </p:nvSpPr>
        <p:spPr>
          <a:xfrm>
            <a:off x="6752465" y="1163863"/>
            <a:ext cx="5275921" cy="1069633"/>
          </a:xfrm>
          <a:prstGeom prst="roundRect">
            <a:avLst>
              <a:gd name="adj" fmla="val 12000"/>
            </a:avLst>
          </a:prstGeom>
          <a:solidFill>
            <a:srgbClr val="11203A"/>
          </a:solidFill>
          <a:ln>
            <a:solidFill>
              <a:srgbClr val="F5B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Rounded Rectangle 17418"/>
          <p:cNvSpPr/>
          <p:nvPr/>
        </p:nvSpPr>
        <p:spPr>
          <a:xfrm>
            <a:off x="1237173" y="4305906"/>
            <a:ext cx="4475591" cy="1069633"/>
          </a:xfrm>
          <a:prstGeom prst="roundRect">
            <a:avLst>
              <a:gd name="adj" fmla="val 12000"/>
            </a:avLst>
          </a:prstGeom>
          <a:solidFill>
            <a:srgbClr val="11203A"/>
          </a:solidFill>
          <a:ln>
            <a:solidFill>
              <a:srgbClr val="3C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Rounded Rectangle 17416"/>
          <p:cNvSpPr/>
          <p:nvPr/>
        </p:nvSpPr>
        <p:spPr>
          <a:xfrm>
            <a:off x="1224123" y="3236182"/>
            <a:ext cx="4475590" cy="1069633"/>
          </a:xfrm>
          <a:prstGeom prst="roundRect">
            <a:avLst>
              <a:gd name="adj" fmla="val 12000"/>
            </a:avLst>
          </a:prstGeom>
          <a:solidFill>
            <a:srgbClr val="11203A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Rounded Rectangle 17414"/>
          <p:cNvSpPr/>
          <p:nvPr/>
        </p:nvSpPr>
        <p:spPr>
          <a:xfrm>
            <a:off x="1237173" y="2171587"/>
            <a:ext cx="4548176" cy="1069633"/>
          </a:xfrm>
          <a:prstGeom prst="roundRect">
            <a:avLst>
              <a:gd name="adj" fmla="val 12000"/>
            </a:avLst>
          </a:prstGeom>
          <a:solidFill>
            <a:srgbClr val="11203A"/>
          </a:solidFill>
          <a:ln>
            <a:solidFill>
              <a:srgbClr val="28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Rounded Rectangle 17412"/>
          <p:cNvSpPr/>
          <p:nvPr/>
        </p:nvSpPr>
        <p:spPr>
          <a:xfrm>
            <a:off x="1237173" y="1191520"/>
            <a:ext cx="4548176" cy="1069633"/>
          </a:xfrm>
          <a:prstGeom prst="roundRect">
            <a:avLst>
              <a:gd name="adj" fmla="val 12000"/>
            </a:avLst>
          </a:prstGeom>
          <a:solidFill>
            <a:srgbClr val="11203A"/>
          </a:solidFill>
          <a:ln>
            <a:solidFill>
              <a:srgbClr val="F05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ectangle 174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26"/>
          </a:solidFill>
          <a:ln>
            <a:solidFill>
              <a:srgbClr val="081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algn="l"/>
            <a:r>
              <a:rPr lang="en-US" sz="2400" b="1" dirty="0">
                <a:solidFill>
                  <a:srgbClr val="F4F7FC"/>
                </a:solidFill>
                <a:latin typeface="Aptos Display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346902" y="1264673"/>
            <a:ext cx="432872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b="0" dirty="0" sz="1100">
                <a:solidFill>
                  <a:srgbClr val="F4F7FC"/>
                </a:solidFill>
                <a:latin typeface="Aptos"/>
              </a:rPr>
              <a:t>Fraud Prevention: </a:t>
            </a:r>
            <a:r>
              <a:rPr lang="en-US" dirty="0" sz="1100" b="0">
                <a:solidFill>
                  <a:srgbClr val="F4F7FC"/>
                </a:solidFill>
                <a:latin typeface="Aptos"/>
              </a:rPr>
              <a:t>Detects AI-generated voices before attackers can manipulate high-risk transactions or approvals.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AURA</a:t>
            </a:r>
          </a:p>
          <a:p>
            <a:pPr algn="ctr"/>
            <a:r>
              <a:rPr lang="en-US" dirty="0"/>
              <a:t>fox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6FBD629-97F1-3232-6567-656CCAB19856}"/>
              </a:ext>
            </a:extLst>
          </p:cNvPr>
          <p:cNvSpPr txBox="1"/>
          <p:nvPr/>
        </p:nvSpPr>
        <p:spPr>
          <a:xfrm>
            <a:off x="1346902" y="2244739"/>
            <a:ext cx="43287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 sz="1100">
                <a:solidFill>
                  <a:srgbClr val="F4F7FC"/>
                </a:solidFill>
                <a:latin typeface="Aptos"/>
              </a:rPr>
              <a:t>Real-Time Protection: </a:t>
            </a:r>
            <a:r>
              <a:rPr lang="en-US" dirty="0" sz="1100" b="0">
                <a:solidFill>
                  <a:srgbClr val="F4F7FC"/>
                </a:solidFill>
                <a:latin typeface="Aptos"/>
              </a:rPr>
              <a:t>Provides warnings while the conversation is still happening instead of analyzing the call afterward.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119F0D-AFC9-6E1C-EC02-4457DAFFD1E1}"/>
              </a:ext>
            </a:extLst>
          </p:cNvPr>
          <p:cNvSpPr txBox="1"/>
          <p:nvPr/>
        </p:nvSpPr>
        <p:spPr>
          <a:xfrm>
            <a:off x="1333851" y="3309334"/>
            <a:ext cx="42561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 sz="1100">
                <a:solidFill>
                  <a:srgbClr val="F4F7FC"/>
                </a:solidFill>
                <a:latin typeface="Aptos"/>
              </a:rPr>
              <a:t>Reduced Social Engineering: </a:t>
            </a:r>
            <a:r>
              <a:rPr lang="en-US" dirty="0" sz="1100" b="0">
                <a:solidFill>
                  <a:srgbClr val="F4F7FC"/>
                </a:solidFill>
                <a:latin typeface="Aptos"/>
              </a:rPr>
              <a:t>Helps identify Impersonation of executives, officials, employees and trusted individuals.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5DECF0-FC2A-E213-E969-7229BAE8B4C7}"/>
              </a:ext>
            </a:extLst>
          </p:cNvPr>
          <p:cNvSpPr txBox="1"/>
          <p:nvPr/>
        </p:nvSpPr>
        <p:spPr>
          <a:xfrm>
            <a:off x="1346902" y="4379058"/>
            <a:ext cx="42561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 sz="1100">
                <a:solidFill>
                  <a:srgbClr val="F4F7FC"/>
                </a:solidFill>
                <a:latin typeface="Aptos"/>
              </a:rPr>
              <a:t>Cyber Resilience: </a:t>
            </a:r>
            <a:r>
              <a:rPr lang="en-US" dirty="0" sz="1100" b="0">
                <a:solidFill>
                  <a:srgbClr val="F4F7FC"/>
                </a:solidFill>
                <a:latin typeface="Aptos"/>
              </a:rPr>
              <a:t>Creates a reusable security layer against emerging AI-powered voice impersonation attacks.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07A038-391E-D0EF-25F9-43F0A465D556}"/>
              </a:ext>
            </a:extLst>
          </p:cNvPr>
          <p:cNvSpPr txBox="1"/>
          <p:nvPr/>
        </p:nvSpPr>
        <p:spPr>
          <a:xfrm>
            <a:off x="6862193" y="1237016"/>
            <a:ext cx="505646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 sz="1100">
                <a:solidFill>
                  <a:srgbClr val="F4F7FC"/>
                </a:solidFill>
                <a:latin typeface="Aptos"/>
              </a:rPr>
              <a:t>Financial Security: </a:t>
            </a:r>
            <a:r>
              <a:rPr lang="en-US" dirty="0" sz="1100" b="0">
                <a:solidFill>
                  <a:srgbClr val="F4F7FC"/>
                </a:solidFill>
                <a:latin typeface="Aptos"/>
              </a:rPr>
              <a:t>Provides additional protection for high-value transactions and sensitive financial instructions.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B65D9C-E797-8960-A63A-A8444CE31873}"/>
              </a:ext>
            </a:extLst>
          </p:cNvPr>
          <p:cNvSpPr txBox="1"/>
          <p:nvPr/>
        </p:nvSpPr>
        <p:spPr>
          <a:xfrm>
            <a:off x="6862193" y="2201758"/>
            <a:ext cx="48856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 sz="1100">
                <a:solidFill>
                  <a:srgbClr val="F4F7FC"/>
                </a:solidFill>
                <a:latin typeface="Aptos"/>
              </a:rPr>
              <a:t>Privacy Preservation: </a:t>
            </a:r>
            <a:r>
              <a:rPr lang="en-US" dirty="0" sz="1100" b="0">
                <a:solidFill>
                  <a:srgbClr val="F4F7FC"/>
                </a:solidFill>
                <a:latin typeface="Aptos"/>
              </a:rPr>
              <a:t>Supports edge processing and feature-level logging to minimize retention of sensitive voice recordings.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A74C23-B78F-B7F0-98B0-88E5AC0E2C94}"/>
              </a:ext>
            </a:extLst>
          </p:cNvPr>
          <p:cNvSpPr txBox="1"/>
          <p:nvPr/>
        </p:nvSpPr>
        <p:spPr>
          <a:xfrm>
            <a:off x="6862194" y="3283358"/>
            <a:ext cx="45887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 sz="1100">
                <a:solidFill>
                  <a:srgbClr val="F4F7FC"/>
                </a:solidFill>
                <a:latin typeface="Aptos"/>
              </a:rPr>
              <a:t>Improved Trust: </a:t>
            </a:r>
            <a:r>
              <a:rPr lang="en-US" dirty="0" sz="1100" b="0">
                <a:solidFill>
                  <a:srgbClr val="F4F7FC"/>
                </a:solidFill>
                <a:latin typeface="Aptos"/>
              </a:rPr>
              <a:t>Strengthens confidence in voice-based communication for organizations and users.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9DF412-73DA-F2C5-2118-586FFFB0896C}"/>
              </a:ext>
            </a:extLst>
          </p:cNvPr>
          <p:cNvSpPr txBox="1"/>
          <p:nvPr/>
        </p:nvSpPr>
        <p:spPr>
          <a:xfrm>
            <a:off x="6862194" y="4373929"/>
            <a:ext cx="48856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 sz="1100">
                <a:solidFill>
                  <a:srgbClr val="F4F7FC"/>
                </a:solidFill>
                <a:latin typeface="Aptos"/>
              </a:rPr>
              <a:t>Scalable Deployment: </a:t>
            </a:r>
            <a:r>
              <a:rPr lang="en-US" dirty="0" sz="1100" b="0">
                <a:solidFill>
                  <a:srgbClr val="F4F7FC"/>
                </a:solidFill>
                <a:latin typeface="Aptos"/>
              </a:rPr>
              <a:t>Can be integrated into banking, telecom, enterprise and government communication environments.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12" name="Rectangle 1741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8D2E6"/>
          </a:solidFill>
          <a:ln>
            <a:solidFill>
              <a:srgbClr val="28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Rounded Rectangle 17413"/>
          <p:cNvSpPr/>
          <p:nvPr/>
        </p:nvSpPr>
        <p:spPr>
          <a:xfrm>
            <a:off x="1237173" y="1191520"/>
            <a:ext cx="54864" cy="1069633"/>
          </a:xfrm>
          <a:prstGeom prst="roundRect">
            <a:avLst>
              <a:gd name="adj" fmla="val 12000"/>
            </a:avLst>
          </a:prstGeom>
          <a:solidFill>
            <a:srgbClr val="F05454"/>
          </a:solidFill>
          <a:ln>
            <a:solidFill>
              <a:srgbClr val="F05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Rounded Rectangle 17415"/>
          <p:cNvSpPr/>
          <p:nvPr/>
        </p:nvSpPr>
        <p:spPr>
          <a:xfrm>
            <a:off x="1237173" y="2171587"/>
            <a:ext cx="54864" cy="1069633"/>
          </a:xfrm>
          <a:prstGeom prst="roundRect">
            <a:avLst>
              <a:gd name="adj" fmla="val 12000"/>
            </a:avLst>
          </a:prstGeom>
          <a:solidFill>
            <a:srgbClr val="28D2E6"/>
          </a:solidFill>
          <a:ln>
            <a:solidFill>
              <a:srgbClr val="28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Rounded Rectangle 17417"/>
          <p:cNvSpPr/>
          <p:nvPr/>
        </p:nvSpPr>
        <p:spPr>
          <a:xfrm>
            <a:off x="1224123" y="3236182"/>
            <a:ext cx="54864" cy="1069633"/>
          </a:xfrm>
          <a:prstGeom prst="roundRect">
            <a:avLst>
              <a:gd name="adj" fmla="val 12000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Rounded Rectangle 17419"/>
          <p:cNvSpPr/>
          <p:nvPr/>
        </p:nvSpPr>
        <p:spPr>
          <a:xfrm>
            <a:off x="1237173" y="4305906"/>
            <a:ext cx="54864" cy="1069633"/>
          </a:xfrm>
          <a:prstGeom prst="roundRect">
            <a:avLst>
              <a:gd name="adj" fmla="val 12000"/>
            </a:avLst>
          </a:prstGeom>
          <a:solidFill>
            <a:srgbClr val="3C7DFF"/>
          </a:solidFill>
          <a:ln>
            <a:solidFill>
              <a:srgbClr val="3C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Rounded Rectangle 17421"/>
          <p:cNvSpPr/>
          <p:nvPr/>
        </p:nvSpPr>
        <p:spPr>
          <a:xfrm>
            <a:off x="6752465" y="1163863"/>
            <a:ext cx="54864" cy="1069633"/>
          </a:xfrm>
          <a:prstGeom prst="roundRect">
            <a:avLst>
              <a:gd name="adj" fmla="val 12000"/>
            </a:avLst>
          </a:prstGeom>
          <a:solidFill>
            <a:srgbClr val="F5BE42"/>
          </a:solidFill>
          <a:ln>
            <a:solidFill>
              <a:srgbClr val="F5B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Rounded Rectangle 17423"/>
          <p:cNvSpPr/>
          <p:nvPr/>
        </p:nvSpPr>
        <p:spPr>
          <a:xfrm>
            <a:off x="6752465" y="2128606"/>
            <a:ext cx="54864" cy="1069633"/>
          </a:xfrm>
          <a:prstGeom prst="roundRect">
            <a:avLst>
              <a:gd name="adj" fmla="val 12000"/>
            </a:avLst>
          </a:prstGeom>
          <a:solidFill>
            <a:srgbClr val="2CC682"/>
          </a:solidFill>
          <a:ln>
            <a:solidFill>
              <a:srgbClr val="2CC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Rounded Rectangle 17425"/>
          <p:cNvSpPr/>
          <p:nvPr/>
        </p:nvSpPr>
        <p:spPr>
          <a:xfrm>
            <a:off x="6752466" y="3210206"/>
            <a:ext cx="54864" cy="1069633"/>
          </a:xfrm>
          <a:prstGeom prst="roundRect">
            <a:avLst>
              <a:gd name="adj" fmla="val 12000"/>
            </a:avLst>
          </a:prstGeom>
          <a:solidFill>
            <a:srgbClr val="FF973D"/>
          </a:solidFill>
          <a:ln>
            <a:solidFill>
              <a:srgbClr val="FF9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Rounded Rectangle 17427"/>
          <p:cNvSpPr/>
          <p:nvPr/>
        </p:nvSpPr>
        <p:spPr>
          <a:xfrm>
            <a:off x="6752466" y="4300777"/>
            <a:ext cx="54864" cy="1069633"/>
          </a:xfrm>
          <a:prstGeom prst="roundRect">
            <a:avLst>
              <a:gd name="adj" fmla="val 12000"/>
            </a:avLst>
          </a:prstGeom>
          <a:solidFill>
            <a:srgbClr val="28D2E6"/>
          </a:solidFill>
          <a:ln>
            <a:solidFill>
              <a:srgbClr val="28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Rounded Rectangle 17412"/>
          <p:cNvSpPr/>
          <p:nvPr/>
        </p:nvSpPr>
        <p:spPr>
          <a:xfrm>
            <a:off x="388859" y="1468752"/>
            <a:ext cx="10872413" cy="4189774"/>
          </a:xfrm>
          <a:prstGeom prst="roundRect">
            <a:avLst>
              <a:gd name="adj" fmla="val 12000"/>
            </a:avLst>
          </a:prstGeom>
          <a:solidFill>
            <a:srgbClr val="11203A"/>
          </a:solidFill>
          <a:ln>
            <a:solidFill>
              <a:srgbClr val="28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ectangle 174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26"/>
          </a:solidFill>
          <a:ln>
            <a:solidFill>
              <a:srgbClr val="081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algn="l"/>
            <a:r>
              <a:rPr lang="en-US" sz="2400" b="1" dirty="0">
                <a:solidFill>
                  <a:srgbClr val="F4F7FC"/>
                </a:solidFill>
                <a:latin typeface="Aptos Display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26020" y="1578480"/>
            <a:ext cx="10598093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IN" b="0" dirty="0" sz="1150">
                <a:solidFill>
                  <a:srgbClr val="F4F7FC"/>
                </a:solidFill>
                <a:latin typeface="Aptos"/>
              </a:rPr>
              <a:t>[1]</a:t>
            </a:r>
            <a:r>
              <a:rPr lang="en-IN" dirty="0" sz="1150" b="0">
                <a:solidFill>
                  <a:srgbClr val="F4F7FC"/>
                </a:solidFill>
                <a:latin typeface="Aptos"/>
              </a:rPr>
              <a:t> </a:t>
            </a:r>
            <a:r>
              <a:rPr lang="en-US" dirty="0" sz="1150" b="0">
                <a:solidFill>
                  <a:srgbClr val="F4F7FC"/>
                </a:solidFill>
                <a:latin typeface="Aptos"/>
              </a:rPr>
              <a:t>Z. Wu et al., </a:t>
            </a:r>
            <a:r>
              <a:rPr lang="en-US" i="1" dirty="0" sz="1150" b="0">
                <a:solidFill>
                  <a:srgbClr val="F4F7FC"/>
                </a:solidFill>
                <a:latin typeface="Aptos"/>
              </a:rPr>
              <a:t>“</a:t>
            </a:r>
            <a:r>
              <a:rPr lang="en-US" i="1" dirty="0" err="1" sz="1150" b="0">
                <a:solidFill>
                  <a:srgbClr val="F4F7FC"/>
                </a:solidFill>
                <a:latin typeface="Aptos"/>
              </a:rPr>
              <a:t>ASVspoof</a:t>
            </a:r>
            <a:r>
              <a:rPr lang="en-US" i="1" dirty="0" sz="1150" b="0">
                <a:solidFill>
                  <a:srgbClr val="F4F7FC"/>
                </a:solidFill>
                <a:latin typeface="Aptos"/>
              </a:rPr>
              <a:t> 2019: A Large-Scale Public Database of Synthetic, Converted and Replayed Speech,”</a:t>
            </a:r>
            <a:r>
              <a:rPr lang="en-US" dirty="0" sz="1150" b="0">
                <a:solidFill>
                  <a:srgbClr val="F4F7FC"/>
                </a:solidFill>
                <a:latin typeface="Aptos"/>
              </a:rPr>
              <a:t> Computer Speech &amp; Language, 2021.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IN" b="0" dirty="0" sz="1150">
                <a:solidFill>
                  <a:srgbClr val="F4F7FC"/>
                </a:solidFill>
                <a:latin typeface="Aptos"/>
              </a:rPr>
              <a:t>[2]</a:t>
            </a:r>
            <a:r>
              <a:rPr lang="en-IN" dirty="0" sz="1150" b="0">
                <a:solidFill>
                  <a:srgbClr val="F4F7FC"/>
                </a:solidFill>
                <a:latin typeface="Aptos"/>
              </a:rPr>
              <a:t> </a:t>
            </a:r>
            <a:r>
              <a:rPr lang="en-US" dirty="0" sz="1150" b="0">
                <a:solidFill>
                  <a:srgbClr val="F4F7FC"/>
                </a:solidFill>
                <a:latin typeface="Aptos"/>
              </a:rPr>
              <a:t>X. Wang et al., </a:t>
            </a:r>
            <a:r>
              <a:rPr lang="en-US" i="1" dirty="0" sz="1150" b="0">
                <a:solidFill>
                  <a:srgbClr val="F4F7FC"/>
                </a:solidFill>
                <a:latin typeface="Aptos"/>
              </a:rPr>
              <a:t>“</a:t>
            </a:r>
            <a:r>
              <a:rPr lang="en-US" i="1" dirty="0" err="1" sz="1150" b="0">
                <a:solidFill>
                  <a:srgbClr val="F4F7FC"/>
                </a:solidFill>
                <a:latin typeface="Aptos"/>
              </a:rPr>
              <a:t>ASVspoof</a:t>
            </a:r>
            <a:r>
              <a:rPr lang="en-US" i="1" dirty="0" sz="1150" b="0">
                <a:solidFill>
                  <a:srgbClr val="F4F7FC"/>
                </a:solidFill>
                <a:latin typeface="Aptos"/>
              </a:rPr>
              <a:t> 2021: Towards Spoofed and Deepfake Speech Detection in the Wild,”</a:t>
            </a:r>
            <a:r>
              <a:rPr lang="en-US" dirty="0" sz="1150" b="0">
                <a:solidFill>
                  <a:srgbClr val="F4F7FC"/>
                </a:solidFill>
                <a:latin typeface="Aptos"/>
              </a:rPr>
              <a:t> IEEE/ACM Transactions on Audio, Speech, and Language Processing.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IN" b="0" dirty="0" sz="1150">
                <a:solidFill>
                  <a:srgbClr val="F4F7FC"/>
                </a:solidFill>
                <a:latin typeface="Aptos"/>
              </a:rPr>
              <a:t>[3]</a:t>
            </a:r>
            <a:r>
              <a:rPr lang="en-IN" dirty="0" sz="1150" b="0">
                <a:solidFill>
                  <a:srgbClr val="F4F7FC"/>
                </a:solidFill>
                <a:latin typeface="Aptos"/>
              </a:rPr>
              <a:t> A. Jung et al., </a:t>
            </a:r>
            <a:r>
              <a:rPr lang="en-IN" i="1" dirty="0" sz="1150" b="0">
                <a:solidFill>
                  <a:srgbClr val="F4F7FC"/>
                </a:solidFill>
                <a:latin typeface="Aptos"/>
              </a:rPr>
              <a:t>“AASIST: Audio Anti-Spoofing Using Integrated Spectro-Temporal Graph Attention Networks,”</a:t>
            </a:r>
            <a:r>
              <a:rPr lang="en-IN" dirty="0" sz="1150" b="0">
                <a:solidFill>
                  <a:srgbClr val="F4F7FC"/>
                </a:solidFill>
                <a:latin typeface="Aptos"/>
              </a:rPr>
              <a:t> ICASSP, 2022.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lang="en-IN" dirty="0"/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IN" b="0" dirty="0" sz="1150">
                <a:solidFill>
                  <a:srgbClr val="F4F7FC"/>
                </a:solidFill>
                <a:latin typeface="Aptos"/>
              </a:rPr>
              <a:t>[4]</a:t>
            </a:r>
            <a:r>
              <a:rPr lang="en-IN" dirty="0" sz="1150" b="0">
                <a:solidFill>
                  <a:srgbClr val="F4F7FC"/>
                </a:solidFill>
                <a:latin typeface="Aptos"/>
              </a:rPr>
              <a:t> </a:t>
            </a:r>
            <a:r>
              <a:rPr lang="en-US" dirty="0" sz="1150" b="0">
                <a:solidFill>
                  <a:srgbClr val="F4F7FC"/>
                </a:solidFill>
                <a:latin typeface="Aptos"/>
              </a:rPr>
              <a:t>H. Tak et al., </a:t>
            </a:r>
            <a:r>
              <a:rPr lang="en-US" i="1" dirty="0" sz="1150" b="0">
                <a:solidFill>
                  <a:srgbClr val="F4F7FC"/>
                </a:solidFill>
                <a:latin typeface="Aptos"/>
              </a:rPr>
              <a:t>“Automatic Speaker Verification Spoofing and Deepfake Detection,”</a:t>
            </a:r>
            <a:r>
              <a:rPr lang="en-US" dirty="0" sz="1150" b="0">
                <a:solidFill>
                  <a:srgbClr val="F4F7FC"/>
                </a:solidFill>
                <a:latin typeface="Aptos"/>
              </a:rPr>
              <a:t> </a:t>
            </a:r>
            <a:r>
              <a:rPr lang="en-US" dirty="0" err="1" sz="1150" b="0">
                <a:solidFill>
                  <a:srgbClr val="F4F7FC"/>
                </a:solidFill>
                <a:latin typeface="Aptos"/>
              </a:rPr>
              <a:t>ASVspoof</a:t>
            </a:r>
            <a:r>
              <a:rPr lang="en-US" dirty="0" sz="1150" b="0">
                <a:solidFill>
                  <a:srgbClr val="F4F7FC"/>
                </a:solidFill>
                <a:latin typeface="Aptos"/>
              </a:rPr>
              <a:t> research literature.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lang="en-IN" b="1" dirty="0"/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IN" b="0" dirty="0" sz="1150">
                <a:solidFill>
                  <a:srgbClr val="F4F7FC"/>
                </a:solidFill>
                <a:latin typeface="Aptos"/>
              </a:rPr>
              <a:t>[5]</a:t>
            </a:r>
            <a:r>
              <a:rPr lang="en-IN" dirty="0" sz="1150" b="0">
                <a:solidFill>
                  <a:srgbClr val="F4F7FC"/>
                </a:solidFill>
                <a:latin typeface="Aptos"/>
              </a:rPr>
              <a:t> </a:t>
            </a:r>
            <a:r>
              <a:rPr lang="en-US" dirty="0" sz="1150" b="0">
                <a:solidFill>
                  <a:srgbClr val="F4F7FC"/>
                </a:solidFill>
                <a:latin typeface="Aptos"/>
              </a:rPr>
              <a:t>P. </a:t>
            </a:r>
            <a:r>
              <a:rPr lang="en-US" dirty="0" err="1" sz="1150" b="0">
                <a:solidFill>
                  <a:srgbClr val="F4F7FC"/>
                </a:solidFill>
                <a:latin typeface="Aptos"/>
              </a:rPr>
              <a:t>Chinchmalatpure</a:t>
            </a:r>
            <a:r>
              <a:rPr lang="en-US" dirty="0" sz="1150" b="0">
                <a:solidFill>
                  <a:srgbClr val="F4F7FC"/>
                </a:solidFill>
                <a:latin typeface="Aptos"/>
              </a:rPr>
              <a:t> et al., </a:t>
            </a:r>
            <a:r>
              <a:rPr lang="en-US" i="1" dirty="0" sz="1150" b="0">
                <a:solidFill>
                  <a:srgbClr val="F4F7FC"/>
                </a:solidFill>
                <a:latin typeface="Aptos"/>
              </a:rPr>
              <a:t>“Defense Against Synthetic Speech: Real-Time Detection of RVC Voice Conversion Attacks,”</a:t>
            </a:r>
            <a:r>
              <a:rPr lang="en-US" dirty="0" sz="1150" b="0">
                <a:solidFill>
                  <a:srgbClr val="F4F7FC"/>
                </a:solidFill>
                <a:latin typeface="Aptos"/>
              </a:rPr>
              <a:t> </a:t>
            </a:r>
            <a:r>
              <a:rPr lang="en-US" dirty="0" err="1" sz="1150" b="0">
                <a:solidFill>
                  <a:srgbClr val="F4F7FC"/>
                </a:solidFill>
                <a:latin typeface="Aptos"/>
              </a:rPr>
              <a:t>arXiv</a:t>
            </a:r>
            <a:r>
              <a:rPr lang="en-US" dirty="0" sz="1150" b="0">
                <a:solidFill>
                  <a:srgbClr val="F4F7FC"/>
                </a:solidFill>
                <a:latin typeface="Aptos"/>
              </a:rPr>
              <a:t>, 2026.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AURA</a:t>
            </a:r>
          </a:p>
          <a:p>
            <a:pPr algn="ctr"/>
            <a:r>
              <a:rPr lang="en-US" dirty="0"/>
              <a:t>fox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2" name="Rectangle 1741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8D2E6"/>
          </a:solidFill>
          <a:ln>
            <a:solidFill>
              <a:srgbClr val="28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Rectangle 17413"/>
          <p:cNvSpPr/>
          <p:nvPr/>
        </p:nvSpPr>
        <p:spPr>
          <a:xfrm>
            <a:off x="658368" y="868680"/>
            <a:ext cx="3749039" cy="54864"/>
          </a:xfrm>
          <a:prstGeom prst="rect">
            <a:avLst/>
          </a:prstGeom>
          <a:solidFill>
            <a:srgbClr val="28D2E6"/>
          </a:solidFill>
          <a:ln>
            <a:solidFill>
              <a:srgbClr val="28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